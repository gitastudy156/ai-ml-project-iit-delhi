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7" d="100"/>
          <a:sy n="67" d="100"/>
        </p:scale>
        <p:origin x="62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98383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743"/>
        </a:solidFill>
        <a:effectLst/>
      </p:bgPr>
    </p:bg>
    <p:spTree>
      <p:nvGrpSpPr>
        <p:cNvPr id="1" name=""/>
        <p:cNvGrpSpPr/>
        <p:nvPr/>
      </p:nvGrpSpPr>
      <p:grpSpPr>
        <a:xfrm>
          <a:off x="0" y="0"/>
          <a:ext cx="0" cy="0"/>
          <a:chOff x="0" y="0"/>
          <a:chExt cx="0" cy="0"/>
        </a:xfrm>
      </p:grpSpPr>
      <p:sp>
        <p:nvSpPr>
          <p:cNvPr id="2" name="Text 0"/>
          <p:cNvSpPr/>
          <p:nvPr/>
        </p:nvSpPr>
        <p:spPr>
          <a:xfrm>
            <a:off x="640080" y="640080"/>
            <a:ext cx="7315200" cy="320040"/>
          </a:xfrm>
          <a:prstGeom prst="rect">
            <a:avLst/>
          </a:prstGeom>
          <a:noFill/>
          <a:ln/>
        </p:spPr>
        <p:txBody>
          <a:bodyPr wrap="square" rtlCol="0" anchor="ctr"/>
          <a:lstStyle/>
          <a:p>
            <a:pPr marL="0" indent="0">
              <a:buNone/>
            </a:pPr>
            <a:r>
              <a:rPr lang="en-US" sz="1200" b="1" kern="0" spc="200" dirty="0">
                <a:solidFill>
                  <a:srgbClr val="E07A3E"/>
                </a:solidFill>
                <a:latin typeface="Calibri" pitchFamily="34" charset="0"/>
                <a:ea typeface="Calibri" pitchFamily="34" charset="-122"/>
                <a:cs typeface="Calibri" pitchFamily="34" charset="-120"/>
              </a:rPr>
              <a:t>AI &amp; ML PROJECT REPORTS  ·  MODULES 1,2, 4 &amp; 5</a:t>
            </a:r>
            <a:endParaRPr lang="en-US" sz="1200" dirty="0"/>
          </a:p>
        </p:txBody>
      </p:sp>
      <p:sp>
        <p:nvSpPr>
          <p:cNvPr id="3" name="Text 1"/>
          <p:cNvSpPr/>
          <p:nvPr/>
        </p:nvSpPr>
        <p:spPr>
          <a:xfrm>
            <a:off x="640080" y="1051560"/>
            <a:ext cx="9875520" cy="1371600"/>
          </a:xfrm>
          <a:prstGeom prst="rect">
            <a:avLst/>
          </a:prstGeom>
          <a:noFill/>
          <a:ln/>
        </p:spPr>
        <p:txBody>
          <a:bodyPr wrap="square" rtlCol="0" anchor="ctr"/>
          <a:lstStyle/>
          <a:p>
            <a:pPr marL="0" indent="0">
              <a:lnSpc>
                <a:spcPts val="4000"/>
              </a:lnSpc>
              <a:buNone/>
            </a:pPr>
            <a:r>
              <a:rPr lang="en-US" sz="3600" b="1" dirty="0">
                <a:solidFill>
                  <a:srgbClr val="FFFFFF"/>
                </a:solidFill>
                <a:latin typeface="Calibri" pitchFamily="34" charset="0"/>
                <a:ea typeface="Calibri" pitchFamily="34" charset="-122"/>
                <a:cs typeface="Calibri" pitchFamily="34" charset="-120"/>
              </a:rPr>
              <a:t>Regression, CNN and LLM</a:t>
            </a:r>
            <a:endParaRPr lang="en-US" sz="3600" dirty="0"/>
          </a:p>
          <a:p>
            <a:pPr marL="0" indent="0">
              <a:lnSpc>
                <a:spcPts val="4000"/>
              </a:lnSpc>
              <a:buNone/>
            </a:pPr>
            <a:r>
              <a:rPr lang="en-US" sz="3600" b="1" dirty="0">
                <a:solidFill>
                  <a:srgbClr val="FFFFFF"/>
                </a:solidFill>
                <a:latin typeface="Calibri" pitchFamily="34" charset="0"/>
                <a:ea typeface="Calibri" pitchFamily="34" charset="-122"/>
                <a:cs typeface="Calibri" pitchFamily="34" charset="-120"/>
              </a:rPr>
              <a:t>Project Reports</a:t>
            </a:r>
            <a:endParaRPr lang="en-US" sz="3600" dirty="0"/>
          </a:p>
        </p:txBody>
      </p:sp>
      <p:sp>
        <p:nvSpPr>
          <p:cNvPr id="4" name="Text 2"/>
          <p:cNvSpPr/>
          <p:nvPr/>
        </p:nvSpPr>
        <p:spPr>
          <a:xfrm>
            <a:off x="640080" y="2423160"/>
            <a:ext cx="9601200" cy="457200"/>
          </a:xfrm>
          <a:prstGeom prst="rect">
            <a:avLst/>
          </a:prstGeom>
          <a:noFill/>
          <a:ln/>
        </p:spPr>
        <p:txBody>
          <a:bodyPr wrap="square" rtlCol="0" anchor="ctr"/>
          <a:lstStyle/>
          <a:p>
            <a:pPr marL="0" indent="0">
              <a:buNone/>
            </a:pPr>
            <a:r>
              <a:rPr lang="en-US" sz="1600" dirty="0">
                <a:solidFill>
                  <a:srgbClr val="BFD0E0"/>
                </a:solidFill>
                <a:latin typeface="Calibri" pitchFamily="34" charset="0"/>
                <a:ea typeface="Calibri" pitchFamily="34" charset="-122"/>
                <a:cs typeface="Calibri" pitchFamily="34" charset="-120"/>
              </a:rPr>
              <a:t>Regression Analysis  ·  CNN Image Classification  ·  LLM Fine-Tuning</a:t>
            </a:r>
            <a:endParaRPr lang="en-US" sz="1600" dirty="0"/>
          </a:p>
        </p:txBody>
      </p:sp>
      <p:sp>
        <p:nvSpPr>
          <p:cNvPr id="5" name="Text 3"/>
          <p:cNvSpPr/>
          <p:nvPr/>
        </p:nvSpPr>
        <p:spPr>
          <a:xfrm>
            <a:off x="640080" y="3246120"/>
            <a:ext cx="2103120" cy="457200"/>
          </a:xfrm>
          <a:prstGeom prst="rect">
            <a:avLst/>
          </a:prstGeom>
          <a:noFill/>
          <a:ln/>
        </p:spPr>
        <p:txBody>
          <a:bodyPr wrap="square" rtlCol="0" anchor="ctr"/>
          <a:lstStyle/>
          <a:p>
            <a:pPr marL="0" indent="0">
              <a:buNone/>
            </a:pPr>
            <a:r>
              <a:rPr lang="en-US" sz="1050" b="1" kern="0" spc="100" dirty="0">
                <a:solidFill>
                  <a:srgbClr val="1F9E7A"/>
                </a:solidFill>
                <a:latin typeface="Calibri" pitchFamily="34" charset="0"/>
                <a:ea typeface="Calibri" pitchFamily="34" charset="-122"/>
                <a:cs typeface="Calibri" pitchFamily="34" charset="-120"/>
              </a:rPr>
              <a:t>MODULE 1 and 2</a:t>
            </a:r>
            <a:endParaRPr lang="en-US" sz="1050" dirty="0"/>
          </a:p>
        </p:txBody>
      </p:sp>
      <p:sp>
        <p:nvSpPr>
          <p:cNvPr id="6" name="Text 4"/>
          <p:cNvSpPr/>
          <p:nvPr/>
        </p:nvSpPr>
        <p:spPr>
          <a:xfrm>
            <a:off x="2834640" y="3246120"/>
            <a:ext cx="8138160" cy="457200"/>
          </a:xfrm>
          <a:prstGeom prst="rect">
            <a:avLst/>
          </a:prstGeom>
          <a:noFill/>
          <a:ln/>
        </p:spPr>
        <p:txBody>
          <a:bodyPr wrap="square" rtlCol="0" anchor="t"/>
          <a:lstStyle/>
          <a:p>
            <a:pPr marL="0" indent="0">
              <a:buNone/>
            </a:pPr>
            <a:r>
              <a:rPr lang="en-US" sz="1250" dirty="0">
                <a:solidFill>
                  <a:srgbClr val="E7EDF3"/>
                </a:solidFill>
                <a:latin typeface="Calibri" pitchFamily="34" charset="0"/>
                <a:ea typeface="Calibri" pitchFamily="34" charset="-122"/>
                <a:cs typeface="Calibri" pitchFamily="34" charset="-120"/>
              </a:rPr>
              <a:t>Regression analysis on the UCI Bike Sharing dataset: simple, multiple and polynomial models</a:t>
            </a:r>
            <a:endParaRPr lang="en-US" sz="1250" dirty="0"/>
          </a:p>
        </p:txBody>
      </p:sp>
      <p:sp>
        <p:nvSpPr>
          <p:cNvPr id="7" name="Text 5"/>
          <p:cNvSpPr/>
          <p:nvPr/>
        </p:nvSpPr>
        <p:spPr>
          <a:xfrm>
            <a:off x="640080" y="3867912"/>
            <a:ext cx="2103120" cy="457200"/>
          </a:xfrm>
          <a:prstGeom prst="rect">
            <a:avLst/>
          </a:prstGeom>
          <a:noFill/>
          <a:ln/>
        </p:spPr>
        <p:txBody>
          <a:bodyPr wrap="square" rtlCol="0" anchor="ctr"/>
          <a:lstStyle/>
          <a:p>
            <a:pPr marL="0" indent="0">
              <a:buNone/>
            </a:pPr>
            <a:r>
              <a:rPr lang="en-US" sz="1050" b="1" kern="0" spc="100" dirty="0">
                <a:solidFill>
                  <a:srgbClr val="1F9E7A"/>
                </a:solidFill>
                <a:latin typeface="Calibri" pitchFamily="34" charset="0"/>
                <a:ea typeface="Calibri" pitchFamily="34" charset="-122"/>
                <a:cs typeface="Calibri" pitchFamily="34" charset="-120"/>
              </a:rPr>
              <a:t>MODULE 4</a:t>
            </a:r>
            <a:endParaRPr lang="en-US" sz="1050" dirty="0"/>
          </a:p>
        </p:txBody>
      </p:sp>
      <p:sp>
        <p:nvSpPr>
          <p:cNvPr id="8" name="Text 6"/>
          <p:cNvSpPr/>
          <p:nvPr/>
        </p:nvSpPr>
        <p:spPr>
          <a:xfrm>
            <a:off x="2834640" y="3867912"/>
            <a:ext cx="8138160" cy="457200"/>
          </a:xfrm>
          <a:prstGeom prst="rect">
            <a:avLst/>
          </a:prstGeom>
          <a:noFill/>
          <a:ln/>
        </p:spPr>
        <p:txBody>
          <a:bodyPr wrap="square" rtlCol="0" anchor="t"/>
          <a:lstStyle/>
          <a:p>
            <a:pPr marL="0" indent="0">
              <a:buNone/>
            </a:pPr>
            <a:r>
              <a:rPr lang="en-US" sz="1250" dirty="0">
                <a:solidFill>
                  <a:srgbClr val="E7EDF3"/>
                </a:solidFill>
                <a:latin typeface="Calibri" pitchFamily="34" charset="0"/>
                <a:ea typeface="Calibri" pitchFamily="34" charset="-122"/>
                <a:cs typeface="Calibri" pitchFamily="34" charset="-120"/>
              </a:rPr>
              <a:t>CNN design study and occlusion-sensitivity analysis for image classification (Mini-ImageNet task)</a:t>
            </a:r>
            <a:endParaRPr lang="en-US" sz="1250" dirty="0"/>
          </a:p>
        </p:txBody>
      </p:sp>
      <p:sp>
        <p:nvSpPr>
          <p:cNvPr id="9" name="Text 7"/>
          <p:cNvSpPr/>
          <p:nvPr/>
        </p:nvSpPr>
        <p:spPr>
          <a:xfrm>
            <a:off x="640080" y="4489704"/>
            <a:ext cx="2103120" cy="457200"/>
          </a:xfrm>
          <a:prstGeom prst="rect">
            <a:avLst/>
          </a:prstGeom>
          <a:noFill/>
          <a:ln/>
        </p:spPr>
        <p:txBody>
          <a:bodyPr wrap="square" rtlCol="0" anchor="ctr"/>
          <a:lstStyle/>
          <a:p>
            <a:pPr marL="0" indent="0">
              <a:buNone/>
            </a:pPr>
            <a:r>
              <a:rPr lang="en-US" sz="1050" b="1" kern="0" spc="100" dirty="0">
                <a:solidFill>
                  <a:srgbClr val="1F9E7A"/>
                </a:solidFill>
                <a:latin typeface="Calibri" pitchFamily="34" charset="0"/>
                <a:ea typeface="Calibri" pitchFamily="34" charset="-122"/>
                <a:cs typeface="Calibri" pitchFamily="34" charset="-120"/>
              </a:rPr>
              <a:t>MODULE 5</a:t>
            </a:r>
            <a:endParaRPr lang="en-US" sz="1050" dirty="0"/>
          </a:p>
        </p:txBody>
      </p:sp>
      <p:sp>
        <p:nvSpPr>
          <p:cNvPr id="10" name="Text 8"/>
          <p:cNvSpPr/>
          <p:nvPr/>
        </p:nvSpPr>
        <p:spPr>
          <a:xfrm>
            <a:off x="2834640" y="4489704"/>
            <a:ext cx="8138160" cy="457200"/>
          </a:xfrm>
          <a:prstGeom prst="rect">
            <a:avLst/>
          </a:prstGeom>
          <a:noFill/>
          <a:ln/>
        </p:spPr>
        <p:txBody>
          <a:bodyPr wrap="square" rtlCol="0" anchor="t"/>
          <a:lstStyle/>
          <a:p>
            <a:pPr marL="0" indent="0">
              <a:buNone/>
            </a:pPr>
            <a:r>
              <a:rPr lang="en-US" sz="1250" dirty="0">
                <a:solidFill>
                  <a:srgbClr val="E7EDF3"/>
                </a:solidFill>
                <a:latin typeface="Calibri" pitchFamily="34" charset="0"/>
                <a:ea typeface="Calibri" pitchFamily="34" charset="-122"/>
                <a:cs typeface="Calibri" pitchFamily="34" charset="-120"/>
              </a:rPr>
              <a:t>Fine-tuning DistilGPT-2 with LoRA as a customer-support FAQ assistant</a:t>
            </a:r>
            <a:endParaRPr lang="en-US" sz="1250" dirty="0"/>
          </a:p>
        </p:txBody>
      </p:sp>
      <p:sp>
        <p:nvSpPr>
          <p:cNvPr id="11" name="Text 9"/>
          <p:cNvSpPr/>
          <p:nvPr/>
        </p:nvSpPr>
        <p:spPr>
          <a:xfrm>
            <a:off x="640080" y="6263640"/>
            <a:ext cx="8229600" cy="320040"/>
          </a:xfrm>
          <a:prstGeom prst="rect">
            <a:avLst/>
          </a:prstGeom>
          <a:noFill/>
          <a:ln/>
        </p:spPr>
        <p:txBody>
          <a:bodyPr wrap="square" rtlCol="0" anchor="ctr"/>
          <a:lstStyle/>
          <a:p>
            <a:pPr marL="0" indent="0">
              <a:buNone/>
            </a:pPr>
            <a:r>
              <a:rPr lang="en-US" sz="1150" dirty="0">
                <a:solidFill>
                  <a:srgbClr val="9FB3C8"/>
                </a:solidFill>
                <a:latin typeface="Calibri" pitchFamily="34" charset="0"/>
                <a:ea typeface="Calibri" pitchFamily="34" charset="-122"/>
                <a:cs typeface="Calibri" pitchFamily="34" charset="-120"/>
              </a:rPr>
              <a:t>Presenter: Gitarani Mohanty   |   Date: 16</a:t>
            </a:r>
            <a:r>
              <a:rPr lang="en-US" sz="1150" baseline="30000" dirty="0">
                <a:solidFill>
                  <a:srgbClr val="9FB3C8"/>
                </a:solidFill>
                <a:latin typeface="Calibri" pitchFamily="34" charset="0"/>
                <a:ea typeface="Calibri" pitchFamily="34" charset="-122"/>
                <a:cs typeface="Calibri" pitchFamily="34" charset="-120"/>
              </a:rPr>
              <a:t>th</a:t>
            </a:r>
            <a:r>
              <a:rPr lang="en-US" sz="1150" dirty="0">
                <a:solidFill>
                  <a:srgbClr val="9FB3C8"/>
                </a:solidFill>
                <a:latin typeface="Calibri" pitchFamily="34" charset="0"/>
                <a:ea typeface="Calibri" pitchFamily="34" charset="-122"/>
                <a:cs typeface="Calibri" pitchFamily="34" charset="-120"/>
              </a:rPr>
              <a:t> August 2026</a:t>
            </a:r>
            <a:endParaRPr lang="en-US" sz="1150" dirty="0"/>
          </a:p>
        </p:txBody>
      </p:sp>
      <p:sp>
        <p:nvSpPr>
          <p:cNvPr id="12" name="Text 10"/>
          <p:cNvSpPr/>
          <p:nvPr/>
        </p:nvSpPr>
        <p:spPr>
          <a:xfrm>
            <a:off x="11430000" y="6309360"/>
            <a:ext cx="365760" cy="274320"/>
          </a:xfrm>
          <a:prstGeom prst="rect">
            <a:avLst/>
          </a:prstGeom>
          <a:noFill/>
          <a:ln/>
        </p:spPr>
        <p:txBody>
          <a:bodyPr wrap="square" rtlCol="0" anchor="ctr"/>
          <a:lstStyle/>
          <a:p>
            <a:pPr marL="0" indent="0" algn="r">
              <a:buNone/>
            </a:pPr>
            <a:r>
              <a:rPr lang="en-US" sz="1000" dirty="0">
                <a:solidFill>
                  <a:srgbClr val="9FB3C8"/>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5486400" cy="274320"/>
          </a:xfrm>
          <a:prstGeom prst="rect">
            <a:avLst/>
          </a:prstGeom>
          <a:noFill/>
          <a:ln/>
        </p:spPr>
        <p:txBody>
          <a:bodyPr wrap="square" rtlCol="0" anchor="ctr"/>
          <a:lstStyle/>
          <a:p>
            <a:pPr marL="0" indent="0">
              <a:buNone/>
            </a:pPr>
            <a:r>
              <a:rPr lang="en-US" sz="1100" b="1" kern="0" spc="150" dirty="0">
                <a:solidFill>
                  <a:srgbClr val="E07A3E"/>
                </a:solidFill>
                <a:latin typeface="Calibri" pitchFamily="34" charset="0"/>
                <a:ea typeface="Calibri" pitchFamily="34" charset="-122"/>
                <a:cs typeface="Calibri" pitchFamily="34" charset="-120"/>
              </a:rPr>
              <a:t>SLIDE 2 / DATA</a:t>
            </a:r>
            <a:endParaRPr lang="en-US" sz="1100" dirty="0"/>
          </a:p>
        </p:txBody>
      </p:sp>
      <p:sp>
        <p:nvSpPr>
          <p:cNvPr id="3" name="Text 1"/>
          <p:cNvSpPr/>
          <p:nvPr/>
        </p:nvSpPr>
        <p:spPr>
          <a:xfrm>
            <a:off x="457200" y="566928"/>
            <a:ext cx="11247120" cy="548640"/>
          </a:xfrm>
          <a:prstGeom prst="rect">
            <a:avLst/>
          </a:prstGeom>
          <a:noFill/>
          <a:ln/>
        </p:spPr>
        <p:txBody>
          <a:bodyPr wrap="square" rtlCol="0" anchor="ctr"/>
          <a:lstStyle/>
          <a:p>
            <a:pPr marL="0" indent="0">
              <a:buNone/>
            </a:pPr>
            <a:r>
              <a:rPr lang="en-US" sz="2600" b="1" dirty="0">
                <a:solidFill>
                  <a:srgbClr val="132743"/>
                </a:solidFill>
                <a:latin typeface="Calibri" pitchFamily="34" charset="0"/>
                <a:ea typeface="Calibri" pitchFamily="34" charset="-122"/>
                <a:cs typeface="Calibri" pitchFamily="34" charset="-120"/>
              </a:rPr>
              <a:t>Dataset Overview</a:t>
            </a:r>
            <a:endParaRPr lang="en-US" sz="2600" dirty="0"/>
          </a:p>
        </p:txBody>
      </p:sp>
      <p:sp>
        <p:nvSpPr>
          <p:cNvPr id="4" name="Text 2"/>
          <p:cNvSpPr/>
          <p:nvPr/>
        </p:nvSpPr>
        <p:spPr>
          <a:xfrm>
            <a:off x="457200" y="1078992"/>
            <a:ext cx="11247120" cy="384048"/>
          </a:xfrm>
          <a:prstGeom prst="rect">
            <a:avLst/>
          </a:prstGeom>
          <a:noFill/>
          <a:ln/>
        </p:spPr>
        <p:txBody>
          <a:bodyPr wrap="square" rtlCol="0" anchor="ctr"/>
          <a:lstStyle/>
          <a:p>
            <a:pPr marL="0" indent="0">
              <a:buNone/>
            </a:pPr>
            <a:r>
              <a:rPr lang="en-US" sz="1300" dirty="0">
                <a:solidFill>
                  <a:srgbClr val="5B6B7B"/>
                </a:solidFill>
                <a:latin typeface="Calibri" pitchFamily="34" charset="0"/>
                <a:ea typeface="Calibri" pitchFamily="34" charset="-122"/>
                <a:cs typeface="Calibri" pitchFamily="34" charset="-120"/>
              </a:rPr>
              <a:t>17,379 hourly bike-rental records from Washington, D.C., published by the UCI Machine Learning Repository.</a:t>
            </a:r>
            <a:endParaRPr lang="en-US" sz="1300" dirty="0"/>
          </a:p>
        </p:txBody>
      </p:sp>
      <p:sp>
        <p:nvSpPr>
          <p:cNvPr id="5" name="Shape 3"/>
          <p:cNvSpPr/>
          <p:nvPr/>
        </p:nvSpPr>
        <p:spPr>
          <a:xfrm>
            <a:off x="457200" y="1627632"/>
            <a:ext cx="5074920" cy="969264"/>
          </a:xfrm>
          <a:prstGeom prst="rect">
            <a:avLst/>
          </a:prstGeom>
          <a:solidFill>
            <a:srgbClr val="F5F7F9"/>
          </a:solidFill>
          <a:ln/>
        </p:spPr>
      </p:sp>
      <p:sp>
        <p:nvSpPr>
          <p:cNvPr id="6" name="Text 4"/>
          <p:cNvSpPr/>
          <p:nvPr/>
        </p:nvSpPr>
        <p:spPr>
          <a:xfrm>
            <a:off x="658368" y="1719072"/>
            <a:ext cx="4709160" cy="274320"/>
          </a:xfrm>
          <a:prstGeom prst="rect">
            <a:avLst/>
          </a:prstGeom>
          <a:noFill/>
          <a:ln/>
        </p:spPr>
        <p:txBody>
          <a:bodyPr wrap="square" rtlCol="0" anchor="ctr"/>
          <a:lstStyle/>
          <a:p>
            <a:pPr marL="0" indent="0">
              <a:buNone/>
            </a:pPr>
            <a:r>
              <a:rPr lang="en-US" sz="1250" b="1" dirty="0">
                <a:solidFill>
                  <a:srgbClr val="132743"/>
                </a:solidFill>
                <a:latin typeface="Calibri" pitchFamily="34" charset="0"/>
                <a:ea typeface="Calibri" pitchFamily="34" charset="-122"/>
                <a:cs typeface="Calibri" pitchFamily="34" charset="-120"/>
              </a:rPr>
              <a:t>Data source</a:t>
            </a:r>
            <a:endParaRPr lang="en-US" sz="1250" dirty="0"/>
          </a:p>
        </p:txBody>
      </p:sp>
      <p:sp>
        <p:nvSpPr>
          <p:cNvPr id="7" name="Text 5"/>
          <p:cNvSpPr/>
          <p:nvPr/>
        </p:nvSpPr>
        <p:spPr>
          <a:xfrm>
            <a:off x="658368" y="2011680"/>
            <a:ext cx="4672584" cy="530352"/>
          </a:xfrm>
          <a:prstGeom prst="rect">
            <a:avLst/>
          </a:prstGeom>
          <a:noFill/>
          <a:ln/>
        </p:spPr>
        <p:txBody>
          <a:bodyPr wrap="square" rtlCol="0" anchor="t"/>
          <a:lstStyle/>
          <a:p>
            <a:pPr marL="0" indent="0">
              <a:buNone/>
            </a:pPr>
            <a:r>
              <a:rPr lang="en-US" sz="1080" dirty="0">
                <a:solidFill>
                  <a:srgbClr val="1B2733"/>
                </a:solidFill>
                <a:latin typeface="Calibri" pitchFamily="34" charset="0"/>
                <a:ea typeface="Calibri" pitchFamily="34" charset="-122"/>
                <a:cs typeface="Calibri" pitchFamily="34" charset="-120"/>
              </a:rPr>
              <a:t>Hourly Bike Sharing dataset, UCI ML Repository; two years of rental activity in Washington, D.C.</a:t>
            </a:r>
            <a:endParaRPr lang="en-US" sz="1080" dirty="0"/>
          </a:p>
        </p:txBody>
      </p:sp>
      <p:sp>
        <p:nvSpPr>
          <p:cNvPr id="8" name="Shape 6"/>
          <p:cNvSpPr/>
          <p:nvPr/>
        </p:nvSpPr>
        <p:spPr>
          <a:xfrm>
            <a:off x="457200" y="2724912"/>
            <a:ext cx="5074920" cy="969264"/>
          </a:xfrm>
          <a:prstGeom prst="rect">
            <a:avLst/>
          </a:prstGeom>
          <a:solidFill>
            <a:srgbClr val="F5F7F9"/>
          </a:solidFill>
          <a:ln/>
        </p:spPr>
      </p:sp>
      <p:sp>
        <p:nvSpPr>
          <p:cNvPr id="9" name="Text 7"/>
          <p:cNvSpPr/>
          <p:nvPr/>
        </p:nvSpPr>
        <p:spPr>
          <a:xfrm>
            <a:off x="658368" y="2816352"/>
            <a:ext cx="4709160" cy="274320"/>
          </a:xfrm>
          <a:prstGeom prst="rect">
            <a:avLst/>
          </a:prstGeom>
          <a:noFill/>
          <a:ln/>
        </p:spPr>
        <p:txBody>
          <a:bodyPr wrap="square" rtlCol="0" anchor="ctr"/>
          <a:lstStyle/>
          <a:p>
            <a:pPr marL="0" indent="0">
              <a:buNone/>
            </a:pPr>
            <a:r>
              <a:rPr lang="en-US" sz="1250" b="1" dirty="0">
                <a:solidFill>
                  <a:srgbClr val="132743"/>
                </a:solidFill>
                <a:latin typeface="Calibri" pitchFamily="34" charset="0"/>
                <a:ea typeface="Calibri" pitchFamily="34" charset="-122"/>
                <a:cs typeface="Calibri" pitchFamily="34" charset="-120"/>
              </a:rPr>
              <a:t>Target variable</a:t>
            </a:r>
            <a:endParaRPr lang="en-US" sz="1250" dirty="0"/>
          </a:p>
        </p:txBody>
      </p:sp>
      <p:sp>
        <p:nvSpPr>
          <p:cNvPr id="10" name="Text 8"/>
          <p:cNvSpPr/>
          <p:nvPr/>
        </p:nvSpPr>
        <p:spPr>
          <a:xfrm>
            <a:off x="658368" y="3108960"/>
            <a:ext cx="4672584" cy="530352"/>
          </a:xfrm>
          <a:prstGeom prst="rect">
            <a:avLst/>
          </a:prstGeom>
          <a:noFill/>
          <a:ln/>
        </p:spPr>
        <p:txBody>
          <a:bodyPr wrap="square" rtlCol="0" anchor="t"/>
          <a:lstStyle/>
          <a:p>
            <a:pPr marL="0" indent="0">
              <a:buNone/>
            </a:pPr>
            <a:r>
              <a:rPr lang="en-US" sz="1080" dirty="0">
                <a:solidFill>
                  <a:srgbClr val="1B2733"/>
                </a:solidFill>
                <a:latin typeface="Calibri" pitchFamily="34" charset="0"/>
                <a:ea typeface="Calibri" pitchFamily="34" charset="-122"/>
                <a:cs typeface="Calibri" pitchFamily="34" charset="-120"/>
              </a:rPr>
              <a:t>'cnt' — total count of rented bikes in a given hour.</a:t>
            </a:r>
            <a:endParaRPr lang="en-US" sz="1080" dirty="0"/>
          </a:p>
        </p:txBody>
      </p:sp>
      <p:sp>
        <p:nvSpPr>
          <p:cNvPr id="11" name="Shape 9"/>
          <p:cNvSpPr/>
          <p:nvPr/>
        </p:nvSpPr>
        <p:spPr>
          <a:xfrm>
            <a:off x="457200" y="3822192"/>
            <a:ext cx="5074920" cy="969264"/>
          </a:xfrm>
          <a:prstGeom prst="rect">
            <a:avLst/>
          </a:prstGeom>
          <a:solidFill>
            <a:srgbClr val="F5F7F9"/>
          </a:solidFill>
          <a:ln/>
        </p:spPr>
      </p:sp>
      <p:sp>
        <p:nvSpPr>
          <p:cNvPr id="12" name="Text 10"/>
          <p:cNvSpPr/>
          <p:nvPr/>
        </p:nvSpPr>
        <p:spPr>
          <a:xfrm>
            <a:off x="658368" y="3913632"/>
            <a:ext cx="4709160" cy="274320"/>
          </a:xfrm>
          <a:prstGeom prst="rect">
            <a:avLst/>
          </a:prstGeom>
          <a:noFill/>
          <a:ln/>
        </p:spPr>
        <p:txBody>
          <a:bodyPr wrap="square" rtlCol="0" anchor="ctr"/>
          <a:lstStyle/>
          <a:p>
            <a:pPr marL="0" indent="0">
              <a:buNone/>
            </a:pPr>
            <a:r>
              <a:rPr lang="en-US" sz="1250" b="1" dirty="0">
                <a:solidFill>
                  <a:srgbClr val="132743"/>
                </a:solidFill>
                <a:latin typeface="Calibri" pitchFamily="34" charset="0"/>
                <a:ea typeface="Calibri" pitchFamily="34" charset="-122"/>
                <a:cs typeface="Calibri" pitchFamily="34" charset="-120"/>
              </a:rPr>
              <a:t>Predictors used</a:t>
            </a:r>
            <a:endParaRPr lang="en-US" sz="1250" dirty="0"/>
          </a:p>
        </p:txBody>
      </p:sp>
      <p:sp>
        <p:nvSpPr>
          <p:cNvPr id="13" name="Text 11"/>
          <p:cNvSpPr/>
          <p:nvPr/>
        </p:nvSpPr>
        <p:spPr>
          <a:xfrm>
            <a:off x="658368" y="4206240"/>
            <a:ext cx="4672584" cy="530352"/>
          </a:xfrm>
          <a:prstGeom prst="rect">
            <a:avLst/>
          </a:prstGeom>
          <a:noFill/>
          <a:ln/>
        </p:spPr>
        <p:txBody>
          <a:bodyPr wrap="square" rtlCol="0" anchor="t"/>
          <a:lstStyle/>
          <a:p>
            <a:pPr marL="0" indent="0">
              <a:buNone/>
            </a:pPr>
            <a:r>
              <a:rPr lang="en-US" sz="1080" dirty="0">
                <a:solidFill>
                  <a:srgbClr val="1B2733"/>
                </a:solidFill>
                <a:latin typeface="Calibri" pitchFamily="34" charset="0"/>
                <a:ea typeface="Calibri" pitchFamily="34" charset="-122"/>
                <a:cs typeface="Calibri" pitchFamily="34" charset="-120"/>
              </a:rPr>
              <a:t>'temp' (temperature), 'atemp' (feels-like temperature), 'hum' (humidity), 'windspeed' — all pre-normalized to roughly [0, 1].</a:t>
            </a:r>
            <a:endParaRPr lang="en-US" sz="1080" dirty="0"/>
          </a:p>
        </p:txBody>
      </p:sp>
      <p:sp>
        <p:nvSpPr>
          <p:cNvPr id="14" name="Shape 12"/>
          <p:cNvSpPr/>
          <p:nvPr/>
        </p:nvSpPr>
        <p:spPr>
          <a:xfrm>
            <a:off x="457200" y="4919472"/>
            <a:ext cx="5074920" cy="969264"/>
          </a:xfrm>
          <a:prstGeom prst="rect">
            <a:avLst/>
          </a:prstGeom>
          <a:solidFill>
            <a:srgbClr val="F5F7F9"/>
          </a:solidFill>
          <a:ln/>
        </p:spPr>
      </p:sp>
      <p:sp>
        <p:nvSpPr>
          <p:cNvPr id="15" name="Text 13"/>
          <p:cNvSpPr/>
          <p:nvPr/>
        </p:nvSpPr>
        <p:spPr>
          <a:xfrm>
            <a:off x="658368" y="5010912"/>
            <a:ext cx="4709160" cy="274320"/>
          </a:xfrm>
          <a:prstGeom prst="rect">
            <a:avLst/>
          </a:prstGeom>
          <a:noFill/>
          <a:ln/>
        </p:spPr>
        <p:txBody>
          <a:bodyPr wrap="square" rtlCol="0" anchor="ctr"/>
          <a:lstStyle/>
          <a:p>
            <a:pPr marL="0" indent="0">
              <a:buNone/>
            </a:pPr>
            <a:r>
              <a:rPr lang="en-US" sz="1250" b="1" dirty="0">
                <a:solidFill>
                  <a:srgbClr val="132743"/>
                </a:solidFill>
                <a:latin typeface="Calibri" pitchFamily="34" charset="0"/>
                <a:ea typeface="Calibri" pitchFamily="34" charset="-122"/>
                <a:cs typeface="Calibri" pitchFamily="34" charset="-120"/>
              </a:rPr>
              <a:t>Data quality</a:t>
            </a:r>
            <a:endParaRPr lang="en-US" sz="1250" dirty="0"/>
          </a:p>
        </p:txBody>
      </p:sp>
      <p:sp>
        <p:nvSpPr>
          <p:cNvPr id="16" name="Text 14"/>
          <p:cNvSpPr/>
          <p:nvPr/>
        </p:nvSpPr>
        <p:spPr>
          <a:xfrm>
            <a:off x="658368" y="5303520"/>
            <a:ext cx="4672584" cy="530352"/>
          </a:xfrm>
          <a:prstGeom prst="rect">
            <a:avLst/>
          </a:prstGeom>
          <a:noFill/>
          <a:ln/>
        </p:spPr>
        <p:txBody>
          <a:bodyPr wrap="square" rtlCol="0" anchor="t"/>
          <a:lstStyle/>
          <a:p>
            <a:pPr marL="0" indent="0">
              <a:buNone/>
            </a:pPr>
            <a:r>
              <a:rPr lang="en-US" sz="1080" dirty="0">
                <a:solidFill>
                  <a:srgbClr val="1B2733"/>
                </a:solidFill>
                <a:latin typeface="Calibri" pitchFamily="34" charset="0"/>
                <a:ea typeface="Calibri" pitchFamily="34" charset="-122"/>
                <a:cs typeface="Calibri" pitchFamily="34" charset="-120"/>
              </a:rPr>
              <a:t>No missing values across modeling columns; no additional scaling required before fitting.</a:t>
            </a:r>
            <a:endParaRPr lang="en-US" sz="1080" dirty="0"/>
          </a:p>
        </p:txBody>
      </p:sp>
      <p:sp>
        <p:nvSpPr>
          <p:cNvPr id="17" name="Shape 15"/>
          <p:cNvSpPr/>
          <p:nvPr/>
        </p:nvSpPr>
        <p:spPr>
          <a:xfrm>
            <a:off x="5852160" y="1627632"/>
            <a:ext cx="5879592" cy="4572000"/>
          </a:xfrm>
          <a:prstGeom prst="rect">
            <a:avLst/>
          </a:prstGeom>
          <a:solidFill>
            <a:srgbClr val="F5F7F9"/>
          </a:solidFill>
          <a:ln/>
        </p:spPr>
      </p:sp>
      <p:sp>
        <p:nvSpPr>
          <p:cNvPr id="18" name="Text 16"/>
          <p:cNvSpPr/>
          <p:nvPr/>
        </p:nvSpPr>
        <p:spPr>
          <a:xfrm>
            <a:off x="6080760" y="1783080"/>
            <a:ext cx="5486400" cy="274320"/>
          </a:xfrm>
          <a:prstGeom prst="rect">
            <a:avLst/>
          </a:prstGeom>
          <a:noFill/>
          <a:ln/>
        </p:spPr>
        <p:txBody>
          <a:bodyPr wrap="square" rtlCol="0" anchor="ctr"/>
          <a:lstStyle/>
          <a:p>
            <a:pPr marL="0" indent="0">
              <a:buNone/>
            </a:pPr>
            <a:r>
              <a:rPr lang="en-US" sz="1050" b="1" kern="0" spc="100" dirty="0">
                <a:solidFill>
                  <a:srgbClr val="1F9E7A"/>
                </a:solidFill>
                <a:latin typeface="Calibri" pitchFamily="34" charset="0"/>
                <a:ea typeface="Calibri" pitchFamily="34" charset="-122"/>
                <a:cs typeface="Calibri" pitchFamily="34" charset="-120"/>
              </a:rPr>
              <a:t>FIGURE 1  ·  FEATURE DISTRIBUTIONS</a:t>
            </a:r>
            <a:endParaRPr lang="en-US" sz="1050" dirty="0"/>
          </a:p>
        </p:txBody>
      </p:sp>
      <p:pic>
        <p:nvPicPr>
          <p:cNvPr id="19" name="Image 0" descr="figs/fig1_distributions.png"/>
          <p:cNvPicPr>
            <a:picLocks noChangeAspect="1"/>
          </p:cNvPicPr>
          <p:nvPr/>
        </p:nvPicPr>
        <p:blipFill>
          <a:blip r:embed="rId3"/>
          <a:stretch>
            <a:fillRect/>
          </a:stretch>
        </p:blipFill>
        <p:spPr>
          <a:xfrm>
            <a:off x="6080760" y="2148840"/>
            <a:ext cx="5422392" cy="1947672"/>
          </a:xfrm>
          <a:prstGeom prst="rect">
            <a:avLst/>
          </a:prstGeom>
        </p:spPr>
      </p:pic>
      <p:sp>
        <p:nvSpPr>
          <p:cNvPr id="20" name="Text 17"/>
          <p:cNvSpPr/>
          <p:nvPr/>
        </p:nvSpPr>
        <p:spPr>
          <a:xfrm>
            <a:off x="6080760" y="4206240"/>
            <a:ext cx="5422392" cy="914400"/>
          </a:xfrm>
          <a:prstGeom prst="rect">
            <a:avLst/>
          </a:prstGeom>
          <a:noFill/>
          <a:ln/>
        </p:spPr>
        <p:txBody>
          <a:bodyPr wrap="square" rtlCol="0" anchor="t"/>
          <a:lstStyle/>
          <a:p>
            <a:pPr marL="0" indent="0">
              <a:buNone/>
            </a:pPr>
            <a:r>
              <a:rPr lang="en-US" sz="1080" dirty="0">
                <a:solidFill>
                  <a:srgbClr val="1B2733"/>
                </a:solidFill>
                <a:latin typeface="Calibri" pitchFamily="34" charset="0"/>
                <a:ea typeface="Calibri" pitchFamily="34" charset="-122"/>
                <a:cs typeface="Calibri" pitchFamily="34" charset="-120"/>
              </a:rPr>
              <a:t>Rental count is right-skewed (most hours see low demand), while normalized temperature is roughly bell-shaped — consistent with typical seasonal weather patterns.</a:t>
            </a:r>
            <a:endParaRPr lang="en-US" sz="1080" dirty="0"/>
          </a:p>
        </p:txBody>
      </p:sp>
      <p:sp>
        <p:nvSpPr>
          <p:cNvPr id="21" name="Text 18"/>
          <p:cNvSpPr/>
          <p:nvPr/>
        </p:nvSpPr>
        <p:spPr>
          <a:xfrm>
            <a:off x="6080760" y="5394960"/>
            <a:ext cx="5422392" cy="640080"/>
          </a:xfrm>
          <a:prstGeom prst="rect">
            <a:avLst/>
          </a:prstGeom>
          <a:noFill/>
          <a:ln/>
        </p:spPr>
        <p:txBody>
          <a:bodyPr wrap="square" rtlCol="0" anchor="t"/>
          <a:lstStyle/>
          <a:p>
            <a:pPr marL="0" indent="0">
              <a:buNone/>
            </a:pPr>
            <a:r>
              <a:rPr lang="en-US" sz="1000" i="1" dirty="0">
                <a:solidFill>
                  <a:srgbClr val="5B6B7B"/>
                </a:solidFill>
                <a:latin typeface="Calibri" pitchFamily="34" charset="0"/>
                <a:ea typeface="Calibri" pitchFamily="34" charset="-122"/>
                <a:cs typeface="Calibri" pitchFamily="34" charset="-120"/>
              </a:rPr>
              <a:t>Modeling: OLS (scikit-learn LinearRegression), 80/20 train-test split, fixed random seed for reproducibility.</a:t>
            </a:r>
            <a:endParaRPr lang="en-US" sz="1000" dirty="0"/>
          </a:p>
        </p:txBody>
      </p:sp>
      <p:sp>
        <p:nvSpPr>
          <p:cNvPr id="22" name="Text 19"/>
          <p:cNvSpPr/>
          <p:nvPr/>
        </p:nvSpPr>
        <p:spPr>
          <a:xfrm>
            <a:off x="457200" y="6547104"/>
            <a:ext cx="8686800" cy="256032"/>
          </a:xfrm>
          <a:prstGeom prst="rect">
            <a:avLst/>
          </a:prstGeom>
          <a:noFill/>
          <a:ln/>
        </p:spPr>
        <p:txBody>
          <a:bodyPr wrap="square" rtlCol="0" anchor="ctr"/>
          <a:lstStyle/>
          <a:p>
            <a:pPr marL="0" indent="0" algn="l">
              <a:buNone/>
            </a:pPr>
            <a:r>
              <a:rPr lang="en-US" sz="900" dirty="0">
                <a:solidFill>
                  <a:srgbClr val="5B6B7B"/>
                </a:solidFill>
                <a:latin typeface="Calibri" pitchFamily="34" charset="0"/>
                <a:ea typeface="Calibri" pitchFamily="34" charset="-122"/>
                <a:cs typeface="Calibri" pitchFamily="34" charset="-120"/>
              </a:rPr>
              <a:t>Regression Analysis on the Bike Sharing Dataset  |  Gitarani Mohanty</a:t>
            </a:r>
            <a:endParaRPr lang="en-US" sz="900" dirty="0"/>
          </a:p>
        </p:txBody>
      </p:sp>
      <p:sp>
        <p:nvSpPr>
          <p:cNvPr id="23" name="Text 20"/>
          <p:cNvSpPr/>
          <p:nvPr/>
        </p:nvSpPr>
        <p:spPr>
          <a:xfrm>
            <a:off x="11430000" y="6547104"/>
            <a:ext cx="365760" cy="256032"/>
          </a:xfrm>
          <a:prstGeom prst="rect">
            <a:avLst/>
          </a:prstGeom>
          <a:noFill/>
          <a:ln/>
        </p:spPr>
        <p:txBody>
          <a:bodyPr wrap="square"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5486400" cy="274320"/>
          </a:xfrm>
          <a:prstGeom prst="rect">
            <a:avLst/>
          </a:prstGeom>
          <a:noFill/>
          <a:ln/>
        </p:spPr>
        <p:txBody>
          <a:bodyPr wrap="square" rtlCol="0" anchor="ctr"/>
          <a:lstStyle/>
          <a:p>
            <a:pPr marL="0" indent="0">
              <a:buNone/>
            </a:pPr>
            <a:r>
              <a:rPr lang="en-US" sz="1100" b="1" kern="0" spc="150" dirty="0">
                <a:solidFill>
                  <a:srgbClr val="E07A3E"/>
                </a:solidFill>
                <a:latin typeface="Calibri" pitchFamily="34" charset="0"/>
                <a:ea typeface="Calibri" pitchFamily="34" charset="-122"/>
                <a:cs typeface="Calibri" pitchFamily="34" charset="-120"/>
              </a:rPr>
              <a:t>SLIDE 3 / METHOD</a:t>
            </a:r>
            <a:endParaRPr lang="en-US" sz="1100" dirty="0"/>
          </a:p>
        </p:txBody>
      </p:sp>
      <p:sp>
        <p:nvSpPr>
          <p:cNvPr id="3" name="Text 1"/>
          <p:cNvSpPr/>
          <p:nvPr/>
        </p:nvSpPr>
        <p:spPr>
          <a:xfrm>
            <a:off x="457200" y="566928"/>
            <a:ext cx="11247120" cy="548640"/>
          </a:xfrm>
          <a:prstGeom prst="rect">
            <a:avLst/>
          </a:prstGeom>
          <a:noFill/>
          <a:ln/>
        </p:spPr>
        <p:txBody>
          <a:bodyPr wrap="square" rtlCol="0" anchor="ctr"/>
          <a:lstStyle/>
          <a:p>
            <a:pPr marL="0" indent="0">
              <a:buNone/>
            </a:pPr>
            <a:r>
              <a:rPr lang="en-US" sz="2600" b="1" dirty="0">
                <a:solidFill>
                  <a:srgbClr val="132743"/>
                </a:solidFill>
                <a:latin typeface="Calibri" pitchFamily="34" charset="0"/>
                <a:ea typeface="Calibri" pitchFamily="34" charset="-122"/>
                <a:cs typeface="Calibri" pitchFamily="34" charset="-120"/>
              </a:rPr>
              <a:t>Methodology &amp; Modeling Workflow</a:t>
            </a:r>
            <a:endParaRPr lang="en-US" sz="2600" dirty="0"/>
          </a:p>
        </p:txBody>
      </p:sp>
      <p:sp>
        <p:nvSpPr>
          <p:cNvPr id="4" name="Text 2"/>
          <p:cNvSpPr/>
          <p:nvPr/>
        </p:nvSpPr>
        <p:spPr>
          <a:xfrm>
            <a:off x="457200" y="1078992"/>
            <a:ext cx="11247120" cy="384048"/>
          </a:xfrm>
          <a:prstGeom prst="rect">
            <a:avLst/>
          </a:prstGeom>
          <a:noFill/>
          <a:ln/>
        </p:spPr>
        <p:txBody>
          <a:bodyPr wrap="square" rtlCol="0" anchor="ctr"/>
          <a:lstStyle/>
          <a:p>
            <a:pPr marL="0" indent="0">
              <a:buNone/>
            </a:pPr>
            <a:r>
              <a:rPr lang="en-US" sz="1300" dirty="0">
                <a:solidFill>
                  <a:srgbClr val="5B6B7B"/>
                </a:solidFill>
                <a:latin typeface="Calibri" pitchFamily="34" charset="0"/>
                <a:ea typeface="Calibri" pitchFamily="34" charset="-122"/>
                <a:cs typeface="Calibri" pitchFamily="34" charset="-120"/>
              </a:rPr>
              <a:t>Three regression models of increasing complexity, each evaluated on a held-out test set.</a:t>
            </a:r>
            <a:endParaRPr lang="en-US" sz="1300" dirty="0"/>
          </a:p>
        </p:txBody>
      </p:sp>
      <p:sp>
        <p:nvSpPr>
          <p:cNvPr id="5" name="Shape 3"/>
          <p:cNvSpPr/>
          <p:nvPr/>
        </p:nvSpPr>
        <p:spPr>
          <a:xfrm>
            <a:off x="457200" y="1691640"/>
            <a:ext cx="1993392" cy="777240"/>
          </a:xfrm>
          <a:prstGeom prst="roundRect">
            <a:avLst>
              <a:gd name="adj" fmla="val 9412"/>
            </a:avLst>
          </a:prstGeom>
          <a:solidFill>
            <a:srgbClr val="1E3A5F"/>
          </a:solidFill>
          <a:ln/>
        </p:spPr>
      </p:sp>
      <p:sp>
        <p:nvSpPr>
          <p:cNvPr id="6" name="Text 4"/>
          <p:cNvSpPr/>
          <p:nvPr/>
        </p:nvSpPr>
        <p:spPr>
          <a:xfrm>
            <a:off x="457200" y="1691640"/>
            <a:ext cx="1993392" cy="77724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Weather</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Features</a:t>
            </a:r>
            <a:endParaRPr lang="en-US" sz="1150" dirty="0"/>
          </a:p>
        </p:txBody>
      </p:sp>
      <p:sp>
        <p:nvSpPr>
          <p:cNvPr id="7" name="Text 5"/>
          <p:cNvSpPr/>
          <p:nvPr/>
        </p:nvSpPr>
        <p:spPr>
          <a:xfrm>
            <a:off x="2432304" y="1691640"/>
            <a:ext cx="393192" cy="777240"/>
          </a:xfrm>
          <a:prstGeom prst="rect">
            <a:avLst/>
          </a:prstGeom>
          <a:noFill/>
          <a:ln/>
        </p:spPr>
        <p:txBody>
          <a:bodyPr wrap="square" rtlCol="0" anchor="ctr"/>
          <a:lstStyle/>
          <a:p>
            <a:pPr marL="0" indent="0" algn="ctr">
              <a:buNone/>
            </a:pPr>
            <a:r>
              <a:rPr lang="en-US" sz="1600" dirty="0">
                <a:solidFill>
                  <a:srgbClr val="5B6B7B"/>
                </a:solidFill>
                <a:latin typeface="Calibri" pitchFamily="34" charset="0"/>
                <a:ea typeface="Calibri" pitchFamily="34" charset="-122"/>
                <a:cs typeface="Calibri" pitchFamily="34" charset="-120"/>
              </a:rPr>
              <a:t>→</a:t>
            </a:r>
            <a:endParaRPr lang="en-US" sz="1600" dirty="0"/>
          </a:p>
        </p:txBody>
      </p:sp>
      <p:sp>
        <p:nvSpPr>
          <p:cNvPr id="8" name="Shape 6"/>
          <p:cNvSpPr/>
          <p:nvPr/>
        </p:nvSpPr>
        <p:spPr>
          <a:xfrm>
            <a:off x="2706624" y="1691640"/>
            <a:ext cx="1993392" cy="777240"/>
          </a:xfrm>
          <a:prstGeom prst="roundRect">
            <a:avLst>
              <a:gd name="adj" fmla="val 9412"/>
            </a:avLst>
          </a:prstGeom>
          <a:solidFill>
            <a:srgbClr val="1F9E7A"/>
          </a:solidFill>
          <a:ln/>
        </p:spPr>
      </p:sp>
      <p:sp>
        <p:nvSpPr>
          <p:cNvPr id="9" name="Text 7"/>
          <p:cNvSpPr/>
          <p:nvPr/>
        </p:nvSpPr>
        <p:spPr>
          <a:xfrm>
            <a:off x="2706624" y="1691640"/>
            <a:ext cx="1993392" cy="77724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Preprocess</a:t>
            </a:r>
            <a:endParaRPr lang="en-US" sz="1150" dirty="0"/>
          </a:p>
        </p:txBody>
      </p:sp>
      <p:sp>
        <p:nvSpPr>
          <p:cNvPr id="10" name="Text 8"/>
          <p:cNvSpPr/>
          <p:nvPr/>
        </p:nvSpPr>
        <p:spPr>
          <a:xfrm>
            <a:off x="4681728" y="1691640"/>
            <a:ext cx="393192" cy="777240"/>
          </a:xfrm>
          <a:prstGeom prst="rect">
            <a:avLst/>
          </a:prstGeom>
          <a:noFill/>
          <a:ln/>
        </p:spPr>
        <p:txBody>
          <a:bodyPr wrap="square" rtlCol="0" anchor="ctr"/>
          <a:lstStyle/>
          <a:p>
            <a:pPr marL="0" indent="0" algn="ctr">
              <a:buNone/>
            </a:pPr>
            <a:r>
              <a:rPr lang="en-US" sz="1600" dirty="0">
                <a:solidFill>
                  <a:srgbClr val="5B6B7B"/>
                </a:solidFill>
                <a:latin typeface="Calibri" pitchFamily="34" charset="0"/>
                <a:ea typeface="Calibri" pitchFamily="34" charset="-122"/>
                <a:cs typeface="Calibri" pitchFamily="34" charset="-120"/>
              </a:rPr>
              <a:t>→</a:t>
            </a:r>
            <a:endParaRPr lang="en-US" sz="1600" dirty="0"/>
          </a:p>
        </p:txBody>
      </p:sp>
      <p:sp>
        <p:nvSpPr>
          <p:cNvPr id="11" name="Shape 9"/>
          <p:cNvSpPr/>
          <p:nvPr/>
        </p:nvSpPr>
        <p:spPr>
          <a:xfrm>
            <a:off x="4956048" y="1691640"/>
            <a:ext cx="1993392" cy="777240"/>
          </a:xfrm>
          <a:prstGeom prst="roundRect">
            <a:avLst>
              <a:gd name="adj" fmla="val 9412"/>
            </a:avLst>
          </a:prstGeom>
          <a:solidFill>
            <a:srgbClr val="6E5AA8"/>
          </a:solidFill>
          <a:ln/>
        </p:spPr>
      </p:sp>
      <p:sp>
        <p:nvSpPr>
          <p:cNvPr id="12" name="Text 10"/>
          <p:cNvSpPr/>
          <p:nvPr/>
        </p:nvSpPr>
        <p:spPr>
          <a:xfrm>
            <a:off x="4956048" y="1691640"/>
            <a:ext cx="1993392" cy="77724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Fit Model</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(OLS)</a:t>
            </a:r>
            <a:endParaRPr lang="en-US" sz="1150" dirty="0"/>
          </a:p>
        </p:txBody>
      </p:sp>
      <p:sp>
        <p:nvSpPr>
          <p:cNvPr id="13" name="Text 11"/>
          <p:cNvSpPr/>
          <p:nvPr/>
        </p:nvSpPr>
        <p:spPr>
          <a:xfrm>
            <a:off x="6931152" y="1691640"/>
            <a:ext cx="393192" cy="777240"/>
          </a:xfrm>
          <a:prstGeom prst="rect">
            <a:avLst/>
          </a:prstGeom>
          <a:noFill/>
          <a:ln/>
        </p:spPr>
        <p:txBody>
          <a:bodyPr wrap="square" rtlCol="0" anchor="ctr"/>
          <a:lstStyle/>
          <a:p>
            <a:pPr marL="0" indent="0" algn="ctr">
              <a:buNone/>
            </a:pPr>
            <a:r>
              <a:rPr lang="en-US" sz="1600" dirty="0">
                <a:solidFill>
                  <a:srgbClr val="5B6B7B"/>
                </a:solidFill>
                <a:latin typeface="Calibri" pitchFamily="34" charset="0"/>
                <a:ea typeface="Calibri" pitchFamily="34" charset="-122"/>
                <a:cs typeface="Calibri" pitchFamily="34" charset="-120"/>
              </a:rPr>
              <a:t>→</a:t>
            </a:r>
            <a:endParaRPr lang="en-US" sz="1600" dirty="0"/>
          </a:p>
        </p:txBody>
      </p:sp>
      <p:sp>
        <p:nvSpPr>
          <p:cNvPr id="14" name="Shape 12"/>
          <p:cNvSpPr/>
          <p:nvPr/>
        </p:nvSpPr>
        <p:spPr>
          <a:xfrm>
            <a:off x="7205472" y="1691640"/>
            <a:ext cx="1993392" cy="777240"/>
          </a:xfrm>
          <a:prstGeom prst="roundRect">
            <a:avLst>
              <a:gd name="adj" fmla="val 9412"/>
            </a:avLst>
          </a:prstGeom>
          <a:solidFill>
            <a:srgbClr val="E07A3E"/>
          </a:solidFill>
          <a:ln/>
        </p:spPr>
      </p:sp>
      <p:sp>
        <p:nvSpPr>
          <p:cNvPr id="15" name="Text 13"/>
          <p:cNvSpPr/>
          <p:nvPr/>
        </p:nvSpPr>
        <p:spPr>
          <a:xfrm>
            <a:off x="7205472" y="1691640"/>
            <a:ext cx="1993392" cy="77724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Predict on</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Test Set</a:t>
            </a:r>
            <a:endParaRPr lang="en-US" sz="1150" dirty="0"/>
          </a:p>
        </p:txBody>
      </p:sp>
      <p:sp>
        <p:nvSpPr>
          <p:cNvPr id="16" name="Text 14"/>
          <p:cNvSpPr/>
          <p:nvPr/>
        </p:nvSpPr>
        <p:spPr>
          <a:xfrm>
            <a:off x="9180576" y="1691640"/>
            <a:ext cx="393192" cy="777240"/>
          </a:xfrm>
          <a:prstGeom prst="rect">
            <a:avLst/>
          </a:prstGeom>
          <a:noFill/>
          <a:ln/>
        </p:spPr>
        <p:txBody>
          <a:bodyPr wrap="square" rtlCol="0" anchor="ctr"/>
          <a:lstStyle/>
          <a:p>
            <a:pPr marL="0" indent="0" algn="ctr">
              <a:buNone/>
            </a:pPr>
            <a:r>
              <a:rPr lang="en-US" sz="1600" dirty="0">
                <a:solidFill>
                  <a:srgbClr val="5B6B7B"/>
                </a:solidFill>
                <a:latin typeface="Calibri" pitchFamily="34" charset="0"/>
                <a:ea typeface="Calibri" pitchFamily="34" charset="-122"/>
                <a:cs typeface="Calibri" pitchFamily="34" charset="-120"/>
              </a:rPr>
              <a:t>→</a:t>
            </a:r>
            <a:endParaRPr lang="en-US" sz="1600" dirty="0"/>
          </a:p>
        </p:txBody>
      </p:sp>
      <p:sp>
        <p:nvSpPr>
          <p:cNvPr id="17" name="Shape 15"/>
          <p:cNvSpPr/>
          <p:nvPr/>
        </p:nvSpPr>
        <p:spPr>
          <a:xfrm>
            <a:off x="9454896" y="1691640"/>
            <a:ext cx="1993392" cy="777240"/>
          </a:xfrm>
          <a:prstGeom prst="roundRect">
            <a:avLst>
              <a:gd name="adj" fmla="val 9412"/>
            </a:avLst>
          </a:prstGeom>
          <a:solidFill>
            <a:srgbClr val="1E3A5F"/>
          </a:solidFill>
          <a:ln/>
        </p:spPr>
      </p:sp>
      <p:sp>
        <p:nvSpPr>
          <p:cNvPr id="18" name="Text 16"/>
          <p:cNvSpPr/>
          <p:nvPr/>
        </p:nvSpPr>
        <p:spPr>
          <a:xfrm>
            <a:off x="9454896" y="1691640"/>
            <a:ext cx="1993392" cy="77724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Evaluate</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(R², MSE)</a:t>
            </a:r>
            <a:endParaRPr lang="en-US" sz="1150" dirty="0"/>
          </a:p>
        </p:txBody>
      </p:sp>
      <p:sp>
        <p:nvSpPr>
          <p:cNvPr id="19" name="Shape 17"/>
          <p:cNvSpPr/>
          <p:nvPr/>
        </p:nvSpPr>
        <p:spPr>
          <a:xfrm>
            <a:off x="457200" y="2880360"/>
            <a:ext cx="3639312" cy="1965960"/>
          </a:xfrm>
          <a:prstGeom prst="rect">
            <a:avLst/>
          </a:prstGeom>
          <a:solidFill>
            <a:srgbClr val="F5F7F9"/>
          </a:solidFill>
          <a:ln/>
        </p:spPr>
      </p:sp>
      <p:sp>
        <p:nvSpPr>
          <p:cNvPr id="20" name="Shape 18"/>
          <p:cNvSpPr/>
          <p:nvPr/>
        </p:nvSpPr>
        <p:spPr>
          <a:xfrm>
            <a:off x="694944" y="3099816"/>
            <a:ext cx="146304" cy="146304"/>
          </a:xfrm>
          <a:prstGeom prst="ellipse">
            <a:avLst/>
          </a:prstGeom>
          <a:solidFill>
            <a:srgbClr val="1F9E7A"/>
          </a:solidFill>
          <a:ln/>
        </p:spPr>
      </p:sp>
      <p:sp>
        <p:nvSpPr>
          <p:cNvPr id="21" name="Text 19"/>
          <p:cNvSpPr/>
          <p:nvPr/>
        </p:nvSpPr>
        <p:spPr>
          <a:xfrm>
            <a:off x="960120" y="3026664"/>
            <a:ext cx="2907792" cy="365760"/>
          </a:xfrm>
          <a:prstGeom prst="rect">
            <a:avLst/>
          </a:prstGeom>
          <a:noFill/>
          <a:ln/>
        </p:spPr>
        <p:txBody>
          <a:bodyPr wrap="square" rtlCol="0" anchor="ctr"/>
          <a:lstStyle/>
          <a:p>
            <a:pPr marL="0" indent="0">
              <a:buNone/>
            </a:pPr>
            <a:r>
              <a:rPr lang="en-US" sz="1350" b="1" dirty="0">
                <a:solidFill>
                  <a:srgbClr val="132743"/>
                </a:solidFill>
                <a:latin typeface="Calibri" pitchFamily="34" charset="0"/>
                <a:ea typeface="Calibri" pitchFamily="34" charset="-122"/>
                <a:cs typeface="Calibri" pitchFamily="34" charset="-120"/>
              </a:rPr>
              <a:t>Simple Linear</a:t>
            </a:r>
            <a:endParaRPr lang="en-US" sz="1350" dirty="0"/>
          </a:p>
        </p:txBody>
      </p:sp>
      <p:sp>
        <p:nvSpPr>
          <p:cNvPr id="22" name="Text 20"/>
          <p:cNvSpPr/>
          <p:nvPr/>
        </p:nvSpPr>
        <p:spPr>
          <a:xfrm>
            <a:off x="713232" y="3447288"/>
            <a:ext cx="3182112" cy="777240"/>
          </a:xfrm>
          <a:prstGeom prst="rect">
            <a:avLst/>
          </a:prstGeom>
          <a:noFill/>
          <a:ln/>
        </p:spPr>
        <p:txBody>
          <a:bodyPr wrap="square" rtlCol="0" anchor="t"/>
          <a:lstStyle/>
          <a:p>
            <a:pPr marL="0" indent="0">
              <a:buNone/>
            </a:pPr>
            <a:r>
              <a:rPr lang="en-US" sz="1050" dirty="0">
                <a:solidFill>
                  <a:srgbClr val="1F9E7A"/>
                </a:solidFill>
                <a:latin typeface="Consolas" pitchFamily="34" charset="0"/>
                <a:ea typeface="Consolas" pitchFamily="34" charset="-122"/>
                <a:cs typeface="Consolas" pitchFamily="34" charset="-120"/>
              </a:rPr>
              <a:t>y_hat = β0 + β1·temp</a:t>
            </a:r>
            <a:endParaRPr lang="en-US" sz="1050" dirty="0"/>
          </a:p>
        </p:txBody>
      </p:sp>
      <p:sp>
        <p:nvSpPr>
          <p:cNvPr id="23" name="Text 21"/>
          <p:cNvSpPr/>
          <p:nvPr/>
        </p:nvSpPr>
        <p:spPr>
          <a:xfrm>
            <a:off x="713232" y="4251960"/>
            <a:ext cx="3182112" cy="548640"/>
          </a:xfrm>
          <a:prstGeom prst="rect">
            <a:avLst/>
          </a:prstGeom>
          <a:noFill/>
          <a:ln/>
        </p:spPr>
        <p:txBody>
          <a:bodyPr wrap="square" rtlCol="0" anchor="t"/>
          <a:lstStyle/>
          <a:p>
            <a:pPr marL="0" indent="0">
              <a:buNone/>
            </a:pPr>
            <a:r>
              <a:rPr lang="en-US" sz="1030" dirty="0">
                <a:solidFill>
                  <a:srgbClr val="1B2733"/>
                </a:solidFill>
                <a:latin typeface="Calibri" pitchFamily="34" charset="0"/>
                <a:ea typeface="Calibri" pitchFamily="34" charset="-122"/>
                <a:cs typeface="Calibri" pitchFamily="34" charset="-120"/>
              </a:rPr>
              <a:t>Baseline using temperature alone as the sole predictor.</a:t>
            </a:r>
            <a:endParaRPr lang="en-US" sz="1030" dirty="0"/>
          </a:p>
        </p:txBody>
      </p:sp>
      <p:sp>
        <p:nvSpPr>
          <p:cNvPr id="24" name="Shape 22"/>
          <p:cNvSpPr/>
          <p:nvPr/>
        </p:nvSpPr>
        <p:spPr>
          <a:xfrm>
            <a:off x="4279392" y="2880360"/>
            <a:ext cx="3639312" cy="1965960"/>
          </a:xfrm>
          <a:prstGeom prst="rect">
            <a:avLst/>
          </a:prstGeom>
          <a:solidFill>
            <a:srgbClr val="F5F7F9"/>
          </a:solidFill>
          <a:ln/>
        </p:spPr>
      </p:sp>
      <p:sp>
        <p:nvSpPr>
          <p:cNvPr id="25" name="Shape 23"/>
          <p:cNvSpPr/>
          <p:nvPr/>
        </p:nvSpPr>
        <p:spPr>
          <a:xfrm>
            <a:off x="4517136" y="3099816"/>
            <a:ext cx="146304" cy="146304"/>
          </a:xfrm>
          <a:prstGeom prst="ellipse">
            <a:avLst/>
          </a:prstGeom>
          <a:solidFill>
            <a:srgbClr val="6E5AA8"/>
          </a:solidFill>
          <a:ln/>
        </p:spPr>
      </p:sp>
      <p:sp>
        <p:nvSpPr>
          <p:cNvPr id="26" name="Text 24"/>
          <p:cNvSpPr/>
          <p:nvPr/>
        </p:nvSpPr>
        <p:spPr>
          <a:xfrm>
            <a:off x="4782312" y="3026664"/>
            <a:ext cx="2907792" cy="365760"/>
          </a:xfrm>
          <a:prstGeom prst="rect">
            <a:avLst/>
          </a:prstGeom>
          <a:noFill/>
          <a:ln/>
        </p:spPr>
        <p:txBody>
          <a:bodyPr wrap="square" rtlCol="0" anchor="ctr"/>
          <a:lstStyle/>
          <a:p>
            <a:pPr marL="0" indent="0">
              <a:buNone/>
            </a:pPr>
            <a:r>
              <a:rPr lang="en-US" sz="1350" b="1" dirty="0">
                <a:solidFill>
                  <a:srgbClr val="132743"/>
                </a:solidFill>
                <a:latin typeface="Calibri" pitchFamily="34" charset="0"/>
                <a:ea typeface="Calibri" pitchFamily="34" charset="-122"/>
                <a:cs typeface="Calibri" pitchFamily="34" charset="-120"/>
              </a:rPr>
              <a:t>Multiple Linear</a:t>
            </a:r>
            <a:endParaRPr lang="en-US" sz="1350" dirty="0"/>
          </a:p>
        </p:txBody>
      </p:sp>
      <p:sp>
        <p:nvSpPr>
          <p:cNvPr id="27" name="Text 25"/>
          <p:cNvSpPr/>
          <p:nvPr/>
        </p:nvSpPr>
        <p:spPr>
          <a:xfrm>
            <a:off x="4535424" y="3447288"/>
            <a:ext cx="3182112" cy="777240"/>
          </a:xfrm>
          <a:prstGeom prst="rect">
            <a:avLst/>
          </a:prstGeom>
          <a:noFill/>
          <a:ln/>
        </p:spPr>
        <p:txBody>
          <a:bodyPr wrap="square" rtlCol="0" anchor="t"/>
          <a:lstStyle/>
          <a:p>
            <a:pPr marL="0" indent="0">
              <a:buNone/>
            </a:pPr>
            <a:r>
              <a:rPr lang="en-US" sz="1050" dirty="0">
                <a:solidFill>
                  <a:srgbClr val="6E5AA8"/>
                </a:solidFill>
                <a:latin typeface="Consolas" pitchFamily="34" charset="0"/>
                <a:ea typeface="Consolas" pitchFamily="34" charset="-122"/>
                <a:cs typeface="Consolas" pitchFamily="34" charset="-120"/>
              </a:rPr>
              <a:t>y_hat = β0 + β1·temp + β2·atemp</a:t>
            </a:r>
            <a:endParaRPr lang="en-US" sz="1050" dirty="0"/>
          </a:p>
          <a:p>
            <a:pPr marL="0" indent="0">
              <a:buNone/>
            </a:pPr>
            <a:r>
              <a:rPr lang="en-US" sz="1050" dirty="0">
                <a:solidFill>
                  <a:srgbClr val="6E5AA8"/>
                </a:solidFill>
                <a:latin typeface="Consolas" pitchFamily="34" charset="0"/>
                <a:ea typeface="Consolas" pitchFamily="34" charset="-122"/>
                <a:cs typeface="Consolas" pitchFamily="34" charset="-120"/>
              </a:rPr>
              <a:t>+ β3·hum + β4·windspeed</a:t>
            </a:r>
            <a:endParaRPr lang="en-US" sz="1050" dirty="0"/>
          </a:p>
        </p:txBody>
      </p:sp>
      <p:sp>
        <p:nvSpPr>
          <p:cNvPr id="28" name="Text 26"/>
          <p:cNvSpPr/>
          <p:nvPr/>
        </p:nvSpPr>
        <p:spPr>
          <a:xfrm>
            <a:off x="4535424" y="4251960"/>
            <a:ext cx="3182112" cy="548640"/>
          </a:xfrm>
          <a:prstGeom prst="rect">
            <a:avLst/>
          </a:prstGeom>
          <a:noFill/>
          <a:ln/>
        </p:spPr>
        <p:txBody>
          <a:bodyPr wrap="square" rtlCol="0" anchor="t"/>
          <a:lstStyle/>
          <a:p>
            <a:pPr marL="0" indent="0">
              <a:buNone/>
            </a:pPr>
            <a:r>
              <a:rPr lang="en-US" sz="1030" dirty="0">
                <a:solidFill>
                  <a:srgbClr val="1B2733"/>
                </a:solidFill>
                <a:latin typeface="Calibri" pitchFamily="34" charset="0"/>
                <a:ea typeface="Calibri" pitchFamily="34" charset="-122"/>
                <a:cs typeface="Calibri" pitchFamily="34" charset="-120"/>
              </a:rPr>
              <a:t>Extends the predictor set to temperature, apparent temperature, humidity, and windspeed.</a:t>
            </a:r>
            <a:endParaRPr lang="en-US" sz="1030" dirty="0"/>
          </a:p>
        </p:txBody>
      </p:sp>
      <p:sp>
        <p:nvSpPr>
          <p:cNvPr id="29" name="Shape 27"/>
          <p:cNvSpPr/>
          <p:nvPr/>
        </p:nvSpPr>
        <p:spPr>
          <a:xfrm>
            <a:off x="8101584" y="2880360"/>
            <a:ext cx="3639312" cy="1965960"/>
          </a:xfrm>
          <a:prstGeom prst="rect">
            <a:avLst/>
          </a:prstGeom>
          <a:solidFill>
            <a:srgbClr val="F5F7F9"/>
          </a:solidFill>
          <a:ln/>
        </p:spPr>
      </p:sp>
      <p:sp>
        <p:nvSpPr>
          <p:cNvPr id="30" name="Shape 28"/>
          <p:cNvSpPr/>
          <p:nvPr/>
        </p:nvSpPr>
        <p:spPr>
          <a:xfrm>
            <a:off x="8339328" y="3099816"/>
            <a:ext cx="146304" cy="146304"/>
          </a:xfrm>
          <a:prstGeom prst="ellipse">
            <a:avLst/>
          </a:prstGeom>
          <a:solidFill>
            <a:srgbClr val="E07A3E"/>
          </a:solidFill>
          <a:ln/>
        </p:spPr>
      </p:sp>
      <p:sp>
        <p:nvSpPr>
          <p:cNvPr id="31" name="Text 29"/>
          <p:cNvSpPr/>
          <p:nvPr/>
        </p:nvSpPr>
        <p:spPr>
          <a:xfrm>
            <a:off x="8604504" y="3026664"/>
            <a:ext cx="2907792" cy="365760"/>
          </a:xfrm>
          <a:prstGeom prst="rect">
            <a:avLst/>
          </a:prstGeom>
          <a:noFill/>
          <a:ln/>
        </p:spPr>
        <p:txBody>
          <a:bodyPr wrap="square" rtlCol="0" anchor="ctr"/>
          <a:lstStyle/>
          <a:p>
            <a:pPr marL="0" indent="0">
              <a:buNone/>
            </a:pPr>
            <a:r>
              <a:rPr lang="en-US" sz="1350" b="1" dirty="0">
                <a:solidFill>
                  <a:srgbClr val="132743"/>
                </a:solidFill>
                <a:latin typeface="Calibri" pitchFamily="34" charset="0"/>
                <a:ea typeface="Calibri" pitchFamily="34" charset="-122"/>
                <a:cs typeface="Calibri" pitchFamily="34" charset="-120"/>
              </a:rPr>
              <a:t>Nonlinear (Polynomial)</a:t>
            </a:r>
            <a:endParaRPr lang="en-US" sz="1350" dirty="0"/>
          </a:p>
        </p:txBody>
      </p:sp>
      <p:sp>
        <p:nvSpPr>
          <p:cNvPr id="32" name="Text 30"/>
          <p:cNvSpPr/>
          <p:nvPr/>
        </p:nvSpPr>
        <p:spPr>
          <a:xfrm>
            <a:off x="8357616" y="3447288"/>
            <a:ext cx="3182112" cy="777240"/>
          </a:xfrm>
          <a:prstGeom prst="rect">
            <a:avLst/>
          </a:prstGeom>
          <a:noFill/>
          <a:ln/>
        </p:spPr>
        <p:txBody>
          <a:bodyPr wrap="square" rtlCol="0" anchor="t"/>
          <a:lstStyle/>
          <a:p>
            <a:pPr marL="0" indent="0">
              <a:buNone/>
            </a:pPr>
            <a:r>
              <a:rPr lang="en-US" sz="1050" dirty="0">
                <a:solidFill>
                  <a:srgbClr val="E07A3E"/>
                </a:solidFill>
                <a:latin typeface="Consolas" pitchFamily="34" charset="0"/>
                <a:ea typeface="Consolas" pitchFamily="34" charset="-122"/>
                <a:cs typeface="Consolas" pitchFamily="34" charset="-120"/>
              </a:rPr>
              <a:t>y_hat = β0 + β1·temp + β2·temp²</a:t>
            </a:r>
            <a:endParaRPr lang="en-US" sz="1050" dirty="0"/>
          </a:p>
        </p:txBody>
      </p:sp>
      <p:sp>
        <p:nvSpPr>
          <p:cNvPr id="33" name="Text 31"/>
          <p:cNvSpPr/>
          <p:nvPr/>
        </p:nvSpPr>
        <p:spPr>
          <a:xfrm>
            <a:off x="8357616" y="4251960"/>
            <a:ext cx="3182112" cy="548640"/>
          </a:xfrm>
          <a:prstGeom prst="rect">
            <a:avLst/>
          </a:prstGeom>
          <a:noFill/>
          <a:ln/>
        </p:spPr>
        <p:txBody>
          <a:bodyPr wrap="square" rtlCol="0" anchor="t"/>
          <a:lstStyle/>
          <a:p>
            <a:pPr marL="0" indent="0">
              <a:buNone/>
            </a:pPr>
            <a:r>
              <a:rPr lang="en-US" sz="1030" dirty="0">
                <a:solidFill>
                  <a:srgbClr val="1B2733"/>
                </a:solidFill>
                <a:latin typeface="Calibri" pitchFamily="34" charset="0"/>
                <a:ea typeface="Calibri" pitchFamily="34" charset="-122"/>
                <a:cs typeface="Calibri" pitchFamily="34" charset="-120"/>
              </a:rPr>
              <a:t>Engineers a squared temperature term to trace a curve rather than a straight line.</a:t>
            </a:r>
            <a:endParaRPr lang="en-US" sz="1030" dirty="0"/>
          </a:p>
        </p:txBody>
      </p:sp>
      <p:sp>
        <p:nvSpPr>
          <p:cNvPr id="34" name="Text 32"/>
          <p:cNvSpPr/>
          <p:nvPr/>
        </p:nvSpPr>
        <p:spPr>
          <a:xfrm>
            <a:off x="457200" y="5074920"/>
            <a:ext cx="11274552" cy="502920"/>
          </a:xfrm>
          <a:prstGeom prst="rect">
            <a:avLst/>
          </a:prstGeom>
          <a:noFill/>
          <a:ln/>
        </p:spPr>
        <p:txBody>
          <a:bodyPr wrap="square" rtlCol="0" anchor="t"/>
          <a:lstStyle/>
          <a:p>
            <a:pPr marL="0" indent="0">
              <a:buNone/>
            </a:pPr>
            <a:r>
              <a:rPr lang="en-US" sz="1100" i="1" dirty="0">
                <a:solidFill>
                  <a:srgbClr val="5B6B7B"/>
                </a:solidFill>
                <a:latin typeface="Calibri" pitchFamily="34" charset="0"/>
                <a:ea typeface="Calibri" pitchFamily="34" charset="-122"/>
                <a:cs typeface="Calibri" pitchFamily="34" charset="-120"/>
              </a:rPr>
              <a:t>Evaluation: R-squared (variance explained) for all models; MSE and a residual plot additionally computed for the multiple linear model to diagnose unexplained structure.</a:t>
            </a:r>
            <a:endParaRPr lang="en-US" sz="1100" dirty="0"/>
          </a:p>
        </p:txBody>
      </p:sp>
      <p:sp>
        <p:nvSpPr>
          <p:cNvPr id="35" name="Text 33"/>
          <p:cNvSpPr/>
          <p:nvPr/>
        </p:nvSpPr>
        <p:spPr>
          <a:xfrm>
            <a:off x="457200" y="6547104"/>
            <a:ext cx="8686800" cy="256032"/>
          </a:xfrm>
          <a:prstGeom prst="rect">
            <a:avLst/>
          </a:prstGeom>
          <a:noFill/>
          <a:ln/>
        </p:spPr>
        <p:txBody>
          <a:bodyPr wrap="square" rtlCol="0" anchor="ctr"/>
          <a:lstStyle/>
          <a:p>
            <a:pPr marL="0" indent="0" algn="l">
              <a:buNone/>
            </a:pPr>
            <a:r>
              <a:rPr lang="en-US" sz="900" dirty="0">
                <a:solidFill>
                  <a:srgbClr val="5B6B7B"/>
                </a:solidFill>
                <a:latin typeface="Calibri" pitchFamily="34" charset="0"/>
                <a:ea typeface="Calibri" pitchFamily="34" charset="-122"/>
                <a:cs typeface="Calibri" pitchFamily="34" charset="-120"/>
              </a:rPr>
              <a:t>Regression Analysis on the Bike Sharing Dataset  |  Gitarani Mohanty</a:t>
            </a:r>
            <a:endParaRPr lang="en-US" sz="900" dirty="0"/>
          </a:p>
        </p:txBody>
      </p:sp>
      <p:sp>
        <p:nvSpPr>
          <p:cNvPr id="36" name="Text 34"/>
          <p:cNvSpPr/>
          <p:nvPr/>
        </p:nvSpPr>
        <p:spPr>
          <a:xfrm>
            <a:off x="11430000" y="6547104"/>
            <a:ext cx="365760" cy="256032"/>
          </a:xfrm>
          <a:prstGeom prst="rect">
            <a:avLst/>
          </a:prstGeom>
          <a:noFill/>
          <a:ln/>
        </p:spPr>
        <p:txBody>
          <a:bodyPr wrap="square"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5486400" cy="274320"/>
          </a:xfrm>
          <a:prstGeom prst="rect">
            <a:avLst/>
          </a:prstGeom>
          <a:noFill/>
          <a:ln/>
        </p:spPr>
        <p:txBody>
          <a:bodyPr wrap="square" rtlCol="0" anchor="ctr"/>
          <a:lstStyle/>
          <a:p>
            <a:pPr marL="0" indent="0">
              <a:buNone/>
            </a:pPr>
            <a:r>
              <a:rPr lang="en-US" sz="1100" b="1" kern="0" spc="150" dirty="0">
                <a:solidFill>
                  <a:srgbClr val="E07A3E"/>
                </a:solidFill>
                <a:latin typeface="Calibri" pitchFamily="34" charset="0"/>
                <a:ea typeface="Calibri" pitchFamily="34" charset="-122"/>
                <a:cs typeface="Calibri" pitchFamily="34" charset="-120"/>
              </a:rPr>
              <a:t>SLIDE 4 / EVIDENCE</a:t>
            </a:r>
            <a:endParaRPr lang="en-US" sz="1100" dirty="0"/>
          </a:p>
        </p:txBody>
      </p:sp>
      <p:sp>
        <p:nvSpPr>
          <p:cNvPr id="3" name="Text 1"/>
          <p:cNvSpPr/>
          <p:nvPr/>
        </p:nvSpPr>
        <p:spPr>
          <a:xfrm>
            <a:off x="457200" y="566928"/>
            <a:ext cx="11247120" cy="548640"/>
          </a:xfrm>
          <a:prstGeom prst="rect">
            <a:avLst/>
          </a:prstGeom>
          <a:noFill/>
          <a:ln/>
        </p:spPr>
        <p:txBody>
          <a:bodyPr wrap="square" rtlCol="0" anchor="ctr"/>
          <a:lstStyle/>
          <a:p>
            <a:pPr marL="0" indent="0">
              <a:buNone/>
            </a:pPr>
            <a:r>
              <a:rPr lang="en-US" sz="2600" b="1" dirty="0">
                <a:solidFill>
                  <a:srgbClr val="132743"/>
                </a:solidFill>
                <a:latin typeface="Calibri" pitchFamily="34" charset="0"/>
                <a:ea typeface="Calibri" pitchFamily="34" charset="-122"/>
                <a:cs typeface="Calibri" pitchFamily="34" charset="-120"/>
              </a:rPr>
              <a:t>Results: Simple &amp; Multiple Linear Regression</a:t>
            </a:r>
            <a:endParaRPr lang="en-US" sz="2600" dirty="0"/>
          </a:p>
        </p:txBody>
      </p:sp>
      <p:sp>
        <p:nvSpPr>
          <p:cNvPr id="4" name="Text 2"/>
          <p:cNvSpPr/>
          <p:nvPr/>
        </p:nvSpPr>
        <p:spPr>
          <a:xfrm>
            <a:off x="457200" y="1078992"/>
            <a:ext cx="11247120" cy="384048"/>
          </a:xfrm>
          <a:prstGeom prst="rect">
            <a:avLst/>
          </a:prstGeom>
          <a:noFill/>
          <a:ln/>
        </p:spPr>
        <p:txBody>
          <a:bodyPr wrap="square" rtlCol="0" anchor="ctr"/>
          <a:lstStyle/>
          <a:p>
            <a:pPr marL="0" indent="0">
              <a:buNone/>
            </a:pPr>
            <a:r>
              <a:rPr lang="en-US" sz="1300" dirty="0">
                <a:solidFill>
                  <a:srgbClr val="5B6B7B"/>
                </a:solidFill>
                <a:latin typeface="Calibri" pitchFamily="34" charset="0"/>
                <a:ea typeface="Calibri" pitchFamily="34" charset="-122"/>
                <a:cs typeface="Calibri" pitchFamily="34" charset="-120"/>
              </a:rPr>
              <a:t>Adding relevant weather features improved fit substantially more than the baseline single-feature model.</a:t>
            </a:r>
            <a:endParaRPr lang="en-US" sz="1300" dirty="0"/>
          </a:p>
        </p:txBody>
      </p:sp>
      <p:sp>
        <p:nvSpPr>
          <p:cNvPr id="5" name="Text 3"/>
          <p:cNvSpPr/>
          <p:nvPr/>
        </p:nvSpPr>
        <p:spPr>
          <a:xfrm>
            <a:off x="457200" y="1600200"/>
            <a:ext cx="5029200" cy="256032"/>
          </a:xfrm>
          <a:prstGeom prst="rect">
            <a:avLst/>
          </a:prstGeom>
          <a:noFill/>
          <a:ln/>
        </p:spPr>
        <p:txBody>
          <a:bodyPr wrap="square" rtlCol="0" anchor="ctr"/>
          <a:lstStyle/>
          <a:p>
            <a:pPr marL="0" indent="0">
              <a:buNone/>
            </a:pPr>
            <a:r>
              <a:rPr lang="en-US" sz="1050" b="1" kern="0" spc="100" dirty="0">
                <a:solidFill>
                  <a:srgbClr val="1F9E7A"/>
                </a:solidFill>
                <a:latin typeface="Calibri" pitchFamily="34" charset="0"/>
                <a:ea typeface="Calibri" pitchFamily="34" charset="-122"/>
                <a:cs typeface="Calibri" pitchFamily="34" charset="-120"/>
              </a:rPr>
              <a:t>FIGURE 2  ·  SIMPLE LINEAR FIT</a:t>
            </a:r>
            <a:endParaRPr lang="en-US" sz="1050" dirty="0"/>
          </a:p>
        </p:txBody>
      </p:sp>
      <p:pic>
        <p:nvPicPr>
          <p:cNvPr id="6" name="Image 0" descr="figs/fig2_simple_linear.png"/>
          <p:cNvPicPr>
            <a:picLocks noChangeAspect="1"/>
          </p:cNvPicPr>
          <p:nvPr/>
        </p:nvPicPr>
        <p:blipFill>
          <a:blip r:embed="rId3"/>
          <a:stretch>
            <a:fillRect/>
          </a:stretch>
        </p:blipFill>
        <p:spPr>
          <a:xfrm>
            <a:off x="457200" y="1901952"/>
            <a:ext cx="5120640" cy="3291840"/>
          </a:xfrm>
          <a:prstGeom prst="rect">
            <a:avLst/>
          </a:prstGeom>
        </p:spPr>
      </p:pic>
      <p:sp>
        <p:nvSpPr>
          <p:cNvPr id="7" name="Text 4"/>
          <p:cNvSpPr/>
          <p:nvPr/>
        </p:nvSpPr>
        <p:spPr>
          <a:xfrm>
            <a:off x="457200" y="5230368"/>
            <a:ext cx="5120640" cy="320040"/>
          </a:xfrm>
          <a:prstGeom prst="rect">
            <a:avLst/>
          </a:prstGeom>
          <a:noFill/>
          <a:ln/>
        </p:spPr>
        <p:txBody>
          <a:bodyPr wrap="square" rtlCol="0" anchor="ctr"/>
          <a:lstStyle/>
          <a:p>
            <a:pPr marL="0" indent="0">
              <a:buNone/>
            </a:pPr>
            <a:r>
              <a:rPr lang="en-US" sz="1050" dirty="0">
                <a:solidFill>
                  <a:srgbClr val="132743"/>
                </a:solidFill>
                <a:latin typeface="Consolas" pitchFamily="34" charset="0"/>
                <a:ea typeface="Consolas" pitchFamily="34" charset="-122"/>
                <a:cs typeface="Consolas" pitchFamily="34" charset="-120"/>
              </a:rPr>
              <a:t>cnt_hat = 1.11 + 380.91 · temp   →   R² = 0.1674</a:t>
            </a:r>
            <a:endParaRPr lang="en-US" sz="1050" dirty="0"/>
          </a:p>
        </p:txBody>
      </p:sp>
      <p:sp>
        <p:nvSpPr>
          <p:cNvPr id="8" name="Shape 5"/>
          <p:cNvSpPr/>
          <p:nvPr/>
        </p:nvSpPr>
        <p:spPr>
          <a:xfrm>
            <a:off x="5943600" y="1600200"/>
            <a:ext cx="5788152" cy="914400"/>
          </a:xfrm>
          <a:prstGeom prst="rect">
            <a:avLst/>
          </a:prstGeom>
          <a:solidFill>
            <a:srgbClr val="F5F7F9"/>
          </a:solidFill>
          <a:ln/>
        </p:spPr>
      </p:sp>
      <p:sp>
        <p:nvSpPr>
          <p:cNvPr id="9" name="Text 6"/>
          <p:cNvSpPr/>
          <p:nvPr/>
        </p:nvSpPr>
        <p:spPr>
          <a:xfrm>
            <a:off x="6144768" y="1709928"/>
            <a:ext cx="5486400" cy="256032"/>
          </a:xfrm>
          <a:prstGeom prst="rect">
            <a:avLst/>
          </a:prstGeom>
          <a:noFill/>
          <a:ln/>
        </p:spPr>
        <p:txBody>
          <a:bodyPr wrap="square" rtlCol="0" anchor="ctr"/>
          <a:lstStyle/>
          <a:p>
            <a:pPr marL="0" indent="0">
              <a:buNone/>
            </a:pPr>
            <a:r>
              <a:rPr lang="en-US" sz="1050" b="1" kern="0" spc="100" dirty="0">
                <a:solidFill>
                  <a:srgbClr val="6E5AA8"/>
                </a:solidFill>
                <a:latin typeface="Calibri" pitchFamily="34" charset="0"/>
                <a:ea typeface="Calibri" pitchFamily="34" charset="-122"/>
                <a:cs typeface="Calibri" pitchFamily="34" charset="-120"/>
              </a:rPr>
              <a:t>MULTIPLE LINEAR REGRESSION</a:t>
            </a:r>
            <a:endParaRPr lang="en-US" sz="1050" dirty="0"/>
          </a:p>
        </p:txBody>
      </p:sp>
      <p:sp>
        <p:nvSpPr>
          <p:cNvPr id="10" name="Text 7"/>
          <p:cNvSpPr/>
          <p:nvPr/>
        </p:nvSpPr>
        <p:spPr>
          <a:xfrm>
            <a:off x="6144768" y="1993392"/>
            <a:ext cx="5486400" cy="320040"/>
          </a:xfrm>
          <a:prstGeom prst="rect">
            <a:avLst/>
          </a:prstGeom>
          <a:noFill/>
          <a:ln/>
        </p:spPr>
        <p:txBody>
          <a:bodyPr wrap="square" rtlCol="0" anchor="ctr"/>
          <a:lstStyle/>
          <a:p>
            <a:pPr marL="0" indent="0">
              <a:buNone/>
            </a:pPr>
            <a:r>
              <a:rPr lang="en-US" sz="1350" b="1" dirty="0">
                <a:solidFill>
                  <a:srgbClr val="132743"/>
                </a:solidFill>
                <a:latin typeface="Calibri" pitchFamily="34" charset="0"/>
                <a:ea typeface="Calibri" pitchFamily="34" charset="-122"/>
                <a:cs typeface="Calibri" pitchFamily="34" charset="-120"/>
              </a:rPr>
              <a:t>R² = 0.2598      MSE (test) = 23,438.1</a:t>
            </a:r>
            <a:endParaRPr lang="en-US" sz="1350" dirty="0"/>
          </a:p>
        </p:txBody>
      </p:sp>
      <p:sp>
        <p:nvSpPr>
          <p:cNvPr id="11" name="Text 8"/>
          <p:cNvSpPr/>
          <p:nvPr/>
        </p:nvSpPr>
        <p:spPr>
          <a:xfrm>
            <a:off x="6144768" y="2304288"/>
            <a:ext cx="5486400" cy="219456"/>
          </a:xfrm>
          <a:prstGeom prst="rect">
            <a:avLst/>
          </a:prstGeom>
          <a:noFill/>
          <a:ln/>
        </p:spPr>
        <p:txBody>
          <a:bodyPr wrap="square" rtlCol="0" anchor="ctr"/>
          <a:lstStyle/>
          <a:p>
            <a:pPr marL="0" indent="0">
              <a:buNone/>
            </a:pPr>
            <a:r>
              <a:rPr lang="en-US" sz="950" dirty="0">
                <a:solidFill>
                  <a:srgbClr val="5B6B7B"/>
                </a:solidFill>
                <a:latin typeface="Calibri" pitchFamily="34" charset="0"/>
                <a:ea typeface="Calibri" pitchFamily="34" charset="-122"/>
                <a:cs typeface="Calibri" pitchFamily="34" charset="-120"/>
              </a:rPr>
              <a:t>Adding 'atemp', 'hum', and 'windspeed' raised R-squared from 0.167 to 0.260 — the largest single improvement across all three models.</a:t>
            </a:r>
            <a:endParaRPr lang="en-US" sz="9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943600" y="2697480"/>
          <a:ext cx="5788152" cy="1828800"/>
        </p:xfrm>
        <a:graphic>
          <a:graphicData uri="http://schemas.openxmlformats.org/drawingml/2006/table">
            <a:tbl>
              <a:tblPr/>
              <a:tblGrid>
                <a:gridCol w="2894076">
                  <a:extLst>
                    <a:ext uri="{9D8B030D-6E8A-4147-A177-3AD203B41FA5}">
                      <a16:colId xmlns:a16="http://schemas.microsoft.com/office/drawing/2014/main" val="20000"/>
                    </a:ext>
                  </a:extLst>
                </a:gridCol>
                <a:gridCol w="2894076">
                  <a:extLst>
                    <a:ext uri="{9D8B030D-6E8A-4147-A177-3AD203B41FA5}">
                      <a16:colId xmlns:a16="http://schemas.microsoft.com/office/drawing/2014/main" val="20001"/>
                    </a:ext>
                  </a:extLst>
                </a:gridCol>
              </a:tblGrid>
              <a:tr h="30480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Feature</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132743"/>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Coefficient</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132743"/>
                    </a:solidFill>
                  </a:tcPr>
                </a:tc>
                <a:extLst>
                  <a:ext uri="{0D108BD9-81ED-4DB2-BD59-A6C34878D82A}">
                    <a16:rowId xmlns:a16="http://schemas.microsoft.com/office/drawing/2014/main" val="10000"/>
                  </a:ext>
                </a:extLst>
              </a:tr>
              <a:tr h="304800">
                <a:tc>
                  <a:txBody>
                    <a:bodyPr/>
                    <a:lstStyle/>
                    <a:p>
                      <a:pPr marL="0" indent="0">
                        <a:buNone/>
                      </a:pPr>
                      <a:r>
                        <a:rPr lang="en-US" sz="1100" dirty="0">
                          <a:solidFill>
                            <a:srgbClr val="1B2733"/>
                          </a:solidFill>
                          <a:latin typeface="Calibri" pitchFamily="34" charset="0"/>
                          <a:ea typeface="Calibri" pitchFamily="34" charset="-122"/>
                          <a:cs typeface="Calibri" pitchFamily="34" charset="-120"/>
                        </a:rPr>
                        <a:t>temp</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tcPr>
                </a:tc>
                <a:tc>
                  <a:txBody>
                    <a:bodyPr/>
                    <a:lstStyle/>
                    <a:p>
                      <a:pPr marL="0" indent="0">
                        <a:buNone/>
                      </a:pPr>
                      <a:r>
                        <a:rPr lang="en-US" sz="1100" dirty="0">
                          <a:solidFill>
                            <a:srgbClr val="1B2733"/>
                          </a:solidFill>
                          <a:latin typeface="Calibri" pitchFamily="34" charset="0"/>
                          <a:ea typeface="Calibri" pitchFamily="34" charset="-122"/>
                          <a:cs typeface="Calibri" pitchFamily="34" charset="-120"/>
                        </a:rPr>
                        <a:t>117.16</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tcPr>
                </a:tc>
                <a:extLst>
                  <a:ext uri="{0D108BD9-81ED-4DB2-BD59-A6C34878D82A}">
                    <a16:rowId xmlns:a16="http://schemas.microsoft.com/office/drawing/2014/main" val="10001"/>
                  </a:ext>
                </a:extLst>
              </a:tr>
              <a:tr h="304800">
                <a:tc>
                  <a:txBody>
                    <a:bodyPr/>
                    <a:lstStyle/>
                    <a:p>
                      <a:pPr marL="0" indent="0">
                        <a:buNone/>
                      </a:pPr>
                      <a:r>
                        <a:rPr lang="en-US" sz="1100" dirty="0">
                          <a:solidFill>
                            <a:srgbClr val="1B2733"/>
                          </a:solidFill>
                          <a:latin typeface="Calibri" pitchFamily="34" charset="0"/>
                          <a:ea typeface="Calibri" pitchFamily="34" charset="-122"/>
                          <a:cs typeface="Calibri" pitchFamily="34" charset="-120"/>
                        </a:rPr>
                        <a:t>atemp</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tcPr>
                </a:tc>
                <a:tc>
                  <a:txBody>
                    <a:bodyPr/>
                    <a:lstStyle/>
                    <a:p>
                      <a:pPr marL="0" indent="0">
                        <a:buNone/>
                      </a:pPr>
                      <a:r>
                        <a:rPr lang="en-US" sz="1100" dirty="0">
                          <a:solidFill>
                            <a:srgbClr val="1B2733"/>
                          </a:solidFill>
                          <a:latin typeface="Calibri" pitchFamily="34" charset="0"/>
                          <a:ea typeface="Calibri" pitchFamily="34" charset="-122"/>
                          <a:cs typeface="Calibri" pitchFamily="34" charset="-120"/>
                        </a:rPr>
                        <a:t>276.29</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tcPr>
                </a:tc>
                <a:extLst>
                  <a:ext uri="{0D108BD9-81ED-4DB2-BD59-A6C34878D82A}">
                    <a16:rowId xmlns:a16="http://schemas.microsoft.com/office/drawing/2014/main" val="10002"/>
                  </a:ext>
                </a:extLst>
              </a:tr>
              <a:tr h="304800">
                <a:tc>
                  <a:txBody>
                    <a:bodyPr/>
                    <a:lstStyle/>
                    <a:p>
                      <a:pPr marL="0" indent="0">
                        <a:buNone/>
                      </a:pPr>
                      <a:r>
                        <a:rPr lang="en-US" sz="1100" dirty="0">
                          <a:solidFill>
                            <a:srgbClr val="1B2733"/>
                          </a:solidFill>
                          <a:latin typeface="Calibri" pitchFamily="34" charset="0"/>
                          <a:ea typeface="Calibri" pitchFamily="34" charset="-122"/>
                          <a:cs typeface="Calibri" pitchFamily="34" charset="-120"/>
                        </a:rPr>
                        <a:t>hum</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tcPr>
                </a:tc>
                <a:tc>
                  <a:txBody>
                    <a:bodyPr/>
                    <a:lstStyle/>
                    <a:p>
                      <a:pPr marL="0" indent="0">
                        <a:buNone/>
                      </a:pPr>
                      <a:r>
                        <a:rPr lang="en-US" sz="1100" dirty="0">
                          <a:solidFill>
                            <a:srgbClr val="1B2733"/>
                          </a:solidFill>
                          <a:latin typeface="Calibri" pitchFamily="34" charset="0"/>
                          <a:ea typeface="Calibri" pitchFamily="34" charset="-122"/>
                          <a:cs typeface="Calibri" pitchFamily="34" charset="-120"/>
                        </a:rPr>
                        <a:t>-277.36</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tcPr>
                </a:tc>
                <a:extLst>
                  <a:ext uri="{0D108BD9-81ED-4DB2-BD59-A6C34878D82A}">
                    <a16:rowId xmlns:a16="http://schemas.microsoft.com/office/drawing/2014/main" val="10003"/>
                  </a:ext>
                </a:extLst>
              </a:tr>
              <a:tr h="304800">
                <a:tc>
                  <a:txBody>
                    <a:bodyPr/>
                    <a:lstStyle/>
                    <a:p>
                      <a:pPr marL="0" indent="0">
                        <a:buNone/>
                      </a:pPr>
                      <a:r>
                        <a:rPr lang="en-US" sz="1100" dirty="0">
                          <a:solidFill>
                            <a:srgbClr val="1B2733"/>
                          </a:solidFill>
                          <a:latin typeface="Calibri" pitchFamily="34" charset="0"/>
                          <a:ea typeface="Calibri" pitchFamily="34" charset="-122"/>
                          <a:cs typeface="Calibri" pitchFamily="34" charset="-120"/>
                        </a:rPr>
                        <a:t>windspeed</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tcPr>
                </a:tc>
                <a:tc>
                  <a:txBody>
                    <a:bodyPr/>
                    <a:lstStyle/>
                    <a:p>
                      <a:pPr marL="0" indent="0">
                        <a:buNone/>
                      </a:pPr>
                      <a:r>
                        <a:rPr lang="en-US" sz="1100" dirty="0">
                          <a:solidFill>
                            <a:srgbClr val="1B2733"/>
                          </a:solidFill>
                          <a:latin typeface="Calibri" pitchFamily="34" charset="0"/>
                          <a:ea typeface="Calibri" pitchFamily="34" charset="-122"/>
                          <a:cs typeface="Calibri" pitchFamily="34" charset="-120"/>
                        </a:rPr>
                        <a:t>34.46</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tcPr>
                </a:tc>
                <a:extLst>
                  <a:ext uri="{0D108BD9-81ED-4DB2-BD59-A6C34878D82A}">
                    <a16:rowId xmlns:a16="http://schemas.microsoft.com/office/drawing/2014/main" val="10004"/>
                  </a:ext>
                </a:extLst>
              </a:tr>
              <a:tr h="304800">
                <a:tc>
                  <a:txBody>
                    <a:bodyPr/>
                    <a:lstStyle/>
                    <a:p>
                      <a:pPr marL="0" indent="0">
                        <a:buNone/>
                      </a:pPr>
                      <a:r>
                        <a:rPr lang="en-US" sz="1100" dirty="0">
                          <a:solidFill>
                            <a:srgbClr val="1B2733"/>
                          </a:solidFill>
                          <a:latin typeface="Calibri" pitchFamily="34" charset="0"/>
                          <a:ea typeface="Calibri" pitchFamily="34" charset="-122"/>
                          <a:cs typeface="Calibri" pitchFamily="34" charset="-120"/>
                        </a:rPr>
                        <a:t>Intercept</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tcPr>
                </a:tc>
                <a:tc>
                  <a:txBody>
                    <a:bodyPr/>
                    <a:lstStyle/>
                    <a:p>
                      <a:pPr marL="0" indent="0">
                        <a:buNone/>
                      </a:pPr>
                      <a:r>
                        <a:rPr lang="en-US" sz="1100" dirty="0">
                          <a:solidFill>
                            <a:srgbClr val="1B2733"/>
                          </a:solidFill>
                          <a:latin typeface="Calibri" pitchFamily="34" charset="0"/>
                          <a:ea typeface="Calibri" pitchFamily="34" charset="-122"/>
                          <a:cs typeface="Calibri" pitchFamily="34" charset="-120"/>
                        </a:rPr>
                        <a:t>168.10</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3" name="Text 9"/>
          <p:cNvSpPr/>
          <p:nvPr/>
        </p:nvSpPr>
        <p:spPr>
          <a:xfrm>
            <a:off x="5943600" y="4709160"/>
            <a:ext cx="3246120" cy="1691640"/>
          </a:xfrm>
          <a:prstGeom prst="rect">
            <a:avLst/>
          </a:prstGeom>
          <a:noFill/>
          <a:ln/>
        </p:spPr>
        <p:txBody>
          <a:bodyPr wrap="square" rtlCol="0" anchor="t"/>
          <a:lstStyle/>
          <a:p>
            <a:pPr marL="0" indent="0">
              <a:buNone/>
            </a:pPr>
            <a:r>
              <a:rPr lang="en-US" sz="1080" dirty="0">
                <a:solidFill>
                  <a:srgbClr val="1B2733"/>
                </a:solidFill>
                <a:latin typeface="Calibri" pitchFamily="34" charset="0"/>
                <a:ea typeface="Calibri" pitchFamily="34" charset="-122"/>
                <a:cs typeface="Calibri" pitchFamily="34" charset="-120"/>
              </a:rPr>
              <a:t>Apparent temperature has the strongest positive association with rentals — even larger than temperature itself — while humidity shows a clear negative association, holding other features constant.</a:t>
            </a:r>
            <a:endParaRPr lang="en-US" sz="1080" dirty="0"/>
          </a:p>
        </p:txBody>
      </p:sp>
      <p:sp>
        <p:nvSpPr>
          <p:cNvPr id="14" name="Text 10"/>
          <p:cNvSpPr/>
          <p:nvPr/>
        </p:nvSpPr>
        <p:spPr>
          <a:xfrm>
            <a:off x="9326880" y="4709160"/>
            <a:ext cx="2404872" cy="201168"/>
          </a:xfrm>
          <a:prstGeom prst="rect">
            <a:avLst/>
          </a:prstGeom>
          <a:noFill/>
          <a:ln/>
        </p:spPr>
        <p:txBody>
          <a:bodyPr wrap="square" rtlCol="0" anchor="ctr"/>
          <a:lstStyle/>
          <a:p>
            <a:pPr marL="0" indent="0">
              <a:buNone/>
            </a:pPr>
            <a:r>
              <a:rPr lang="en-US" sz="900" b="1" kern="0" spc="50" dirty="0">
                <a:solidFill>
                  <a:srgbClr val="6E5AA8"/>
                </a:solidFill>
                <a:latin typeface="Calibri" pitchFamily="34" charset="0"/>
                <a:ea typeface="Calibri" pitchFamily="34" charset="-122"/>
                <a:cs typeface="Calibri" pitchFamily="34" charset="-120"/>
              </a:rPr>
              <a:t>FIGURE 3 · RESIDUALS</a:t>
            </a:r>
            <a:endParaRPr lang="en-US" sz="900" dirty="0"/>
          </a:p>
        </p:txBody>
      </p:sp>
      <p:pic>
        <p:nvPicPr>
          <p:cNvPr id="15" name="Image 1" descr="figs/fig3_residuals.png"/>
          <p:cNvPicPr>
            <a:picLocks noChangeAspect="1"/>
          </p:cNvPicPr>
          <p:nvPr/>
        </p:nvPicPr>
        <p:blipFill>
          <a:blip r:embed="rId4"/>
          <a:stretch>
            <a:fillRect/>
          </a:stretch>
        </p:blipFill>
        <p:spPr>
          <a:xfrm>
            <a:off x="9326880" y="4919472"/>
            <a:ext cx="2404872" cy="1463040"/>
          </a:xfrm>
          <a:prstGeom prst="rect">
            <a:avLst/>
          </a:prstGeom>
        </p:spPr>
      </p:pic>
      <p:sp>
        <p:nvSpPr>
          <p:cNvPr id="16" name="Text 11"/>
          <p:cNvSpPr/>
          <p:nvPr/>
        </p:nvSpPr>
        <p:spPr>
          <a:xfrm>
            <a:off x="9326880" y="6382512"/>
            <a:ext cx="2404872" cy="146304"/>
          </a:xfrm>
          <a:prstGeom prst="rect">
            <a:avLst/>
          </a:prstGeom>
          <a:noFill/>
          <a:ln/>
        </p:spPr>
        <p:txBody>
          <a:bodyPr wrap="square" rtlCol="0" anchor="ctr"/>
          <a:lstStyle/>
          <a:p>
            <a:pPr marL="0" indent="0">
              <a:buNone/>
            </a:pPr>
            <a:r>
              <a:rPr lang="en-US" sz="750" i="1" dirty="0">
                <a:solidFill>
                  <a:srgbClr val="5B6B7B"/>
                </a:solidFill>
                <a:latin typeface="Calibri" pitchFamily="34" charset="0"/>
                <a:ea typeface="Calibri" pitchFamily="34" charset="-122"/>
                <a:cs typeface="Calibri" pitchFamily="34" charset="-120"/>
              </a:rPr>
              <a:t>Funnel shape motivates the nonlinear test</a:t>
            </a:r>
            <a:endParaRPr lang="en-US" sz="750" dirty="0"/>
          </a:p>
        </p:txBody>
      </p:sp>
      <p:sp>
        <p:nvSpPr>
          <p:cNvPr id="17" name="Text 12"/>
          <p:cNvSpPr/>
          <p:nvPr/>
        </p:nvSpPr>
        <p:spPr>
          <a:xfrm>
            <a:off x="457200" y="6547104"/>
            <a:ext cx="8686800" cy="256032"/>
          </a:xfrm>
          <a:prstGeom prst="rect">
            <a:avLst/>
          </a:prstGeom>
          <a:noFill/>
          <a:ln/>
        </p:spPr>
        <p:txBody>
          <a:bodyPr wrap="square" rtlCol="0" anchor="ctr"/>
          <a:lstStyle/>
          <a:p>
            <a:pPr marL="0" indent="0" algn="l">
              <a:buNone/>
            </a:pPr>
            <a:r>
              <a:rPr lang="en-US" sz="900" dirty="0">
                <a:solidFill>
                  <a:srgbClr val="5B6B7B"/>
                </a:solidFill>
                <a:latin typeface="Calibri" pitchFamily="34" charset="0"/>
                <a:ea typeface="Calibri" pitchFamily="34" charset="-122"/>
                <a:cs typeface="Calibri" pitchFamily="34" charset="-120"/>
              </a:rPr>
              <a:t>Regression Analysis on the Bike Sharing Dataset  |  Gitarani Mohanty</a:t>
            </a:r>
            <a:endParaRPr lang="en-US" sz="900" dirty="0"/>
          </a:p>
        </p:txBody>
      </p:sp>
      <p:sp>
        <p:nvSpPr>
          <p:cNvPr id="18" name="Text 13"/>
          <p:cNvSpPr/>
          <p:nvPr/>
        </p:nvSpPr>
        <p:spPr>
          <a:xfrm>
            <a:off x="11430000" y="6547104"/>
            <a:ext cx="365760" cy="256032"/>
          </a:xfrm>
          <a:prstGeom prst="rect">
            <a:avLst/>
          </a:prstGeom>
          <a:noFill/>
          <a:ln/>
        </p:spPr>
        <p:txBody>
          <a:bodyPr wrap="square"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5486400" cy="274320"/>
          </a:xfrm>
          <a:prstGeom prst="rect">
            <a:avLst/>
          </a:prstGeom>
          <a:noFill/>
          <a:ln/>
        </p:spPr>
        <p:txBody>
          <a:bodyPr wrap="square" rtlCol="0" anchor="ctr"/>
          <a:lstStyle/>
          <a:p>
            <a:pPr marL="0" indent="0">
              <a:buNone/>
            </a:pPr>
            <a:r>
              <a:rPr lang="en-US" sz="1100" b="1" kern="0" spc="150" dirty="0">
                <a:solidFill>
                  <a:srgbClr val="E07A3E"/>
                </a:solidFill>
                <a:latin typeface="Calibri" pitchFamily="34" charset="0"/>
                <a:ea typeface="Calibri" pitchFamily="34" charset="-122"/>
                <a:cs typeface="Calibri" pitchFamily="34" charset="-120"/>
              </a:rPr>
              <a:t>SLIDE 5 / EVIDENCE</a:t>
            </a:r>
            <a:endParaRPr lang="en-US" sz="1100" dirty="0"/>
          </a:p>
        </p:txBody>
      </p:sp>
      <p:sp>
        <p:nvSpPr>
          <p:cNvPr id="3" name="Text 1"/>
          <p:cNvSpPr/>
          <p:nvPr/>
        </p:nvSpPr>
        <p:spPr>
          <a:xfrm>
            <a:off x="457200" y="566928"/>
            <a:ext cx="11247120" cy="548640"/>
          </a:xfrm>
          <a:prstGeom prst="rect">
            <a:avLst/>
          </a:prstGeom>
          <a:noFill/>
          <a:ln/>
        </p:spPr>
        <p:txBody>
          <a:bodyPr wrap="square" rtlCol="0" anchor="ctr"/>
          <a:lstStyle/>
          <a:p>
            <a:pPr marL="0" indent="0">
              <a:buNone/>
            </a:pPr>
            <a:r>
              <a:rPr lang="en-US" sz="2600" b="1" dirty="0">
                <a:solidFill>
                  <a:srgbClr val="132743"/>
                </a:solidFill>
                <a:latin typeface="Calibri" pitchFamily="34" charset="0"/>
                <a:ea typeface="Calibri" pitchFamily="34" charset="-122"/>
                <a:cs typeface="Calibri" pitchFamily="34" charset="-120"/>
              </a:rPr>
              <a:t>Results: Nonlinear Regression &amp; Model Comparison</a:t>
            </a:r>
            <a:endParaRPr lang="en-US" sz="2600" dirty="0"/>
          </a:p>
        </p:txBody>
      </p:sp>
      <p:sp>
        <p:nvSpPr>
          <p:cNvPr id="4" name="Text 2"/>
          <p:cNvSpPr/>
          <p:nvPr/>
        </p:nvSpPr>
        <p:spPr>
          <a:xfrm>
            <a:off x="457200" y="1078992"/>
            <a:ext cx="11247120" cy="384048"/>
          </a:xfrm>
          <a:prstGeom prst="rect">
            <a:avLst/>
          </a:prstGeom>
          <a:noFill/>
          <a:ln/>
        </p:spPr>
        <p:txBody>
          <a:bodyPr wrap="square" rtlCol="0" anchor="ctr"/>
          <a:lstStyle/>
          <a:p>
            <a:pPr marL="0" indent="0">
              <a:buNone/>
            </a:pPr>
            <a:r>
              <a:rPr lang="en-US" sz="1300" dirty="0">
                <a:solidFill>
                  <a:srgbClr val="5B6B7B"/>
                </a:solidFill>
                <a:latin typeface="Calibri" pitchFamily="34" charset="0"/>
                <a:ea typeface="Calibri" pitchFamily="34" charset="-122"/>
                <a:cs typeface="Calibri" pitchFamily="34" charset="-120"/>
              </a:rPr>
              <a:t>Curvature alone barely improved on the baseline — breadth of predictors mattered more than nonlinearity.</a:t>
            </a:r>
            <a:endParaRPr lang="en-US" sz="1300" dirty="0"/>
          </a:p>
        </p:txBody>
      </p:sp>
      <p:sp>
        <p:nvSpPr>
          <p:cNvPr id="5" name="Text 3"/>
          <p:cNvSpPr/>
          <p:nvPr/>
        </p:nvSpPr>
        <p:spPr>
          <a:xfrm>
            <a:off x="457200" y="1600200"/>
            <a:ext cx="5120640" cy="256032"/>
          </a:xfrm>
          <a:prstGeom prst="rect">
            <a:avLst/>
          </a:prstGeom>
          <a:noFill/>
          <a:ln/>
        </p:spPr>
        <p:txBody>
          <a:bodyPr wrap="square" rtlCol="0" anchor="ctr"/>
          <a:lstStyle/>
          <a:p>
            <a:pPr marL="0" indent="0">
              <a:buNone/>
            </a:pPr>
            <a:r>
              <a:rPr lang="en-US" sz="1050" b="1" kern="0" spc="100" dirty="0">
                <a:solidFill>
                  <a:srgbClr val="E07A3E"/>
                </a:solidFill>
                <a:latin typeface="Calibri" pitchFamily="34" charset="0"/>
                <a:ea typeface="Calibri" pitchFamily="34" charset="-122"/>
                <a:cs typeface="Calibri" pitchFamily="34" charset="-120"/>
              </a:rPr>
              <a:t>FIGURE 4  ·  QUADRATIC FIT (TEMP, TEMP²)</a:t>
            </a:r>
            <a:endParaRPr lang="en-US" sz="1050" dirty="0"/>
          </a:p>
        </p:txBody>
      </p:sp>
      <p:pic>
        <p:nvPicPr>
          <p:cNvPr id="6" name="Image 0" descr="figs/fig4_nonlinear.png"/>
          <p:cNvPicPr>
            <a:picLocks noChangeAspect="1"/>
          </p:cNvPicPr>
          <p:nvPr/>
        </p:nvPicPr>
        <p:blipFill>
          <a:blip r:embed="rId3"/>
          <a:stretch>
            <a:fillRect/>
          </a:stretch>
        </p:blipFill>
        <p:spPr>
          <a:xfrm>
            <a:off x="457200" y="1901952"/>
            <a:ext cx="5120640" cy="3291840"/>
          </a:xfrm>
          <a:prstGeom prst="rect">
            <a:avLst/>
          </a:prstGeom>
        </p:spPr>
      </p:pic>
      <p:sp>
        <p:nvSpPr>
          <p:cNvPr id="7" name="Text 4"/>
          <p:cNvSpPr/>
          <p:nvPr/>
        </p:nvSpPr>
        <p:spPr>
          <a:xfrm>
            <a:off x="457200" y="5230368"/>
            <a:ext cx="5120640" cy="274320"/>
          </a:xfrm>
          <a:prstGeom prst="rect">
            <a:avLst/>
          </a:prstGeom>
          <a:noFill/>
          <a:ln/>
        </p:spPr>
        <p:txBody>
          <a:bodyPr wrap="square" rtlCol="0" anchor="ctr"/>
          <a:lstStyle/>
          <a:p>
            <a:pPr marL="0" indent="0">
              <a:buNone/>
            </a:pPr>
            <a:r>
              <a:rPr lang="en-US" sz="1000" dirty="0">
                <a:solidFill>
                  <a:srgbClr val="132743"/>
                </a:solidFill>
                <a:latin typeface="Consolas" pitchFamily="34" charset="0"/>
                <a:ea typeface="Consolas" pitchFamily="34" charset="-122"/>
                <a:cs typeface="Consolas" pitchFamily="34" charset="-120"/>
              </a:rPr>
              <a:t>cnt_hat = 9.35 + 341.85·temp + 39.32·temp²</a:t>
            </a:r>
            <a:endParaRPr lang="en-US" sz="1000" dirty="0"/>
          </a:p>
        </p:txBody>
      </p:sp>
      <p:sp>
        <p:nvSpPr>
          <p:cNvPr id="8" name="Text 5"/>
          <p:cNvSpPr/>
          <p:nvPr/>
        </p:nvSpPr>
        <p:spPr>
          <a:xfrm>
            <a:off x="457200" y="5504688"/>
            <a:ext cx="5120640" cy="274320"/>
          </a:xfrm>
          <a:prstGeom prst="rect">
            <a:avLst/>
          </a:prstGeom>
          <a:noFill/>
          <a:ln/>
        </p:spPr>
        <p:txBody>
          <a:bodyPr wrap="square" rtlCol="0" anchor="ctr"/>
          <a:lstStyle/>
          <a:p>
            <a:pPr marL="0" indent="0">
              <a:buNone/>
            </a:pPr>
            <a:r>
              <a:rPr lang="en-US" sz="1050" b="1" dirty="0">
                <a:solidFill>
                  <a:srgbClr val="132743"/>
                </a:solidFill>
                <a:latin typeface="Calibri" pitchFamily="34" charset="0"/>
                <a:ea typeface="Calibri" pitchFamily="34" charset="-122"/>
                <a:cs typeface="Calibri" pitchFamily="34" charset="-120"/>
              </a:rPr>
              <a:t>R² = 0.1679   MSE = 26,347.4</a:t>
            </a:r>
            <a:endParaRPr lang="en-US" sz="1050" dirty="0"/>
          </a:p>
        </p:txBody>
      </p:sp>
      <p:sp>
        <p:nvSpPr>
          <p:cNvPr id="9" name="Text 6"/>
          <p:cNvSpPr/>
          <p:nvPr/>
        </p:nvSpPr>
        <p:spPr>
          <a:xfrm>
            <a:off x="5943600" y="1600200"/>
            <a:ext cx="5760720" cy="256032"/>
          </a:xfrm>
          <a:prstGeom prst="rect">
            <a:avLst/>
          </a:prstGeom>
          <a:noFill/>
          <a:ln/>
        </p:spPr>
        <p:txBody>
          <a:bodyPr wrap="square" rtlCol="0" anchor="ctr"/>
          <a:lstStyle/>
          <a:p>
            <a:pPr marL="0" indent="0">
              <a:buNone/>
            </a:pPr>
            <a:r>
              <a:rPr lang="en-US" sz="1050" b="1" kern="0" spc="100" dirty="0">
                <a:solidFill>
                  <a:srgbClr val="1F9E7A"/>
                </a:solidFill>
                <a:latin typeface="Calibri" pitchFamily="34" charset="0"/>
                <a:ea typeface="Calibri" pitchFamily="34" charset="-122"/>
                <a:cs typeface="Calibri" pitchFamily="34" charset="-120"/>
              </a:rPr>
              <a:t>FIGURE 5  ·  R-SQUARED ACROSS ALL MODELS</a:t>
            </a:r>
            <a:endParaRPr lang="en-US" sz="1050" dirty="0"/>
          </a:p>
        </p:txBody>
      </p:sp>
      <p:pic>
        <p:nvPicPr>
          <p:cNvPr id="10" name="Image 1" descr="figs/fig5_comparison.png"/>
          <p:cNvPicPr>
            <a:picLocks noChangeAspect="1"/>
          </p:cNvPicPr>
          <p:nvPr/>
        </p:nvPicPr>
        <p:blipFill>
          <a:blip r:embed="rId4"/>
          <a:stretch>
            <a:fillRect/>
          </a:stretch>
        </p:blipFill>
        <p:spPr>
          <a:xfrm>
            <a:off x="5943600" y="1901952"/>
            <a:ext cx="5577840" cy="3566160"/>
          </a:xfrm>
          <a:prstGeom prst="rect">
            <a:avLst/>
          </a:prstGeom>
        </p:spPr>
      </p:pic>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943600" y="5532120"/>
          <a:ext cx="5788152" cy="1005840"/>
        </p:xfrm>
        <a:graphic>
          <a:graphicData uri="http://schemas.openxmlformats.org/drawingml/2006/table">
            <a:tbl>
              <a:tblPr/>
              <a:tblGrid>
                <a:gridCol w="301752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99032">
                  <a:extLst>
                    <a:ext uri="{9D8B030D-6E8A-4147-A177-3AD203B41FA5}">
                      <a16:colId xmlns:a16="http://schemas.microsoft.com/office/drawing/2014/main" val="20002"/>
                    </a:ext>
                  </a:extLst>
                </a:gridCol>
              </a:tblGrid>
              <a:tr h="217170">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Model</a:t>
                      </a:r>
                      <a:endParaRPr lang="en-US" sz="105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132743"/>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R²</a:t>
                      </a:r>
                      <a:endParaRPr lang="en-US" sz="105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132743"/>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MSE (test)</a:t>
                      </a:r>
                      <a:endParaRPr lang="en-US" sz="105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132743"/>
                    </a:solidFill>
                  </a:tcPr>
                </a:tc>
                <a:extLst>
                  <a:ext uri="{0D108BD9-81ED-4DB2-BD59-A6C34878D82A}">
                    <a16:rowId xmlns:a16="http://schemas.microsoft.com/office/drawing/2014/main" val="10000"/>
                  </a:ext>
                </a:extLst>
              </a:tr>
              <a:tr h="217170">
                <a:tc>
                  <a:txBody>
                    <a:bodyPr/>
                    <a:lstStyle/>
                    <a:p>
                      <a:pPr marL="0" indent="0">
                        <a:buNone/>
                      </a:pPr>
                      <a:r>
                        <a:rPr lang="en-US" sz="1050" dirty="0">
                          <a:solidFill>
                            <a:srgbClr val="1B2733"/>
                          </a:solidFill>
                          <a:latin typeface="Calibri" pitchFamily="34" charset="0"/>
                          <a:ea typeface="Calibri" pitchFamily="34" charset="-122"/>
                          <a:cs typeface="Calibri" pitchFamily="34" charset="-120"/>
                        </a:rPr>
                        <a:t>Simple Linear (temp)</a:t>
                      </a:r>
                      <a:endParaRPr lang="en-US" sz="105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tcPr>
                </a:tc>
                <a:tc>
                  <a:txBody>
                    <a:bodyPr/>
                    <a:lstStyle/>
                    <a:p>
                      <a:pPr marL="0" indent="0">
                        <a:buNone/>
                      </a:pPr>
                      <a:r>
                        <a:rPr lang="en-US" sz="1050" dirty="0">
                          <a:solidFill>
                            <a:srgbClr val="1B2733"/>
                          </a:solidFill>
                          <a:latin typeface="Calibri" pitchFamily="34" charset="0"/>
                          <a:ea typeface="Calibri" pitchFamily="34" charset="-122"/>
                          <a:cs typeface="Calibri" pitchFamily="34" charset="-120"/>
                        </a:rPr>
                        <a:t>0.1674</a:t>
                      </a:r>
                      <a:endParaRPr lang="en-US" sz="105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tcPr>
                </a:tc>
                <a:tc>
                  <a:txBody>
                    <a:bodyPr/>
                    <a:lstStyle/>
                    <a:p>
                      <a:pPr marL="0" indent="0">
                        <a:buNone/>
                      </a:pPr>
                      <a:r>
                        <a:rPr lang="en-US" sz="1050" dirty="0">
                          <a:solidFill>
                            <a:srgbClr val="1B2733"/>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tcPr>
                </a:tc>
                <a:extLst>
                  <a:ext uri="{0D108BD9-81ED-4DB2-BD59-A6C34878D82A}">
                    <a16:rowId xmlns:a16="http://schemas.microsoft.com/office/drawing/2014/main" val="10001"/>
                  </a:ext>
                </a:extLst>
              </a:tr>
              <a:tr h="217170">
                <a:tc>
                  <a:txBody>
                    <a:bodyPr/>
                    <a:lstStyle/>
                    <a:p>
                      <a:pPr marL="0" indent="0">
                        <a:buNone/>
                      </a:pPr>
                      <a:r>
                        <a:rPr lang="en-US" sz="1050" dirty="0">
                          <a:solidFill>
                            <a:srgbClr val="1B2733"/>
                          </a:solidFill>
                          <a:latin typeface="Calibri" pitchFamily="34" charset="0"/>
                          <a:ea typeface="Calibri" pitchFamily="34" charset="-122"/>
                          <a:cs typeface="Calibri" pitchFamily="34" charset="-120"/>
                        </a:rPr>
                        <a:t>Multiple Linear (temp, atemp, hum, windspeed)</a:t>
                      </a:r>
                      <a:endParaRPr lang="en-US" sz="105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tcPr>
                </a:tc>
                <a:tc>
                  <a:txBody>
                    <a:bodyPr/>
                    <a:lstStyle/>
                    <a:p>
                      <a:pPr marL="0" indent="0">
                        <a:buNone/>
                      </a:pPr>
                      <a:r>
                        <a:rPr lang="en-US" sz="1050" dirty="0">
                          <a:solidFill>
                            <a:srgbClr val="1B2733"/>
                          </a:solidFill>
                          <a:latin typeface="Calibri" pitchFamily="34" charset="0"/>
                          <a:ea typeface="Calibri" pitchFamily="34" charset="-122"/>
                          <a:cs typeface="Calibri" pitchFamily="34" charset="-120"/>
                        </a:rPr>
                        <a:t>0.2598</a:t>
                      </a:r>
                      <a:endParaRPr lang="en-US" sz="105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tcPr>
                </a:tc>
                <a:tc>
                  <a:txBody>
                    <a:bodyPr/>
                    <a:lstStyle/>
                    <a:p>
                      <a:pPr marL="0" indent="0">
                        <a:buNone/>
                      </a:pPr>
                      <a:r>
                        <a:rPr lang="en-US" sz="1050" dirty="0">
                          <a:solidFill>
                            <a:srgbClr val="1B2733"/>
                          </a:solidFill>
                          <a:latin typeface="Calibri" pitchFamily="34" charset="0"/>
                          <a:ea typeface="Calibri" pitchFamily="34" charset="-122"/>
                          <a:cs typeface="Calibri" pitchFamily="34" charset="-120"/>
                        </a:rPr>
                        <a:t>23,438.1</a:t>
                      </a:r>
                      <a:endParaRPr lang="en-US" sz="105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tcPr>
                </a:tc>
                <a:extLst>
                  <a:ext uri="{0D108BD9-81ED-4DB2-BD59-A6C34878D82A}">
                    <a16:rowId xmlns:a16="http://schemas.microsoft.com/office/drawing/2014/main" val="10002"/>
                  </a:ext>
                </a:extLst>
              </a:tr>
              <a:tr h="217170">
                <a:tc>
                  <a:txBody>
                    <a:bodyPr/>
                    <a:lstStyle/>
                    <a:p>
                      <a:pPr marL="0" indent="0">
                        <a:buNone/>
                      </a:pPr>
                      <a:r>
                        <a:rPr lang="en-US" sz="1050" dirty="0">
                          <a:solidFill>
                            <a:srgbClr val="1B2733"/>
                          </a:solidFill>
                          <a:latin typeface="Calibri" pitchFamily="34" charset="0"/>
                          <a:ea typeface="Calibri" pitchFamily="34" charset="-122"/>
                          <a:cs typeface="Calibri" pitchFamily="34" charset="-120"/>
                        </a:rPr>
                        <a:t>Nonlinear (temp, temp²)</a:t>
                      </a:r>
                      <a:endParaRPr lang="en-US" sz="105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tcPr>
                </a:tc>
                <a:tc>
                  <a:txBody>
                    <a:bodyPr/>
                    <a:lstStyle/>
                    <a:p>
                      <a:pPr marL="0" indent="0">
                        <a:buNone/>
                      </a:pPr>
                      <a:r>
                        <a:rPr lang="en-US" sz="1050" dirty="0">
                          <a:solidFill>
                            <a:srgbClr val="1B2733"/>
                          </a:solidFill>
                          <a:latin typeface="Calibri" pitchFamily="34" charset="0"/>
                          <a:ea typeface="Calibri" pitchFamily="34" charset="-122"/>
                          <a:cs typeface="Calibri" pitchFamily="34" charset="-120"/>
                        </a:rPr>
                        <a:t>0.1679</a:t>
                      </a:r>
                      <a:endParaRPr lang="en-US" sz="105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tcPr>
                </a:tc>
                <a:tc>
                  <a:txBody>
                    <a:bodyPr/>
                    <a:lstStyle/>
                    <a:p>
                      <a:pPr marL="0" indent="0">
                        <a:buNone/>
                      </a:pPr>
                      <a:r>
                        <a:rPr lang="en-US" sz="1050" dirty="0">
                          <a:solidFill>
                            <a:srgbClr val="1B2733"/>
                          </a:solidFill>
                          <a:latin typeface="Calibri" pitchFamily="34" charset="0"/>
                          <a:ea typeface="Calibri" pitchFamily="34" charset="-122"/>
                          <a:cs typeface="Calibri" pitchFamily="34" charset="-120"/>
                        </a:rPr>
                        <a:t>26,347.4</a:t>
                      </a:r>
                      <a:endParaRPr lang="en-US" sz="105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2" name="Text 7"/>
          <p:cNvSpPr/>
          <p:nvPr/>
        </p:nvSpPr>
        <p:spPr>
          <a:xfrm>
            <a:off x="457200" y="6547104"/>
            <a:ext cx="8686800" cy="256032"/>
          </a:xfrm>
          <a:prstGeom prst="rect">
            <a:avLst/>
          </a:prstGeom>
          <a:noFill/>
          <a:ln/>
        </p:spPr>
        <p:txBody>
          <a:bodyPr wrap="square" rtlCol="0" anchor="ctr"/>
          <a:lstStyle/>
          <a:p>
            <a:pPr marL="0" indent="0" algn="l">
              <a:buNone/>
            </a:pPr>
            <a:r>
              <a:rPr lang="en-US" sz="900" dirty="0">
                <a:solidFill>
                  <a:srgbClr val="5B6B7B"/>
                </a:solidFill>
                <a:latin typeface="Calibri" pitchFamily="34" charset="0"/>
                <a:ea typeface="Calibri" pitchFamily="34" charset="-122"/>
                <a:cs typeface="Calibri" pitchFamily="34" charset="-120"/>
              </a:rPr>
              <a:t>Regression Analysis on the Bike Sharing Dataset  |  Gitarani Mohanty</a:t>
            </a:r>
            <a:endParaRPr lang="en-US" sz="900" dirty="0"/>
          </a:p>
        </p:txBody>
      </p:sp>
      <p:sp>
        <p:nvSpPr>
          <p:cNvPr id="13" name="Text 8"/>
          <p:cNvSpPr/>
          <p:nvPr/>
        </p:nvSpPr>
        <p:spPr>
          <a:xfrm>
            <a:off x="11430000" y="6547104"/>
            <a:ext cx="365760" cy="256032"/>
          </a:xfrm>
          <a:prstGeom prst="rect">
            <a:avLst/>
          </a:prstGeom>
          <a:noFill/>
          <a:ln/>
        </p:spPr>
        <p:txBody>
          <a:bodyPr wrap="square"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5486400" cy="274320"/>
          </a:xfrm>
          <a:prstGeom prst="rect">
            <a:avLst/>
          </a:prstGeom>
          <a:noFill/>
          <a:ln/>
        </p:spPr>
        <p:txBody>
          <a:bodyPr wrap="square" rtlCol="0" anchor="ctr"/>
          <a:lstStyle/>
          <a:p>
            <a:pPr marL="0" indent="0">
              <a:buNone/>
            </a:pPr>
            <a:r>
              <a:rPr lang="en-US" sz="1100" b="1" kern="0" spc="150" dirty="0">
                <a:solidFill>
                  <a:srgbClr val="E07A3E"/>
                </a:solidFill>
                <a:latin typeface="Calibri" pitchFamily="34" charset="0"/>
                <a:ea typeface="Calibri" pitchFamily="34" charset="-122"/>
                <a:cs typeface="Calibri" pitchFamily="34" charset="-120"/>
              </a:rPr>
              <a:t>SLIDE 6 / CLOSE</a:t>
            </a:r>
            <a:endParaRPr lang="en-US" sz="1100" dirty="0"/>
          </a:p>
        </p:txBody>
      </p:sp>
      <p:sp>
        <p:nvSpPr>
          <p:cNvPr id="3" name="Text 1"/>
          <p:cNvSpPr/>
          <p:nvPr/>
        </p:nvSpPr>
        <p:spPr>
          <a:xfrm>
            <a:off x="457200" y="566928"/>
            <a:ext cx="11247120" cy="548640"/>
          </a:xfrm>
          <a:prstGeom prst="rect">
            <a:avLst/>
          </a:prstGeom>
          <a:noFill/>
          <a:ln/>
        </p:spPr>
        <p:txBody>
          <a:bodyPr wrap="square" rtlCol="0" anchor="ctr"/>
          <a:lstStyle/>
          <a:p>
            <a:pPr marL="0" indent="0">
              <a:buNone/>
            </a:pPr>
            <a:r>
              <a:rPr lang="en-US" sz="2600" b="1" dirty="0">
                <a:solidFill>
                  <a:srgbClr val="132743"/>
                </a:solidFill>
                <a:latin typeface="Calibri" pitchFamily="34" charset="0"/>
                <a:ea typeface="Calibri" pitchFamily="34" charset="-122"/>
                <a:cs typeface="Calibri" pitchFamily="34" charset="-120"/>
              </a:rPr>
              <a:t>Conclusion &amp; Key Takeaways</a:t>
            </a:r>
            <a:endParaRPr lang="en-US" sz="2600" dirty="0"/>
          </a:p>
        </p:txBody>
      </p:sp>
      <p:sp>
        <p:nvSpPr>
          <p:cNvPr id="4" name="Text 2"/>
          <p:cNvSpPr/>
          <p:nvPr/>
        </p:nvSpPr>
        <p:spPr>
          <a:xfrm>
            <a:off x="457200" y="1078992"/>
            <a:ext cx="11247120" cy="384048"/>
          </a:xfrm>
          <a:prstGeom prst="rect">
            <a:avLst/>
          </a:prstGeom>
          <a:noFill/>
          <a:ln/>
        </p:spPr>
        <p:txBody>
          <a:bodyPr wrap="square" rtlCol="0" anchor="ctr"/>
          <a:lstStyle/>
          <a:p>
            <a:pPr marL="0" indent="0">
              <a:buNone/>
            </a:pPr>
            <a:r>
              <a:rPr lang="en-US" sz="1300" dirty="0">
                <a:solidFill>
                  <a:srgbClr val="5B6B7B"/>
                </a:solidFill>
                <a:latin typeface="Calibri" pitchFamily="34" charset="0"/>
                <a:ea typeface="Calibri" pitchFamily="34" charset="-122"/>
                <a:cs typeface="Calibri" pitchFamily="34" charset="-120"/>
              </a:rPr>
              <a:t>Breadth of relevant predictors mattered more than modeling curvature in a single feature.</a:t>
            </a:r>
            <a:endParaRPr lang="en-US" sz="1300" dirty="0"/>
          </a:p>
        </p:txBody>
      </p:sp>
      <p:sp>
        <p:nvSpPr>
          <p:cNvPr id="5" name="Shape 3"/>
          <p:cNvSpPr/>
          <p:nvPr/>
        </p:nvSpPr>
        <p:spPr>
          <a:xfrm>
            <a:off x="457200" y="1691640"/>
            <a:ext cx="5440680" cy="1965960"/>
          </a:xfrm>
          <a:prstGeom prst="rect">
            <a:avLst/>
          </a:prstGeom>
          <a:solidFill>
            <a:srgbClr val="F5F7F9"/>
          </a:solidFill>
          <a:ln/>
        </p:spPr>
      </p:sp>
      <p:sp>
        <p:nvSpPr>
          <p:cNvPr id="6" name="Shape 4"/>
          <p:cNvSpPr/>
          <p:nvPr/>
        </p:nvSpPr>
        <p:spPr>
          <a:xfrm>
            <a:off x="658368" y="1874520"/>
            <a:ext cx="146304" cy="146304"/>
          </a:xfrm>
          <a:prstGeom prst="ellipse">
            <a:avLst/>
          </a:prstGeom>
          <a:solidFill>
            <a:srgbClr val="1F9E7A"/>
          </a:solidFill>
          <a:ln/>
        </p:spPr>
      </p:sp>
      <p:sp>
        <p:nvSpPr>
          <p:cNvPr id="7" name="Text 5"/>
          <p:cNvSpPr/>
          <p:nvPr/>
        </p:nvSpPr>
        <p:spPr>
          <a:xfrm>
            <a:off x="914400" y="1819656"/>
            <a:ext cx="4709160" cy="274320"/>
          </a:xfrm>
          <a:prstGeom prst="rect">
            <a:avLst/>
          </a:prstGeom>
          <a:noFill/>
          <a:ln/>
        </p:spPr>
        <p:txBody>
          <a:bodyPr wrap="square" rtlCol="0" anchor="ctr"/>
          <a:lstStyle/>
          <a:p>
            <a:pPr marL="0" indent="0">
              <a:buNone/>
            </a:pPr>
            <a:r>
              <a:rPr lang="en-US" sz="1250" b="1" kern="0" spc="50" dirty="0">
                <a:solidFill>
                  <a:srgbClr val="132743"/>
                </a:solidFill>
                <a:latin typeface="Calibri" pitchFamily="34" charset="0"/>
                <a:ea typeface="Calibri" pitchFamily="34" charset="-122"/>
                <a:cs typeface="Calibri" pitchFamily="34" charset="-120"/>
              </a:rPr>
              <a:t>MAIN FINDING</a:t>
            </a:r>
            <a:endParaRPr lang="en-US" sz="1250" dirty="0"/>
          </a:p>
        </p:txBody>
      </p:sp>
      <p:sp>
        <p:nvSpPr>
          <p:cNvPr id="8" name="Text 6"/>
          <p:cNvSpPr/>
          <p:nvPr/>
        </p:nvSpPr>
        <p:spPr>
          <a:xfrm>
            <a:off x="713232" y="2240280"/>
            <a:ext cx="4928616" cy="1234440"/>
          </a:xfrm>
          <a:prstGeom prst="rect">
            <a:avLst/>
          </a:prstGeom>
          <a:noFill/>
          <a:ln/>
        </p:spPr>
        <p:txBody>
          <a:bodyPr wrap="square" rtlCol="0" anchor="t"/>
          <a:lstStyle/>
          <a:p>
            <a:pPr marL="0" indent="0">
              <a:buNone/>
            </a:pPr>
            <a:r>
              <a:rPr lang="en-US" sz="1150" dirty="0">
                <a:solidFill>
                  <a:srgbClr val="1B2733"/>
                </a:solidFill>
                <a:latin typeface="Calibri" pitchFamily="34" charset="0"/>
                <a:ea typeface="Calibri" pitchFamily="34" charset="-122"/>
                <a:cs typeface="Calibri" pitchFamily="34" charset="-120"/>
              </a:rPr>
              <a:t>Adding weather features (multiple linear) raised R² from 0.167 to 0.260 — far more than adding a squared temperature term (0.167 → 0.168).</a:t>
            </a:r>
            <a:endParaRPr lang="en-US" sz="1150" dirty="0"/>
          </a:p>
        </p:txBody>
      </p:sp>
      <p:sp>
        <p:nvSpPr>
          <p:cNvPr id="9" name="Shape 7"/>
          <p:cNvSpPr/>
          <p:nvPr/>
        </p:nvSpPr>
        <p:spPr>
          <a:xfrm>
            <a:off x="6217920" y="1691640"/>
            <a:ext cx="5440680" cy="1965960"/>
          </a:xfrm>
          <a:prstGeom prst="rect">
            <a:avLst/>
          </a:prstGeom>
          <a:solidFill>
            <a:srgbClr val="F5F7F9"/>
          </a:solidFill>
          <a:ln/>
        </p:spPr>
      </p:sp>
      <p:sp>
        <p:nvSpPr>
          <p:cNvPr id="10" name="Shape 8"/>
          <p:cNvSpPr/>
          <p:nvPr/>
        </p:nvSpPr>
        <p:spPr>
          <a:xfrm>
            <a:off x="6419088" y="1874520"/>
            <a:ext cx="146304" cy="146304"/>
          </a:xfrm>
          <a:prstGeom prst="ellipse">
            <a:avLst/>
          </a:prstGeom>
          <a:solidFill>
            <a:srgbClr val="6E5AA8"/>
          </a:solidFill>
          <a:ln/>
        </p:spPr>
      </p:sp>
      <p:sp>
        <p:nvSpPr>
          <p:cNvPr id="11" name="Text 9"/>
          <p:cNvSpPr/>
          <p:nvPr/>
        </p:nvSpPr>
        <p:spPr>
          <a:xfrm>
            <a:off x="6675120" y="1819656"/>
            <a:ext cx="4709160" cy="274320"/>
          </a:xfrm>
          <a:prstGeom prst="rect">
            <a:avLst/>
          </a:prstGeom>
          <a:noFill/>
          <a:ln/>
        </p:spPr>
        <p:txBody>
          <a:bodyPr wrap="square" rtlCol="0" anchor="ctr"/>
          <a:lstStyle/>
          <a:p>
            <a:pPr marL="0" indent="0">
              <a:buNone/>
            </a:pPr>
            <a:r>
              <a:rPr lang="en-US" sz="1250" b="1" kern="0" spc="50" dirty="0">
                <a:solidFill>
                  <a:srgbClr val="132743"/>
                </a:solidFill>
                <a:latin typeface="Calibri" pitchFamily="34" charset="0"/>
                <a:ea typeface="Calibri" pitchFamily="34" charset="-122"/>
                <a:cs typeface="Calibri" pitchFamily="34" charset="-120"/>
              </a:rPr>
              <a:t>INTERPRETATION</a:t>
            </a:r>
            <a:endParaRPr lang="en-US" sz="1250" dirty="0"/>
          </a:p>
        </p:txBody>
      </p:sp>
      <p:sp>
        <p:nvSpPr>
          <p:cNvPr id="12" name="Text 10"/>
          <p:cNvSpPr/>
          <p:nvPr/>
        </p:nvSpPr>
        <p:spPr>
          <a:xfrm>
            <a:off x="6473952" y="2240280"/>
            <a:ext cx="4928616" cy="1234440"/>
          </a:xfrm>
          <a:prstGeom prst="rect">
            <a:avLst/>
          </a:prstGeom>
          <a:noFill/>
          <a:ln/>
        </p:spPr>
        <p:txBody>
          <a:bodyPr wrap="square" rtlCol="0" anchor="t"/>
          <a:lstStyle/>
          <a:p>
            <a:pPr marL="0" indent="0">
              <a:buNone/>
            </a:pPr>
            <a:r>
              <a:rPr lang="en-US" sz="1150" dirty="0">
                <a:solidFill>
                  <a:srgbClr val="1B2733"/>
                </a:solidFill>
                <a:latin typeface="Calibri" pitchFamily="34" charset="0"/>
                <a:ea typeface="Calibri" pitchFamily="34" charset="-122"/>
                <a:cs typeface="Calibri" pitchFamily="34" charset="-120"/>
              </a:rPr>
              <a:t>The temperature–demand relationship is close to linear over the observed range; feature breadth matters more than curvature in this dataset.</a:t>
            </a:r>
            <a:endParaRPr lang="en-US" sz="1150" dirty="0"/>
          </a:p>
        </p:txBody>
      </p:sp>
      <p:sp>
        <p:nvSpPr>
          <p:cNvPr id="13" name="Shape 11"/>
          <p:cNvSpPr/>
          <p:nvPr/>
        </p:nvSpPr>
        <p:spPr>
          <a:xfrm>
            <a:off x="457200" y="3931920"/>
            <a:ext cx="5440680" cy="1965960"/>
          </a:xfrm>
          <a:prstGeom prst="rect">
            <a:avLst/>
          </a:prstGeom>
          <a:solidFill>
            <a:srgbClr val="F5F7F9"/>
          </a:solidFill>
          <a:ln/>
        </p:spPr>
      </p:sp>
      <p:sp>
        <p:nvSpPr>
          <p:cNvPr id="14" name="Shape 12"/>
          <p:cNvSpPr/>
          <p:nvPr/>
        </p:nvSpPr>
        <p:spPr>
          <a:xfrm>
            <a:off x="658368" y="4114800"/>
            <a:ext cx="146304" cy="146304"/>
          </a:xfrm>
          <a:prstGeom prst="ellipse">
            <a:avLst/>
          </a:prstGeom>
          <a:solidFill>
            <a:srgbClr val="E07A3E"/>
          </a:solidFill>
          <a:ln/>
        </p:spPr>
      </p:sp>
      <p:sp>
        <p:nvSpPr>
          <p:cNvPr id="15" name="Text 13"/>
          <p:cNvSpPr/>
          <p:nvPr/>
        </p:nvSpPr>
        <p:spPr>
          <a:xfrm>
            <a:off x="914400" y="4059936"/>
            <a:ext cx="4709160" cy="274320"/>
          </a:xfrm>
          <a:prstGeom prst="rect">
            <a:avLst/>
          </a:prstGeom>
          <a:noFill/>
          <a:ln/>
        </p:spPr>
        <p:txBody>
          <a:bodyPr wrap="square" rtlCol="0" anchor="ctr"/>
          <a:lstStyle/>
          <a:p>
            <a:pPr marL="0" indent="0">
              <a:buNone/>
            </a:pPr>
            <a:r>
              <a:rPr lang="en-US" sz="1250" b="1" kern="0" spc="50" dirty="0">
                <a:solidFill>
                  <a:srgbClr val="132743"/>
                </a:solidFill>
                <a:latin typeface="Calibri" pitchFamily="34" charset="0"/>
                <a:ea typeface="Calibri" pitchFamily="34" charset="-122"/>
                <a:cs typeface="Calibri" pitchFamily="34" charset="-120"/>
              </a:rPr>
              <a:t>LIMITATIONS</a:t>
            </a:r>
            <a:endParaRPr lang="en-US" sz="1250" dirty="0"/>
          </a:p>
        </p:txBody>
      </p:sp>
      <p:sp>
        <p:nvSpPr>
          <p:cNvPr id="16" name="Text 14"/>
          <p:cNvSpPr/>
          <p:nvPr/>
        </p:nvSpPr>
        <p:spPr>
          <a:xfrm>
            <a:off x="713232" y="4480560"/>
            <a:ext cx="4928616" cy="1234440"/>
          </a:xfrm>
          <a:prstGeom prst="rect">
            <a:avLst/>
          </a:prstGeom>
          <a:noFill/>
          <a:ln/>
        </p:spPr>
        <p:txBody>
          <a:bodyPr wrap="square" rtlCol="0" anchor="t"/>
          <a:lstStyle/>
          <a:p>
            <a:pPr marL="0" indent="0">
              <a:buNone/>
            </a:pPr>
            <a:r>
              <a:rPr lang="en-US" sz="1150" dirty="0">
                <a:solidFill>
                  <a:srgbClr val="1B2733"/>
                </a:solidFill>
                <a:latin typeface="Calibri" pitchFamily="34" charset="0"/>
                <a:ea typeface="Calibri" pitchFamily="34" charset="-122"/>
                <a:cs typeface="Calibri" pitchFamily="34" charset="-120"/>
              </a:rPr>
              <a:t>A substantial share of variance remains unexplained by weather alone — time of day, day of week, and holidays were outside this analysis' scope.</a:t>
            </a:r>
            <a:endParaRPr lang="en-US" sz="1150" dirty="0"/>
          </a:p>
        </p:txBody>
      </p:sp>
      <p:sp>
        <p:nvSpPr>
          <p:cNvPr id="17" name="Shape 15"/>
          <p:cNvSpPr/>
          <p:nvPr/>
        </p:nvSpPr>
        <p:spPr>
          <a:xfrm>
            <a:off x="6217920" y="3931920"/>
            <a:ext cx="5440680" cy="1965960"/>
          </a:xfrm>
          <a:prstGeom prst="rect">
            <a:avLst/>
          </a:prstGeom>
          <a:solidFill>
            <a:srgbClr val="F5F7F9"/>
          </a:solidFill>
          <a:ln/>
        </p:spPr>
      </p:sp>
      <p:sp>
        <p:nvSpPr>
          <p:cNvPr id="18" name="Shape 16"/>
          <p:cNvSpPr/>
          <p:nvPr/>
        </p:nvSpPr>
        <p:spPr>
          <a:xfrm>
            <a:off x="6419088" y="4114800"/>
            <a:ext cx="146304" cy="146304"/>
          </a:xfrm>
          <a:prstGeom prst="ellipse">
            <a:avLst/>
          </a:prstGeom>
          <a:solidFill>
            <a:srgbClr val="1E3A5F"/>
          </a:solidFill>
          <a:ln/>
        </p:spPr>
      </p:sp>
      <p:sp>
        <p:nvSpPr>
          <p:cNvPr id="19" name="Text 17"/>
          <p:cNvSpPr/>
          <p:nvPr/>
        </p:nvSpPr>
        <p:spPr>
          <a:xfrm>
            <a:off x="6675120" y="4059936"/>
            <a:ext cx="4709160" cy="274320"/>
          </a:xfrm>
          <a:prstGeom prst="rect">
            <a:avLst/>
          </a:prstGeom>
          <a:noFill/>
          <a:ln/>
        </p:spPr>
        <p:txBody>
          <a:bodyPr wrap="square" rtlCol="0" anchor="ctr"/>
          <a:lstStyle/>
          <a:p>
            <a:pPr marL="0" indent="0">
              <a:buNone/>
            </a:pPr>
            <a:r>
              <a:rPr lang="en-US" sz="1250" b="1" kern="0" spc="50" dirty="0">
                <a:solidFill>
                  <a:srgbClr val="132743"/>
                </a:solidFill>
                <a:latin typeface="Calibri" pitchFamily="34" charset="0"/>
                <a:ea typeface="Calibri" pitchFamily="34" charset="-122"/>
                <a:cs typeface="Calibri" pitchFamily="34" charset="-120"/>
              </a:rPr>
              <a:t>NEXT STEPS</a:t>
            </a:r>
            <a:endParaRPr lang="en-US" sz="1250" dirty="0"/>
          </a:p>
        </p:txBody>
      </p:sp>
      <p:sp>
        <p:nvSpPr>
          <p:cNvPr id="20" name="Text 18"/>
          <p:cNvSpPr/>
          <p:nvPr/>
        </p:nvSpPr>
        <p:spPr>
          <a:xfrm>
            <a:off x="6473952" y="4480560"/>
            <a:ext cx="4928616" cy="1234440"/>
          </a:xfrm>
          <a:prstGeom prst="rect">
            <a:avLst/>
          </a:prstGeom>
          <a:noFill/>
          <a:ln/>
        </p:spPr>
        <p:txBody>
          <a:bodyPr wrap="square" rtlCol="0" anchor="t"/>
          <a:lstStyle/>
          <a:p>
            <a:pPr marL="0" indent="0">
              <a:buNone/>
            </a:pPr>
            <a:r>
              <a:rPr lang="en-US" sz="1150" dirty="0">
                <a:solidFill>
                  <a:srgbClr val="1B2733"/>
                </a:solidFill>
                <a:latin typeface="Calibri" pitchFamily="34" charset="0"/>
                <a:ea typeface="Calibri" pitchFamily="34" charset="-122"/>
                <a:cs typeface="Calibri" pitchFamily="34" charset="-120"/>
              </a:rPr>
              <a:t>Incorporate temporal features (hour, weekday, holiday) and interaction terms; consider regularized or tree-based models for comparison.</a:t>
            </a:r>
            <a:endParaRPr lang="en-US" sz="1150" dirty="0"/>
          </a:p>
        </p:txBody>
      </p:sp>
      <p:sp>
        <p:nvSpPr>
          <p:cNvPr id="21" name="Text 19"/>
          <p:cNvSpPr/>
          <p:nvPr/>
        </p:nvSpPr>
        <p:spPr>
          <a:xfrm>
            <a:off x="457200" y="6547104"/>
            <a:ext cx="8686800" cy="256032"/>
          </a:xfrm>
          <a:prstGeom prst="rect">
            <a:avLst/>
          </a:prstGeom>
          <a:noFill/>
          <a:ln/>
        </p:spPr>
        <p:txBody>
          <a:bodyPr wrap="square" rtlCol="0" anchor="ctr"/>
          <a:lstStyle/>
          <a:p>
            <a:pPr marL="0" indent="0" algn="l">
              <a:buNone/>
            </a:pPr>
            <a:r>
              <a:rPr lang="en-US" sz="900" dirty="0">
                <a:solidFill>
                  <a:srgbClr val="5B6B7B"/>
                </a:solidFill>
                <a:latin typeface="Calibri" pitchFamily="34" charset="0"/>
                <a:ea typeface="Calibri" pitchFamily="34" charset="-122"/>
                <a:cs typeface="Calibri" pitchFamily="34" charset="-120"/>
              </a:rPr>
              <a:t>Regression Analysis on the Bike Sharing Dataset  |  Gitarani Mohanty</a:t>
            </a:r>
            <a:endParaRPr lang="en-US" sz="900" dirty="0"/>
          </a:p>
        </p:txBody>
      </p:sp>
      <p:sp>
        <p:nvSpPr>
          <p:cNvPr id="22" name="Text 20"/>
          <p:cNvSpPr/>
          <p:nvPr/>
        </p:nvSpPr>
        <p:spPr>
          <a:xfrm>
            <a:off x="11430000" y="6547104"/>
            <a:ext cx="365760" cy="256032"/>
          </a:xfrm>
          <a:prstGeom prst="rect">
            <a:avLst/>
          </a:prstGeom>
          <a:noFill/>
          <a:ln/>
        </p:spPr>
        <p:txBody>
          <a:bodyPr wrap="square"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457200" y="320040"/>
            <a:ext cx="5486400" cy="274320"/>
          </a:xfrm>
          <a:prstGeom prst="rect">
            <a:avLst/>
          </a:prstGeom>
          <a:noFill/>
          <a:ln/>
        </p:spPr>
        <p:txBody>
          <a:bodyPr wrap="square" rtlCol="0" anchor="ctr"/>
          <a:lstStyle/>
          <a:p>
            <a:pPr marL="0" indent="0" algn="l">
              <a:buNone/>
            </a:pPr>
            <a:r>
              <a:rPr lang="en-US" sz="1100" b="1" kern="0" spc="150" dirty="0">
                <a:solidFill>
                  <a:srgbClr val="E07A3E"/>
                </a:solidFill>
                <a:latin typeface="Calibri" pitchFamily="34" charset="0"/>
                <a:ea typeface="Calibri" pitchFamily="34" charset="-122"/>
                <a:cs typeface="Calibri" pitchFamily="34" charset="-120"/>
              </a:rPr>
              <a:t>SLIDE 7 / MODULE 4 · SETUP</a:t>
            </a:r>
          </a:p>
        </p:txBody>
      </p:sp>
      <p:sp>
        <p:nvSpPr>
          <p:cNvPr id="3" name="Text 3"/>
          <p:cNvSpPr txBox="1"/>
          <p:nvPr/>
        </p:nvSpPr>
        <p:spPr>
          <a:xfrm>
            <a:off x="457200" y="566928"/>
            <a:ext cx="11247120" cy="548640"/>
          </a:xfrm>
          <a:prstGeom prst="rect">
            <a:avLst/>
          </a:prstGeom>
          <a:noFill/>
          <a:ln/>
        </p:spPr>
        <p:txBody>
          <a:bodyPr wrap="square" rtlCol="0" anchor="ctr"/>
          <a:lstStyle/>
          <a:p>
            <a:pPr marL="0" indent="0" algn="l">
              <a:buNone/>
            </a:pPr>
            <a:r>
              <a:rPr lang="en-US" sz="2600" b="1" kern="0" dirty="0">
                <a:solidFill>
                  <a:srgbClr val="132743"/>
                </a:solidFill>
                <a:latin typeface="Calibri" pitchFamily="34" charset="0"/>
                <a:ea typeface="Calibri" pitchFamily="34" charset="-122"/>
                <a:cs typeface="Calibri" pitchFamily="34" charset="-120"/>
              </a:rPr>
              <a:t>Module 4: CNN Design Study &amp; Occlusion Sensitivity</a:t>
            </a:r>
          </a:p>
        </p:txBody>
      </p:sp>
      <p:sp>
        <p:nvSpPr>
          <p:cNvPr id="4" name="Text 4"/>
          <p:cNvSpPr txBox="1"/>
          <p:nvPr/>
        </p:nvSpPr>
        <p:spPr>
          <a:xfrm>
            <a:off x="457200" y="1078992"/>
            <a:ext cx="11247120" cy="384048"/>
          </a:xfrm>
          <a:prstGeom prst="rect">
            <a:avLst/>
          </a:prstGeom>
          <a:noFill/>
          <a:ln/>
        </p:spPr>
        <p:txBody>
          <a:bodyPr wrap="square" rtlCol="0" anchor="ctr"/>
          <a:lstStyle/>
          <a:p>
            <a:pPr marL="0" indent="0" algn="l">
              <a:buNone/>
            </a:pPr>
            <a:r>
              <a:rPr lang="en-US" sz="1300" kern="0" dirty="0">
                <a:solidFill>
                  <a:srgbClr val="5B6B7B"/>
                </a:solidFill>
                <a:latin typeface="Calibri" pitchFamily="34" charset="0"/>
                <a:ea typeface="Calibri" pitchFamily="34" charset="-122"/>
                <a:cs typeface="Calibri" pitchFamily="34" charset="-120"/>
              </a:rPr>
              <a:t>Which network parameters drive image-classification accuracy, and does the model really look at the object?</a:t>
            </a:r>
          </a:p>
        </p:txBody>
      </p:sp>
      <p:sp>
        <p:nvSpPr>
          <p:cNvPr id="5" name="Text 5"/>
          <p:cNvSpPr txBox="1"/>
          <p:nvPr/>
        </p:nvSpPr>
        <p:spPr>
          <a:xfrm>
            <a:off x="457200" y="6547104"/>
            <a:ext cx="8686800" cy="256032"/>
          </a:xfrm>
          <a:prstGeom prst="rect">
            <a:avLst/>
          </a:prstGeom>
          <a:noFill/>
          <a:ln/>
        </p:spPr>
        <p:txBody>
          <a:bodyPr wrap="square" rtlCol="0" anchor="ctr"/>
          <a:lstStyle/>
          <a:p>
            <a:pPr marL="0" indent="0" algn="l">
              <a:buNone/>
            </a:pPr>
            <a:r>
              <a:rPr lang="en-US" sz="900" kern="0" dirty="0">
                <a:solidFill>
                  <a:srgbClr val="5B6B7B"/>
                </a:solidFill>
                <a:latin typeface="Calibri" pitchFamily="34" charset="0"/>
                <a:ea typeface="Calibri" pitchFamily="34" charset="-122"/>
                <a:cs typeface="Calibri" pitchFamily="34" charset="-120"/>
              </a:rPr>
              <a:t>Module 4: CNN Design Study &amp; Occlusion Sensitivity  |  Gitarani Mohanty</a:t>
            </a:r>
          </a:p>
        </p:txBody>
      </p:sp>
      <p:sp>
        <p:nvSpPr>
          <p:cNvPr id="6" name="Text 6"/>
          <p:cNvSpPr txBox="1"/>
          <p:nvPr/>
        </p:nvSpPr>
        <p:spPr>
          <a:xfrm>
            <a:off x="11430000" y="6547104"/>
            <a:ext cx="365760" cy="256032"/>
          </a:xfrm>
          <a:prstGeom prst="rect">
            <a:avLst/>
          </a:prstGeom>
          <a:noFill/>
          <a:ln/>
        </p:spPr>
        <p:txBody>
          <a:bodyPr wrap="square" rtlCol="0" anchor="ctr"/>
          <a:lstStyle/>
          <a:p>
            <a:pPr marL="0" indent="0" algn="r">
              <a:buNone/>
            </a:pPr>
            <a:r>
              <a:rPr lang="en-US" sz="900" kern="0" dirty="0">
                <a:solidFill>
                  <a:srgbClr val="5B6B7B"/>
                </a:solidFill>
                <a:latin typeface="Calibri" pitchFamily="34" charset="0"/>
                <a:ea typeface="Calibri" pitchFamily="34" charset="-122"/>
                <a:cs typeface="Calibri" pitchFamily="34" charset="-120"/>
              </a:rPr>
              <a:t>7</a:t>
            </a:r>
          </a:p>
        </p:txBody>
      </p:sp>
      <p:sp>
        <p:nvSpPr>
          <p:cNvPr id="7" name="Shape 7"/>
          <p:cNvSpPr/>
          <p:nvPr/>
        </p:nvSpPr>
        <p:spPr>
          <a:xfrm>
            <a:off x="457200" y="1691640"/>
            <a:ext cx="6675120" cy="1417320"/>
          </a:xfrm>
          <a:prstGeom prst="rect">
            <a:avLst/>
          </a:prstGeom>
          <a:solidFill>
            <a:srgbClr val="F5F7F9"/>
          </a:solidFill>
          <a:ln/>
        </p:spPr>
      </p:sp>
      <p:sp>
        <p:nvSpPr>
          <p:cNvPr id="8" name="Shape 8"/>
          <p:cNvSpPr/>
          <p:nvPr/>
        </p:nvSpPr>
        <p:spPr>
          <a:xfrm>
            <a:off x="640080" y="1874520"/>
            <a:ext cx="146304" cy="146304"/>
          </a:xfrm>
          <a:prstGeom prst="ellipse">
            <a:avLst/>
          </a:prstGeom>
          <a:solidFill>
            <a:srgbClr val="1F9E7A"/>
          </a:solidFill>
          <a:ln/>
        </p:spPr>
      </p:sp>
      <p:sp>
        <p:nvSpPr>
          <p:cNvPr id="9" name="Text 9"/>
          <p:cNvSpPr txBox="1"/>
          <p:nvPr/>
        </p:nvSpPr>
        <p:spPr>
          <a:xfrm>
            <a:off x="868680" y="1801368"/>
            <a:ext cx="6126480" cy="292608"/>
          </a:xfrm>
          <a:prstGeom prst="rect">
            <a:avLst/>
          </a:prstGeom>
          <a:noFill/>
          <a:ln/>
        </p:spPr>
        <p:txBody>
          <a:bodyPr wrap="square" rtlCol="0" anchor="ctr"/>
          <a:lstStyle/>
          <a:p>
            <a:pPr marL="0" indent="0" algn="l">
              <a:buNone/>
            </a:pPr>
            <a:r>
              <a:rPr lang="en-US" sz="1250" b="1" kern="0" spc="50" dirty="0">
                <a:solidFill>
                  <a:srgbClr val="132743"/>
                </a:solidFill>
                <a:latin typeface="Calibri" pitchFamily="34" charset="0"/>
                <a:ea typeface="Calibri" pitchFamily="34" charset="-122"/>
                <a:cs typeface="Calibri" pitchFamily="34" charset="-120"/>
              </a:rPr>
              <a:t>TASK &amp; DATA</a:t>
            </a:r>
          </a:p>
        </p:txBody>
      </p:sp>
      <p:sp>
        <p:nvSpPr>
          <p:cNvPr id="10" name="Text 10"/>
          <p:cNvSpPr txBox="1"/>
          <p:nvPr/>
        </p:nvSpPr>
        <p:spPr>
          <a:xfrm>
            <a:off x="640080" y="2148840"/>
            <a:ext cx="6309360" cy="886968"/>
          </a:xfrm>
          <a:prstGeom prst="rect">
            <a:avLst/>
          </a:prstGeom>
          <a:noFill/>
          <a:ln/>
        </p:spPr>
        <p:txBody>
          <a:bodyPr wrap="square" rtlCol="0" anchor="t"/>
          <a:lstStyle/>
          <a:p>
            <a:pPr marL="0" indent="0" algn="l">
              <a:spcAft>
                <a:spcPts val="400"/>
              </a:spcAft>
              <a:buNone/>
            </a:pPr>
            <a:r>
              <a:rPr lang="en-US" sz="1250" kern="0" dirty="0">
                <a:solidFill>
                  <a:srgbClr val="1B2733"/>
                </a:solidFill>
                <a:latin typeface="Calibri" pitchFamily="34" charset="0"/>
                <a:ea typeface="Calibri" pitchFamily="34" charset="-122"/>
                <a:cs typeface="Calibri" pitchFamily="34" charset="-120"/>
              </a:rPr>
              <a:t>Classify 84×84 RGB images (Mini-ImageNet task). The run used a 20-class synthetic stand-in dataset: 1,200 images, split 959 / 121 / 120 for train / validation / test.</a:t>
            </a:r>
          </a:p>
        </p:txBody>
      </p:sp>
      <p:sp>
        <p:nvSpPr>
          <p:cNvPr id="11" name="Shape 11"/>
          <p:cNvSpPr/>
          <p:nvPr/>
        </p:nvSpPr>
        <p:spPr>
          <a:xfrm>
            <a:off x="457200" y="3246120"/>
            <a:ext cx="6675120" cy="1417320"/>
          </a:xfrm>
          <a:prstGeom prst="rect">
            <a:avLst/>
          </a:prstGeom>
          <a:solidFill>
            <a:srgbClr val="F5F7F9"/>
          </a:solidFill>
          <a:ln/>
        </p:spPr>
      </p:sp>
      <p:sp>
        <p:nvSpPr>
          <p:cNvPr id="12" name="Shape 12"/>
          <p:cNvSpPr/>
          <p:nvPr/>
        </p:nvSpPr>
        <p:spPr>
          <a:xfrm>
            <a:off x="640080" y="3429000"/>
            <a:ext cx="146304" cy="146304"/>
          </a:xfrm>
          <a:prstGeom prst="ellipse">
            <a:avLst/>
          </a:prstGeom>
          <a:solidFill>
            <a:srgbClr val="6E5AA8"/>
          </a:solidFill>
          <a:ln/>
        </p:spPr>
      </p:sp>
      <p:sp>
        <p:nvSpPr>
          <p:cNvPr id="13" name="Text 13"/>
          <p:cNvSpPr txBox="1"/>
          <p:nvPr/>
        </p:nvSpPr>
        <p:spPr>
          <a:xfrm>
            <a:off x="868680" y="3355848"/>
            <a:ext cx="6126480" cy="292608"/>
          </a:xfrm>
          <a:prstGeom prst="rect">
            <a:avLst/>
          </a:prstGeom>
          <a:noFill/>
          <a:ln/>
        </p:spPr>
        <p:txBody>
          <a:bodyPr wrap="square" rtlCol="0" anchor="ctr"/>
          <a:lstStyle/>
          <a:p>
            <a:pPr marL="0" indent="0" algn="l">
              <a:buNone/>
            </a:pPr>
            <a:r>
              <a:rPr lang="en-US" sz="1250" b="1" kern="0" spc="50" dirty="0">
                <a:solidFill>
                  <a:srgbClr val="132743"/>
                </a:solidFill>
                <a:latin typeface="Calibri" pitchFamily="34" charset="0"/>
                <a:ea typeface="Calibri" pitchFamily="34" charset="-122"/>
                <a:cs typeface="Calibri" pitchFamily="34" charset="-120"/>
              </a:rPr>
              <a:t>NETWORK FAMILY</a:t>
            </a:r>
          </a:p>
        </p:txBody>
      </p:sp>
      <p:sp>
        <p:nvSpPr>
          <p:cNvPr id="14" name="Text 14"/>
          <p:cNvSpPr txBox="1"/>
          <p:nvPr/>
        </p:nvSpPr>
        <p:spPr>
          <a:xfrm>
            <a:off x="640080" y="3703320"/>
            <a:ext cx="6309360" cy="886968"/>
          </a:xfrm>
          <a:prstGeom prst="rect">
            <a:avLst/>
          </a:prstGeom>
          <a:noFill/>
          <a:ln/>
        </p:spPr>
        <p:txBody>
          <a:bodyPr wrap="square" rtlCol="0" anchor="t"/>
          <a:lstStyle/>
          <a:p>
            <a:pPr marL="0" indent="0" algn="l">
              <a:spcAft>
                <a:spcPts val="400"/>
              </a:spcAft>
              <a:buNone/>
            </a:pPr>
            <a:r>
              <a:rPr lang="en-US" sz="1250" kern="0" dirty="0">
                <a:solidFill>
                  <a:srgbClr val="1B2733"/>
                </a:solidFill>
                <a:latin typeface="Calibri" pitchFamily="34" charset="0"/>
                <a:ea typeface="Calibri" pitchFamily="34" charset="-122"/>
                <a:cs typeface="Calibri" pitchFamily="34" charset="-120"/>
              </a:rPr>
              <a:t>Conv (3×3) → BatchNorm → ReLU stages with optional 2×2 max-pooling, then fully connected layers. Baseline: 3 conv layers (32-64-128 filters), 1 hidden FC layer (256), 0.62 M parameters.</a:t>
            </a:r>
          </a:p>
        </p:txBody>
      </p:sp>
      <p:sp>
        <p:nvSpPr>
          <p:cNvPr id="15" name="Shape 15"/>
          <p:cNvSpPr/>
          <p:nvPr/>
        </p:nvSpPr>
        <p:spPr>
          <a:xfrm>
            <a:off x="457200" y="4800600"/>
            <a:ext cx="6675120" cy="1417320"/>
          </a:xfrm>
          <a:prstGeom prst="rect">
            <a:avLst/>
          </a:prstGeom>
          <a:solidFill>
            <a:srgbClr val="F5F7F9"/>
          </a:solidFill>
          <a:ln/>
        </p:spPr>
      </p:sp>
      <p:sp>
        <p:nvSpPr>
          <p:cNvPr id="16" name="Shape 16"/>
          <p:cNvSpPr/>
          <p:nvPr/>
        </p:nvSpPr>
        <p:spPr>
          <a:xfrm>
            <a:off x="640080" y="4983480"/>
            <a:ext cx="146304" cy="146304"/>
          </a:xfrm>
          <a:prstGeom prst="ellipse">
            <a:avLst/>
          </a:prstGeom>
          <a:solidFill>
            <a:srgbClr val="E07A3E"/>
          </a:solidFill>
          <a:ln/>
        </p:spPr>
      </p:sp>
      <p:sp>
        <p:nvSpPr>
          <p:cNvPr id="17" name="Text 17"/>
          <p:cNvSpPr txBox="1"/>
          <p:nvPr/>
        </p:nvSpPr>
        <p:spPr>
          <a:xfrm>
            <a:off x="868680" y="4910328"/>
            <a:ext cx="6126480" cy="292608"/>
          </a:xfrm>
          <a:prstGeom prst="rect">
            <a:avLst/>
          </a:prstGeom>
          <a:noFill/>
          <a:ln/>
        </p:spPr>
        <p:txBody>
          <a:bodyPr wrap="square" rtlCol="0" anchor="ctr"/>
          <a:lstStyle/>
          <a:p>
            <a:pPr marL="0" indent="0" algn="l">
              <a:buNone/>
            </a:pPr>
            <a:r>
              <a:rPr lang="en-US" sz="1250" b="1" kern="0" spc="50" dirty="0">
                <a:solidFill>
                  <a:srgbClr val="132743"/>
                </a:solidFill>
                <a:latin typeface="Calibri" pitchFamily="34" charset="0"/>
                <a:ea typeface="Calibri" pitchFamily="34" charset="-122"/>
                <a:cs typeface="Calibri" pitchFamily="34" charset="-120"/>
              </a:rPr>
              <a:t>PROTOCOL</a:t>
            </a:r>
          </a:p>
        </p:txBody>
      </p:sp>
      <p:sp>
        <p:nvSpPr>
          <p:cNvPr id="18" name="Text 18"/>
          <p:cNvSpPr txBox="1"/>
          <p:nvPr/>
        </p:nvSpPr>
        <p:spPr>
          <a:xfrm>
            <a:off x="640080" y="5257800"/>
            <a:ext cx="6309360" cy="886968"/>
          </a:xfrm>
          <a:prstGeom prst="rect">
            <a:avLst/>
          </a:prstGeom>
          <a:noFill/>
          <a:ln/>
        </p:spPr>
        <p:txBody>
          <a:bodyPr wrap="square" rtlCol="0" anchor="t"/>
          <a:lstStyle/>
          <a:p>
            <a:pPr marL="0" indent="0" algn="l">
              <a:spcAft>
                <a:spcPts val="400"/>
              </a:spcAft>
              <a:buNone/>
            </a:pPr>
            <a:r>
              <a:rPr lang="en-US" sz="1250" kern="0" dirty="0">
                <a:solidFill>
                  <a:srgbClr val="1B2733"/>
                </a:solidFill>
                <a:latin typeface="Calibri" pitchFamily="34" charset="0"/>
                <a:ea typeface="Calibri" pitchFamily="34" charset="-122"/>
                <a:cs typeface="Calibri" pitchFamily="34" charset="-120"/>
              </a:rPr>
              <a:t>One factor changed at a time (AdamW, 15 epochs, seed 42, no augmentation). Checkpoint chosen on validation accuracy; the test set is used only for reporting.</a:t>
            </a:r>
          </a:p>
        </p:txBody>
      </p:sp>
      <p:sp>
        <p:nvSpPr>
          <p:cNvPr id="19" name="Text 19"/>
          <p:cNvSpPr txBox="1"/>
          <p:nvPr/>
        </p:nvSpPr>
        <p:spPr>
          <a:xfrm>
            <a:off x="7498080" y="1691640"/>
            <a:ext cx="4114800" cy="292608"/>
          </a:xfrm>
          <a:prstGeom prst="rect">
            <a:avLst/>
          </a:prstGeom>
          <a:noFill/>
          <a:ln/>
        </p:spPr>
        <p:txBody>
          <a:bodyPr wrap="square" rtlCol="0" anchor="ctr"/>
          <a:lstStyle/>
          <a:p>
            <a:pPr marL="0" indent="0" algn="l">
              <a:buNone/>
            </a:pPr>
            <a:r>
              <a:rPr lang="en-US" sz="1250" b="1" kern="0" spc="50" dirty="0">
                <a:solidFill>
                  <a:srgbClr val="132743"/>
                </a:solidFill>
                <a:latin typeface="Calibri" pitchFamily="34" charset="0"/>
                <a:ea typeface="Calibri" pitchFamily="34" charset="-122"/>
                <a:cs typeface="Calibri" pitchFamily="34" charset="-120"/>
              </a:rPr>
              <a:t>PART A · FACTORS STUDIED</a:t>
            </a:r>
          </a:p>
        </p:txBody>
      </p:sp>
      <p:sp>
        <p:nvSpPr>
          <p:cNvPr id="20" name="Box 20"/>
          <p:cNvSpPr/>
          <p:nvPr/>
        </p:nvSpPr>
        <p:spPr>
          <a:xfrm>
            <a:off x="7498080" y="2103120"/>
            <a:ext cx="2011680" cy="621792"/>
          </a:xfrm>
          <a:prstGeom prst="roundRect">
            <a:avLst>
              <a:gd name="adj" fmla="val 9000"/>
            </a:avLst>
          </a:prstGeom>
          <a:solidFill>
            <a:srgbClr val="1F3A5F"/>
          </a:solidFill>
          <a:ln/>
        </p:spPr>
        <p:txBody>
          <a:bodyPr wrap="square" rtlCol="0" anchor="ctr"/>
          <a:lstStyle/>
          <a:p>
            <a:pPr marL="0" indent="0" algn="ctr">
              <a:buNone/>
            </a:pPr>
            <a:r>
              <a:rPr lang="en-US" sz="1200" b="1" kern="0" dirty="0">
                <a:solidFill>
                  <a:srgbClr val="FFFFFF"/>
                </a:solidFill>
                <a:latin typeface="Calibri" pitchFamily="34" charset="0"/>
                <a:ea typeface="Calibri" pitchFamily="34" charset="-122"/>
                <a:cs typeface="Calibri" pitchFamily="34" charset="-120"/>
              </a:rPr>
              <a:t>Conv layers</a:t>
            </a:r>
          </a:p>
        </p:txBody>
      </p:sp>
      <p:sp>
        <p:nvSpPr>
          <p:cNvPr id="21" name="Box 21"/>
          <p:cNvSpPr/>
          <p:nvPr/>
        </p:nvSpPr>
        <p:spPr>
          <a:xfrm>
            <a:off x="9601200" y="2103120"/>
            <a:ext cx="2011680" cy="621792"/>
          </a:xfrm>
          <a:prstGeom prst="roundRect">
            <a:avLst>
              <a:gd name="adj" fmla="val 9000"/>
            </a:avLst>
          </a:prstGeom>
          <a:solidFill>
            <a:srgbClr val="1F9E7A"/>
          </a:solidFill>
          <a:ln/>
        </p:spPr>
        <p:txBody>
          <a:bodyPr wrap="square" rtlCol="0" anchor="ctr"/>
          <a:lstStyle/>
          <a:p>
            <a:pPr marL="0" indent="0" algn="ctr">
              <a:buNone/>
            </a:pPr>
            <a:r>
              <a:rPr lang="en-US" sz="1200" b="1" kern="0" dirty="0">
                <a:solidFill>
                  <a:srgbClr val="FFFFFF"/>
                </a:solidFill>
                <a:latin typeface="Calibri" pitchFamily="34" charset="0"/>
                <a:ea typeface="Calibri" pitchFamily="34" charset="-122"/>
                <a:cs typeface="Calibri" pitchFamily="34" charset="-120"/>
              </a:rPr>
              <a:t>FC layers</a:t>
            </a:r>
          </a:p>
        </p:txBody>
      </p:sp>
      <p:sp>
        <p:nvSpPr>
          <p:cNvPr id="22" name="Box 22"/>
          <p:cNvSpPr/>
          <p:nvPr/>
        </p:nvSpPr>
        <p:spPr>
          <a:xfrm>
            <a:off x="7498080" y="2852928"/>
            <a:ext cx="2011680" cy="621792"/>
          </a:xfrm>
          <a:prstGeom prst="roundRect">
            <a:avLst>
              <a:gd name="adj" fmla="val 9000"/>
            </a:avLst>
          </a:prstGeom>
          <a:solidFill>
            <a:srgbClr val="6E5AA8"/>
          </a:solidFill>
          <a:ln/>
        </p:spPr>
        <p:txBody>
          <a:bodyPr wrap="square" rtlCol="0" anchor="ctr"/>
          <a:lstStyle/>
          <a:p>
            <a:pPr marL="0" indent="0" algn="ctr">
              <a:buNone/>
            </a:pPr>
            <a:r>
              <a:rPr lang="en-US" sz="1200" b="1" kern="0" dirty="0">
                <a:solidFill>
                  <a:srgbClr val="FFFFFF"/>
                </a:solidFill>
                <a:latin typeface="Calibri" pitchFamily="34" charset="0"/>
                <a:ea typeface="Calibri" pitchFamily="34" charset="-122"/>
                <a:cs typeface="Calibri" pitchFamily="34" charset="-120"/>
              </a:rPr>
              <a:t>Filters per layer</a:t>
            </a:r>
          </a:p>
        </p:txBody>
      </p:sp>
      <p:sp>
        <p:nvSpPr>
          <p:cNvPr id="23" name="Box 23"/>
          <p:cNvSpPr/>
          <p:nvPr/>
        </p:nvSpPr>
        <p:spPr>
          <a:xfrm>
            <a:off x="9601200" y="2852928"/>
            <a:ext cx="2011680" cy="621792"/>
          </a:xfrm>
          <a:prstGeom prst="roundRect">
            <a:avLst>
              <a:gd name="adj" fmla="val 9000"/>
            </a:avLst>
          </a:prstGeom>
          <a:solidFill>
            <a:srgbClr val="E07A3E"/>
          </a:solidFill>
          <a:ln/>
        </p:spPr>
        <p:txBody>
          <a:bodyPr wrap="square" rtlCol="0" anchor="ctr"/>
          <a:lstStyle/>
          <a:p>
            <a:pPr marL="0" indent="0" algn="ctr">
              <a:buNone/>
            </a:pPr>
            <a:r>
              <a:rPr lang="en-US" sz="1200" b="1" kern="0" dirty="0">
                <a:solidFill>
                  <a:srgbClr val="FFFFFF"/>
                </a:solidFill>
                <a:latin typeface="Calibri" pitchFamily="34" charset="0"/>
                <a:ea typeface="Calibri" pitchFamily="34" charset="-122"/>
                <a:cs typeface="Calibri" pitchFamily="34" charset="-120"/>
              </a:rPr>
              <a:t>Max-pooling</a:t>
            </a:r>
          </a:p>
        </p:txBody>
      </p:sp>
      <p:sp>
        <p:nvSpPr>
          <p:cNvPr id="24" name="Box 24"/>
          <p:cNvSpPr/>
          <p:nvPr/>
        </p:nvSpPr>
        <p:spPr>
          <a:xfrm>
            <a:off x="7498080" y="3602736"/>
            <a:ext cx="2011680" cy="621792"/>
          </a:xfrm>
          <a:prstGeom prst="roundRect">
            <a:avLst>
              <a:gd name="adj" fmla="val 9000"/>
            </a:avLst>
          </a:prstGeom>
          <a:solidFill>
            <a:srgbClr val="1F3A5F"/>
          </a:solidFill>
          <a:ln/>
        </p:spPr>
        <p:txBody>
          <a:bodyPr wrap="square" rtlCol="0" anchor="ctr"/>
          <a:lstStyle/>
          <a:p>
            <a:pPr marL="0" indent="0" algn="ctr">
              <a:buNone/>
            </a:pPr>
            <a:r>
              <a:rPr lang="en-US" sz="1200" b="1" kern="0" dirty="0">
                <a:solidFill>
                  <a:srgbClr val="FFFFFF"/>
                </a:solidFill>
                <a:latin typeface="Calibri" pitchFamily="34" charset="0"/>
                <a:ea typeface="Calibri" pitchFamily="34" charset="-122"/>
                <a:cs typeface="Calibri" pitchFamily="34" charset="-120"/>
              </a:rPr>
              <a:t>Stride</a:t>
            </a:r>
          </a:p>
        </p:txBody>
      </p:sp>
      <p:sp>
        <p:nvSpPr>
          <p:cNvPr id="25" name="Box 25"/>
          <p:cNvSpPr/>
          <p:nvPr/>
        </p:nvSpPr>
        <p:spPr>
          <a:xfrm>
            <a:off x="9601200" y="3602736"/>
            <a:ext cx="2011680" cy="621792"/>
          </a:xfrm>
          <a:prstGeom prst="roundRect">
            <a:avLst>
              <a:gd name="adj" fmla="val 9000"/>
            </a:avLst>
          </a:prstGeom>
          <a:solidFill>
            <a:srgbClr val="1F9E7A"/>
          </a:solidFill>
          <a:ln/>
        </p:spPr>
        <p:txBody>
          <a:bodyPr wrap="square" rtlCol="0" anchor="ctr"/>
          <a:lstStyle/>
          <a:p>
            <a:pPr marL="0" indent="0" algn="ctr">
              <a:buNone/>
            </a:pPr>
            <a:r>
              <a:rPr lang="en-US" sz="1200" b="1" kern="0" dirty="0">
                <a:solidFill>
                  <a:srgbClr val="FFFFFF"/>
                </a:solidFill>
                <a:latin typeface="Calibri" pitchFamily="34" charset="0"/>
                <a:ea typeface="Calibri" pitchFamily="34" charset="-122"/>
                <a:cs typeface="Calibri" pitchFamily="34" charset="-120"/>
              </a:rPr>
              <a:t>Epochs</a:t>
            </a:r>
          </a:p>
        </p:txBody>
      </p:sp>
      <p:sp>
        <p:nvSpPr>
          <p:cNvPr id="26" name="Shape 26"/>
          <p:cNvSpPr/>
          <p:nvPr/>
        </p:nvSpPr>
        <p:spPr>
          <a:xfrm>
            <a:off x="7498080" y="4526280"/>
            <a:ext cx="4114800" cy="1691640"/>
          </a:xfrm>
          <a:prstGeom prst="rect">
            <a:avLst/>
          </a:prstGeom>
          <a:solidFill>
            <a:srgbClr val="F5F7F9"/>
          </a:solidFill>
          <a:ln/>
        </p:spPr>
      </p:sp>
      <p:sp>
        <p:nvSpPr>
          <p:cNvPr id="27" name="Text 27"/>
          <p:cNvSpPr txBox="1"/>
          <p:nvPr/>
        </p:nvSpPr>
        <p:spPr>
          <a:xfrm>
            <a:off x="7680960" y="4599432"/>
            <a:ext cx="3749040" cy="292608"/>
          </a:xfrm>
          <a:prstGeom prst="rect">
            <a:avLst/>
          </a:prstGeom>
          <a:noFill/>
          <a:ln/>
        </p:spPr>
        <p:txBody>
          <a:bodyPr wrap="square" rtlCol="0" anchor="ctr"/>
          <a:lstStyle/>
          <a:p>
            <a:pPr marL="0" indent="0" algn="l">
              <a:buNone/>
            </a:pPr>
            <a:r>
              <a:rPr lang="en-US" sz="1250" b="1" kern="0" spc="50" dirty="0">
                <a:solidFill>
                  <a:srgbClr val="132743"/>
                </a:solidFill>
                <a:latin typeface="Calibri" pitchFamily="34" charset="0"/>
                <a:ea typeface="Calibri" pitchFamily="34" charset="-122"/>
                <a:cs typeface="Calibri" pitchFamily="34" charset="-120"/>
              </a:rPr>
              <a:t>PART B · OCCLUSION SENSITIVITY</a:t>
            </a:r>
          </a:p>
        </p:txBody>
      </p:sp>
      <p:sp>
        <p:nvSpPr>
          <p:cNvPr id="28" name="Text 28"/>
          <p:cNvSpPr txBox="1"/>
          <p:nvPr/>
        </p:nvSpPr>
        <p:spPr>
          <a:xfrm>
            <a:off x="7680960" y="4956048"/>
            <a:ext cx="3749040" cy="1188720"/>
          </a:xfrm>
          <a:prstGeom prst="rect">
            <a:avLst/>
          </a:prstGeom>
          <a:noFill/>
          <a:ln/>
        </p:spPr>
        <p:txBody>
          <a:bodyPr wrap="square" rtlCol="0" anchor="t"/>
          <a:lstStyle/>
          <a:p>
            <a:pPr marL="0" indent="0" algn="l">
              <a:buNone/>
            </a:pPr>
            <a:r>
              <a:rPr lang="en-US" sz="1150" kern="0" dirty="0">
                <a:solidFill>
                  <a:srgbClr val="1B2733"/>
                </a:solidFill>
                <a:latin typeface="Calibri" pitchFamily="34" charset="0"/>
                <a:ea typeface="Calibri" pitchFamily="34" charset="-122"/>
                <a:cs typeface="Calibri" pitchFamily="34" charset="-120"/>
              </a:rPr>
              <a:t>On the best model, hide an N×N window of gray pixels at every position and record the true-class confidence. The resulting map shows which regions the decision depends 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457200" y="320040"/>
            <a:ext cx="5486400" cy="274320"/>
          </a:xfrm>
          <a:prstGeom prst="rect">
            <a:avLst/>
          </a:prstGeom>
          <a:noFill/>
          <a:ln/>
        </p:spPr>
        <p:txBody>
          <a:bodyPr wrap="square" rtlCol="0" anchor="ctr"/>
          <a:lstStyle/>
          <a:p>
            <a:pPr marL="0" indent="0" algn="l">
              <a:buNone/>
            </a:pPr>
            <a:r>
              <a:rPr lang="en-US" sz="1100" b="1" kern="0" spc="150" dirty="0">
                <a:solidFill>
                  <a:srgbClr val="E07A3E"/>
                </a:solidFill>
                <a:latin typeface="Calibri" pitchFamily="34" charset="0"/>
                <a:ea typeface="Calibri" pitchFamily="34" charset="-122"/>
                <a:cs typeface="Calibri" pitchFamily="34" charset="-120"/>
              </a:rPr>
              <a:t>SLIDE 8 / MODULE 4 · EVIDENCE</a:t>
            </a:r>
          </a:p>
        </p:txBody>
      </p:sp>
      <p:sp>
        <p:nvSpPr>
          <p:cNvPr id="3" name="Text 3"/>
          <p:cNvSpPr txBox="1"/>
          <p:nvPr/>
        </p:nvSpPr>
        <p:spPr>
          <a:xfrm>
            <a:off x="457200" y="566928"/>
            <a:ext cx="11247120" cy="548640"/>
          </a:xfrm>
          <a:prstGeom prst="rect">
            <a:avLst/>
          </a:prstGeom>
          <a:noFill/>
          <a:ln/>
        </p:spPr>
        <p:txBody>
          <a:bodyPr wrap="square" rtlCol="0" anchor="ctr"/>
          <a:lstStyle/>
          <a:p>
            <a:pPr marL="0" indent="0" algn="l">
              <a:buNone/>
            </a:pPr>
            <a:r>
              <a:rPr lang="en-US" sz="2600" b="1" kern="0" dirty="0">
                <a:solidFill>
                  <a:srgbClr val="132743"/>
                </a:solidFill>
                <a:latin typeface="Calibri" pitchFamily="34" charset="0"/>
                <a:ea typeface="Calibri" pitchFamily="34" charset="-122"/>
                <a:cs typeface="Calibri" pitchFamily="34" charset="-120"/>
              </a:rPr>
              <a:t>Part A: Effect of Network Parameters</a:t>
            </a:r>
          </a:p>
        </p:txBody>
      </p:sp>
      <p:sp>
        <p:nvSpPr>
          <p:cNvPr id="4" name="Text 4"/>
          <p:cNvSpPr txBox="1"/>
          <p:nvPr/>
        </p:nvSpPr>
        <p:spPr>
          <a:xfrm>
            <a:off x="457200" y="1078992"/>
            <a:ext cx="11247120" cy="384048"/>
          </a:xfrm>
          <a:prstGeom prst="rect">
            <a:avLst/>
          </a:prstGeom>
          <a:noFill/>
          <a:ln/>
        </p:spPr>
        <p:txBody>
          <a:bodyPr wrap="square" rtlCol="0" anchor="ctr"/>
          <a:lstStyle/>
          <a:p>
            <a:pPr marL="0" indent="0" algn="l">
              <a:buNone/>
            </a:pPr>
            <a:r>
              <a:rPr lang="en-US" sz="1300" kern="0" dirty="0">
                <a:solidFill>
                  <a:srgbClr val="5B6B7B"/>
                </a:solidFill>
                <a:latin typeface="Calibri" pitchFamily="34" charset="0"/>
                <a:ea typeface="Calibri" pitchFamily="34" charset="-122"/>
                <a:cs typeface="Calibri" pitchFamily="34" charset="-120"/>
              </a:rPr>
              <a:t>Depth and training time moved accuracy the most; wider layers and extra FC layers did not help.</a:t>
            </a:r>
          </a:p>
        </p:txBody>
      </p:sp>
      <p:sp>
        <p:nvSpPr>
          <p:cNvPr id="5" name="Text 5"/>
          <p:cNvSpPr txBox="1"/>
          <p:nvPr/>
        </p:nvSpPr>
        <p:spPr>
          <a:xfrm>
            <a:off x="457200" y="6547104"/>
            <a:ext cx="8686800" cy="256032"/>
          </a:xfrm>
          <a:prstGeom prst="rect">
            <a:avLst/>
          </a:prstGeom>
          <a:noFill/>
          <a:ln/>
        </p:spPr>
        <p:txBody>
          <a:bodyPr wrap="square" rtlCol="0" anchor="ctr"/>
          <a:lstStyle/>
          <a:p>
            <a:pPr marL="0" indent="0" algn="l">
              <a:buNone/>
            </a:pPr>
            <a:r>
              <a:rPr lang="en-US" sz="900" kern="0" dirty="0">
                <a:solidFill>
                  <a:srgbClr val="5B6B7B"/>
                </a:solidFill>
                <a:latin typeface="Calibri" pitchFamily="34" charset="0"/>
                <a:ea typeface="Calibri" pitchFamily="34" charset="-122"/>
                <a:cs typeface="Calibri" pitchFamily="34" charset="-120"/>
              </a:rPr>
              <a:t>Module 4: CNN Design Study &amp; Occlusion Sensitivity  |  Gitarani Mohanty</a:t>
            </a:r>
          </a:p>
        </p:txBody>
      </p:sp>
      <p:sp>
        <p:nvSpPr>
          <p:cNvPr id="6" name="Text 6"/>
          <p:cNvSpPr txBox="1"/>
          <p:nvPr/>
        </p:nvSpPr>
        <p:spPr>
          <a:xfrm>
            <a:off x="11430000" y="6547104"/>
            <a:ext cx="365760" cy="256032"/>
          </a:xfrm>
          <a:prstGeom prst="rect">
            <a:avLst/>
          </a:prstGeom>
          <a:noFill/>
          <a:ln/>
        </p:spPr>
        <p:txBody>
          <a:bodyPr wrap="square" rtlCol="0" anchor="ctr"/>
          <a:lstStyle/>
          <a:p>
            <a:pPr marL="0" indent="0" algn="r">
              <a:buNone/>
            </a:pPr>
            <a:r>
              <a:rPr lang="en-US" sz="900" kern="0" dirty="0">
                <a:solidFill>
                  <a:srgbClr val="5B6B7B"/>
                </a:solidFill>
                <a:latin typeface="Calibri" pitchFamily="34" charset="0"/>
                <a:ea typeface="Calibri" pitchFamily="34" charset="-122"/>
                <a:cs typeface="Calibri" pitchFamily="34" charset="-120"/>
              </a:rPr>
              <a:t>8</a:t>
            </a:r>
          </a:p>
        </p:txBody>
      </p:sp>
      <p:pic>
        <p:nvPicPr>
          <p:cNvPr id="7" name="Image 7" descr="Bar charts of test accuracy for each studied factor"/>
          <p:cNvPicPr>
            <a:picLocks noChangeAspect="1"/>
          </p:cNvPicPr>
          <p:nvPr/>
        </p:nvPicPr>
        <p:blipFill>
          <a:blip r:embed="rId2"/>
          <a:stretch>
            <a:fillRect/>
          </a:stretch>
        </p:blipFill>
        <p:spPr>
          <a:xfrm>
            <a:off x="457200" y="1783080"/>
            <a:ext cx="6766560" cy="3359398"/>
          </a:xfrm>
          <a:prstGeom prst="rect">
            <a:avLst/>
          </a:prstGeom>
        </p:spPr>
      </p:pic>
      <p:sp>
        <p:nvSpPr>
          <p:cNvPr id="8" name="Text 8"/>
          <p:cNvSpPr txBox="1"/>
          <p:nvPr/>
        </p:nvSpPr>
        <p:spPr>
          <a:xfrm>
            <a:off x="457200" y="5215630"/>
            <a:ext cx="6766560" cy="256032"/>
          </a:xfrm>
          <a:prstGeom prst="rect">
            <a:avLst/>
          </a:prstGeom>
          <a:noFill/>
          <a:ln/>
        </p:spPr>
        <p:txBody>
          <a:bodyPr wrap="square" rtlCol="0" anchor="ctr"/>
          <a:lstStyle/>
          <a:p>
            <a:pPr marL="0" indent="0" algn="l">
              <a:buNone/>
            </a:pPr>
            <a:r>
              <a:rPr lang="en-US" sz="1000" b="1" kern="0" spc="100" dirty="0">
                <a:solidFill>
                  <a:srgbClr val="E07A3E"/>
                </a:solidFill>
                <a:latin typeface="Calibri" pitchFamily="34" charset="0"/>
                <a:ea typeface="Calibri" pitchFamily="34" charset="-122"/>
                <a:cs typeface="Calibri" pitchFamily="34" charset="-120"/>
              </a:rPr>
              <a:t>FIGURE 6  ·  TEST TOP-1 ACCURACY PER FACTOR</a:t>
            </a:r>
            <a:r>
              <a:rPr lang="en-US" sz="1000" kern="0" dirty="0">
                <a:solidFill>
                  <a:srgbClr val="5B6B7B"/>
                </a:solidFill>
                <a:latin typeface="Calibri" pitchFamily="34" charset="0"/>
                <a:ea typeface="Calibri" pitchFamily="34" charset="-122"/>
                <a:cs typeface="Calibri" pitchFamily="34" charset="-120"/>
              </a:rPr>
              <a:t>   baseline included in each panel</a:t>
            </a:r>
          </a:p>
        </p:txBody>
      </p:sp>
      <p:sp>
        <p:nvSpPr>
          <p:cNvPr id="9" name="Shape 9"/>
          <p:cNvSpPr/>
          <p:nvPr/>
        </p:nvSpPr>
        <p:spPr>
          <a:xfrm>
            <a:off x="7498080" y="1691640"/>
            <a:ext cx="4114800" cy="914400"/>
          </a:xfrm>
          <a:prstGeom prst="rect">
            <a:avLst/>
          </a:prstGeom>
          <a:solidFill>
            <a:srgbClr val="F5F7F9"/>
          </a:solidFill>
          <a:ln/>
        </p:spPr>
      </p:sp>
      <p:sp>
        <p:nvSpPr>
          <p:cNvPr id="10" name="Text 10"/>
          <p:cNvSpPr txBox="1"/>
          <p:nvPr/>
        </p:nvSpPr>
        <p:spPr>
          <a:xfrm>
            <a:off x="7589520" y="1764792"/>
            <a:ext cx="3931920" cy="475488"/>
          </a:xfrm>
          <a:prstGeom prst="rect">
            <a:avLst/>
          </a:prstGeom>
          <a:noFill/>
          <a:ln/>
        </p:spPr>
        <p:txBody>
          <a:bodyPr wrap="square" rtlCol="0" anchor="ctr"/>
          <a:lstStyle/>
          <a:p>
            <a:pPr marL="0" indent="0" algn="l">
              <a:buNone/>
            </a:pPr>
            <a:r>
              <a:rPr lang="en-US" sz="2400" b="1" kern="0" dirty="0">
                <a:solidFill>
                  <a:srgbClr val="132743"/>
                </a:solidFill>
                <a:latin typeface="Calibri" pitchFamily="34" charset="0"/>
                <a:ea typeface="Calibri" pitchFamily="34" charset="-122"/>
                <a:cs typeface="Calibri" pitchFamily="34" charset="-120"/>
              </a:rPr>
              <a:t>31.7% → 69.2%</a:t>
            </a:r>
          </a:p>
        </p:txBody>
      </p:sp>
      <p:sp>
        <p:nvSpPr>
          <p:cNvPr id="11" name="Text 11"/>
          <p:cNvSpPr txBox="1"/>
          <p:nvPr/>
        </p:nvSpPr>
        <p:spPr>
          <a:xfrm>
            <a:off x="7589520" y="2221992"/>
            <a:ext cx="3931920" cy="347472"/>
          </a:xfrm>
          <a:prstGeom prst="rect">
            <a:avLst/>
          </a:prstGeom>
          <a:noFill/>
          <a:ln/>
        </p:spPr>
        <p:txBody>
          <a:bodyPr wrap="square" rtlCol="0" anchor="t"/>
          <a:lstStyle/>
          <a:p>
            <a:pPr marL="0" indent="0" algn="l">
              <a:buNone/>
            </a:pPr>
            <a:r>
              <a:rPr lang="en-US" sz="1050" kern="0" dirty="0">
                <a:solidFill>
                  <a:srgbClr val="5B6B7B"/>
                </a:solidFill>
                <a:latin typeface="Calibri" pitchFamily="34" charset="0"/>
                <a:ea typeface="Calibri" pitchFamily="34" charset="-122"/>
                <a:cs typeface="Calibri" pitchFamily="34" charset="-120"/>
              </a:rPr>
              <a:t>test top-1 accuracy, 1 → 5 conv layers</a:t>
            </a:r>
          </a:p>
        </p:txBody>
      </p:sp>
      <p:sp>
        <p:nvSpPr>
          <p:cNvPr id="12" name="Shape 12"/>
          <p:cNvSpPr/>
          <p:nvPr/>
        </p:nvSpPr>
        <p:spPr>
          <a:xfrm>
            <a:off x="7498080" y="2743200"/>
            <a:ext cx="4114800" cy="914400"/>
          </a:xfrm>
          <a:prstGeom prst="rect">
            <a:avLst/>
          </a:prstGeom>
          <a:solidFill>
            <a:srgbClr val="F5F7F9"/>
          </a:solidFill>
          <a:ln/>
        </p:spPr>
      </p:sp>
      <p:sp>
        <p:nvSpPr>
          <p:cNvPr id="13" name="Text 13"/>
          <p:cNvSpPr txBox="1"/>
          <p:nvPr/>
        </p:nvSpPr>
        <p:spPr>
          <a:xfrm>
            <a:off x="7589520" y="2816352"/>
            <a:ext cx="3931920" cy="475488"/>
          </a:xfrm>
          <a:prstGeom prst="rect">
            <a:avLst/>
          </a:prstGeom>
          <a:noFill/>
          <a:ln/>
        </p:spPr>
        <p:txBody>
          <a:bodyPr wrap="square" rtlCol="0" anchor="ctr"/>
          <a:lstStyle/>
          <a:p>
            <a:pPr marL="0" indent="0" algn="l">
              <a:buNone/>
            </a:pPr>
            <a:r>
              <a:rPr lang="en-US" sz="2400" b="1" kern="0" dirty="0">
                <a:solidFill>
                  <a:srgbClr val="1F9E7A"/>
                </a:solidFill>
                <a:latin typeface="Calibri" pitchFamily="34" charset="0"/>
                <a:ea typeface="Calibri" pitchFamily="34" charset="-122"/>
                <a:cs typeface="Calibri" pitchFamily="34" charset="-120"/>
              </a:rPr>
              <a:t>51.7% → 84.2%</a:t>
            </a:r>
          </a:p>
        </p:txBody>
      </p:sp>
      <p:sp>
        <p:nvSpPr>
          <p:cNvPr id="14" name="Text 14"/>
          <p:cNvSpPr txBox="1"/>
          <p:nvPr/>
        </p:nvSpPr>
        <p:spPr>
          <a:xfrm>
            <a:off x="7589520" y="3273552"/>
            <a:ext cx="3931920" cy="347472"/>
          </a:xfrm>
          <a:prstGeom prst="rect">
            <a:avLst/>
          </a:prstGeom>
          <a:noFill/>
          <a:ln/>
        </p:spPr>
        <p:txBody>
          <a:bodyPr wrap="square" rtlCol="0" anchor="t"/>
          <a:lstStyle/>
          <a:p>
            <a:pPr marL="0" indent="0" algn="l">
              <a:buNone/>
            </a:pPr>
            <a:r>
              <a:rPr lang="en-US" sz="1050" kern="0" dirty="0">
                <a:solidFill>
                  <a:srgbClr val="5B6B7B"/>
                </a:solidFill>
                <a:latin typeface="Calibri" pitchFamily="34" charset="0"/>
                <a:ea typeface="Calibri" pitchFamily="34" charset="-122"/>
                <a:cs typeface="Calibri" pitchFamily="34" charset="-120"/>
              </a:rPr>
              <a:t>test top-1 accuracy, 5 → 30 epochs</a:t>
            </a:r>
          </a:p>
        </p:txBody>
      </p:sp>
      <p:sp>
        <p:nvSpPr>
          <p:cNvPr id="15" name="Text 15"/>
          <p:cNvSpPr txBox="1"/>
          <p:nvPr/>
        </p:nvSpPr>
        <p:spPr>
          <a:xfrm>
            <a:off x="7498080" y="3840480"/>
            <a:ext cx="4114800" cy="2514600"/>
          </a:xfrm>
          <a:prstGeom prst="rect">
            <a:avLst/>
          </a:prstGeom>
          <a:noFill/>
          <a:ln/>
        </p:spPr>
        <p:txBody>
          <a:bodyPr wrap="square" rtlCol="0" anchor="t"/>
          <a:lstStyle/>
          <a:p>
            <a:pPr marL="171450" indent="-171450" algn="l">
              <a:spcAft>
                <a:spcPts val="600"/>
              </a:spcAft>
              <a:buFont typeface="Arial"/>
              <a:buChar char="•"/>
            </a:pPr>
            <a:r>
              <a:rPr lang="en-US" sz="1150" b="1" kern="0" dirty="0">
                <a:solidFill>
                  <a:srgbClr val="132743"/>
                </a:solidFill>
                <a:latin typeface="Calibri" pitchFamily="34" charset="0"/>
                <a:ea typeface="Calibri" pitchFamily="34" charset="-122"/>
                <a:cs typeface="Calibri" pitchFamily="34" charset="-120"/>
              </a:rPr>
              <a:t>Depth: </a:t>
            </a:r>
            <a:r>
              <a:rPr lang="en-US" sz="1150" kern="0" dirty="0">
                <a:solidFill>
                  <a:srgbClr val="1B2733"/>
                </a:solidFill>
                <a:latin typeface="Calibri" pitchFamily="34" charset="0"/>
                <a:ea typeface="Calibri" pitchFamily="34" charset="-122"/>
                <a:cs typeface="Calibri" pitchFamily="34" charset="-120"/>
              </a:rPr>
              <a:t>accuracy rises with every extra conv layer, with diminishing returns after 4.</a:t>
            </a:r>
          </a:p>
          <a:p>
            <a:pPr marL="171450" indent="-171450" algn="l">
              <a:spcAft>
                <a:spcPts val="600"/>
              </a:spcAft>
              <a:buFont typeface="Arial"/>
              <a:buChar char="•"/>
            </a:pPr>
            <a:r>
              <a:rPr lang="en-US" sz="1150" b="1" kern="0" dirty="0">
                <a:solidFill>
                  <a:srgbClr val="132743"/>
                </a:solidFill>
                <a:latin typeface="Calibri" pitchFamily="34" charset="0"/>
                <a:ea typeface="Calibri" pitchFamily="34" charset="-122"/>
                <a:cs typeface="Calibri" pitchFamily="34" charset="-120"/>
              </a:rPr>
              <a:t>FC layers &amp; filters: </a:t>
            </a:r>
            <a:r>
              <a:rPr lang="en-US" sz="1150" kern="0" dirty="0">
                <a:solidFill>
                  <a:srgbClr val="1B2733"/>
                </a:solidFill>
                <a:latin typeface="Calibri" pitchFamily="34" charset="0"/>
                <a:ea typeface="Calibri" pitchFamily="34" charset="-122"/>
                <a:cs typeface="Calibri" pitchFamily="34" charset="-120"/>
              </a:rPr>
              <a:t>no gain; extra FC layers trained slower and wider layers scored lower (within noise).</a:t>
            </a:r>
          </a:p>
          <a:p>
            <a:pPr marL="171450" indent="-171450" algn="l">
              <a:spcAft>
                <a:spcPts val="600"/>
              </a:spcAft>
              <a:buFont typeface="Arial"/>
              <a:buChar char="•"/>
            </a:pPr>
            <a:r>
              <a:rPr lang="en-US" sz="1150" b="1" kern="0" dirty="0">
                <a:solidFill>
                  <a:srgbClr val="132743"/>
                </a:solidFill>
                <a:latin typeface="Calibri" pitchFamily="34" charset="0"/>
                <a:ea typeface="Calibri" pitchFamily="34" charset="-122"/>
                <a:cs typeface="Calibri" pitchFamily="34" charset="-120"/>
              </a:rPr>
              <a:t>Pooling &amp; stride: </a:t>
            </a:r>
            <a:r>
              <a:rPr lang="en-US" sz="1150" kern="0" dirty="0">
                <a:solidFill>
                  <a:srgbClr val="1B2733"/>
                </a:solidFill>
                <a:latin typeface="Calibri" pitchFamily="34" charset="0"/>
                <a:ea typeface="Calibri" pitchFamily="34" charset="-122"/>
                <a:cs typeface="Calibri" pitchFamily="34" charset="-120"/>
              </a:rPr>
              <a:t>max-pooling gave +9 points and 2.7× faster training; stride 2 on the first layer cost nothing.</a:t>
            </a:r>
          </a:p>
          <a:p>
            <a:pPr marL="171450" indent="-171450" algn="l">
              <a:buFont typeface="Arial"/>
              <a:buChar char="•"/>
            </a:pPr>
            <a:r>
              <a:rPr lang="en-US" sz="1150" b="1" kern="0" dirty="0">
                <a:solidFill>
                  <a:srgbClr val="E07A3E"/>
                </a:solidFill>
                <a:latin typeface="Calibri" pitchFamily="34" charset="0"/>
                <a:ea typeface="Calibri" pitchFamily="34" charset="-122"/>
                <a:cs typeface="Calibri" pitchFamily="34" charset="-120"/>
              </a:rPr>
              <a:t>Caution: </a:t>
            </a:r>
            <a:r>
              <a:rPr lang="en-US" sz="1150" kern="0" dirty="0">
                <a:solidFill>
                  <a:srgbClr val="1B2733"/>
                </a:solidFill>
                <a:latin typeface="Calibri" pitchFamily="34" charset="0"/>
                <a:ea typeface="Calibri" pitchFamily="34" charset="-122"/>
                <a:cs typeface="Calibri" pitchFamily="34" charset="-120"/>
              </a:rPr>
              <a:t>the test set has 120 images, so gaps below about 5–9 points are within noise.</a:t>
            </a:r>
          </a:p>
        </p:txBody>
      </p:sp>
      <p:sp>
        <p:nvSpPr>
          <p:cNvPr id="16" name="Text 16"/>
          <p:cNvSpPr txBox="1"/>
          <p:nvPr/>
        </p:nvSpPr>
        <p:spPr>
          <a:xfrm>
            <a:off x="457200" y="5599678"/>
            <a:ext cx="6766560" cy="640080"/>
          </a:xfrm>
          <a:prstGeom prst="rect">
            <a:avLst/>
          </a:prstGeom>
          <a:noFill/>
          <a:ln/>
        </p:spPr>
        <p:txBody>
          <a:bodyPr wrap="square" rtlCol="0" anchor="t"/>
          <a:lstStyle/>
          <a:p>
            <a:pPr marL="0" indent="0" algn="l">
              <a:buNone/>
            </a:pPr>
            <a:r>
              <a:rPr lang="en-US" sz="1100" i="1" kern="0" dirty="0">
                <a:solidFill>
                  <a:srgbClr val="5B6B7B"/>
                </a:solidFill>
                <a:latin typeface="Calibri" pitchFamily="34" charset="0"/>
                <a:ea typeface="Calibri" pitchFamily="34" charset="-122"/>
                <a:cs typeface="Calibri" pitchFamily="34" charset="-120"/>
              </a:rPr>
              <a:t>Improved candidates (deeper VGG-style nets, augmentation, label smoothing, 40 epochs) reached 59–73% test accuracy and were still under-fitting; the best model by validation accuracy was the 3-conv baseline trained for 30 epochs.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457200" y="320040"/>
            <a:ext cx="5486400" cy="274320"/>
          </a:xfrm>
          <a:prstGeom prst="rect">
            <a:avLst/>
          </a:prstGeom>
          <a:noFill/>
          <a:ln/>
        </p:spPr>
        <p:txBody>
          <a:bodyPr wrap="square" rtlCol="0" anchor="ctr"/>
          <a:lstStyle/>
          <a:p>
            <a:pPr marL="0" indent="0" algn="l">
              <a:buNone/>
            </a:pPr>
            <a:r>
              <a:rPr lang="en-US" sz="1100" b="1" kern="0" spc="150" dirty="0">
                <a:solidFill>
                  <a:srgbClr val="E07A3E"/>
                </a:solidFill>
                <a:latin typeface="Calibri" pitchFamily="34" charset="0"/>
                <a:ea typeface="Calibri" pitchFamily="34" charset="-122"/>
                <a:cs typeface="Calibri" pitchFamily="34" charset="-120"/>
              </a:rPr>
              <a:t>SLIDE 9 / MODULE 4 · EVIDENCE</a:t>
            </a:r>
          </a:p>
        </p:txBody>
      </p:sp>
      <p:sp>
        <p:nvSpPr>
          <p:cNvPr id="3" name="Text 3"/>
          <p:cNvSpPr txBox="1"/>
          <p:nvPr/>
        </p:nvSpPr>
        <p:spPr>
          <a:xfrm>
            <a:off x="457200" y="566928"/>
            <a:ext cx="11247120" cy="548640"/>
          </a:xfrm>
          <a:prstGeom prst="rect">
            <a:avLst/>
          </a:prstGeom>
          <a:noFill/>
          <a:ln/>
        </p:spPr>
        <p:txBody>
          <a:bodyPr wrap="square" rtlCol="0" anchor="ctr"/>
          <a:lstStyle/>
          <a:p>
            <a:pPr marL="0" indent="0" algn="l">
              <a:buNone/>
            </a:pPr>
            <a:r>
              <a:rPr lang="en-US" sz="2600" b="1" kern="0" dirty="0">
                <a:solidFill>
                  <a:srgbClr val="132743"/>
                </a:solidFill>
                <a:latin typeface="Calibri" pitchFamily="34" charset="0"/>
                <a:ea typeface="Calibri" pitchFamily="34" charset="-122"/>
                <a:cs typeface="Calibri" pitchFamily="34" charset="-120"/>
              </a:rPr>
              <a:t>Best Model &amp; Error Analysis</a:t>
            </a:r>
          </a:p>
        </p:txBody>
      </p:sp>
      <p:sp>
        <p:nvSpPr>
          <p:cNvPr id="4" name="Text 4"/>
          <p:cNvSpPr txBox="1"/>
          <p:nvPr/>
        </p:nvSpPr>
        <p:spPr>
          <a:xfrm>
            <a:off x="457200" y="1078992"/>
            <a:ext cx="11247120" cy="384048"/>
          </a:xfrm>
          <a:prstGeom prst="rect">
            <a:avLst/>
          </a:prstGeom>
          <a:noFill/>
          <a:ln/>
        </p:spPr>
        <p:txBody>
          <a:bodyPr wrap="square" rtlCol="0" anchor="ctr"/>
          <a:lstStyle/>
          <a:p>
            <a:pPr marL="0" indent="0" algn="l">
              <a:buNone/>
            </a:pPr>
            <a:r>
              <a:rPr lang="en-US" sz="1300" kern="0" dirty="0">
                <a:solidFill>
                  <a:srgbClr val="5B6B7B"/>
                </a:solidFill>
                <a:latin typeface="Calibri" pitchFamily="34" charset="0"/>
                <a:ea typeface="Calibri" pitchFamily="34" charset="-122"/>
                <a:cs typeface="Calibri" pitchFamily="34" charset="-120"/>
              </a:rPr>
              <a:t>Errors are mostly shape confusions between classes that share the same colour.</a:t>
            </a:r>
          </a:p>
        </p:txBody>
      </p:sp>
      <p:sp>
        <p:nvSpPr>
          <p:cNvPr id="5" name="Text 5"/>
          <p:cNvSpPr txBox="1"/>
          <p:nvPr/>
        </p:nvSpPr>
        <p:spPr>
          <a:xfrm>
            <a:off x="457200" y="6547104"/>
            <a:ext cx="8686800" cy="256032"/>
          </a:xfrm>
          <a:prstGeom prst="rect">
            <a:avLst/>
          </a:prstGeom>
          <a:noFill/>
          <a:ln/>
        </p:spPr>
        <p:txBody>
          <a:bodyPr wrap="square" rtlCol="0" anchor="ctr"/>
          <a:lstStyle/>
          <a:p>
            <a:pPr marL="0" indent="0" algn="l">
              <a:buNone/>
            </a:pPr>
            <a:r>
              <a:rPr lang="en-US" sz="900" kern="0" dirty="0">
                <a:solidFill>
                  <a:srgbClr val="5B6B7B"/>
                </a:solidFill>
                <a:latin typeface="Calibri" pitchFamily="34" charset="0"/>
                <a:ea typeface="Calibri" pitchFamily="34" charset="-122"/>
                <a:cs typeface="Calibri" pitchFamily="34" charset="-120"/>
              </a:rPr>
              <a:t>Module 4: CNN Design Study &amp; Occlusion Sensitivity  |  Gitarani Mohanty</a:t>
            </a:r>
          </a:p>
        </p:txBody>
      </p:sp>
      <p:sp>
        <p:nvSpPr>
          <p:cNvPr id="6" name="Text 6"/>
          <p:cNvSpPr txBox="1"/>
          <p:nvPr/>
        </p:nvSpPr>
        <p:spPr>
          <a:xfrm>
            <a:off x="11430000" y="6547104"/>
            <a:ext cx="365760" cy="256032"/>
          </a:xfrm>
          <a:prstGeom prst="rect">
            <a:avLst/>
          </a:prstGeom>
          <a:noFill/>
          <a:ln/>
        </p:spPr>
        <p:txBody>
          <a:bodyPr wrap="square" rtlCol="0" anchor="ctr"/>
          <a:lstStyle/>
          <a:p>
            <a:pPr marL="0" indent="0" algn="r">
              <a:buNone/>
            </a:pPr>
            <a:r>
              <a:rPr lang="en-US" sz="900" kern="0" dirty="0">
                <a:solidFill>
                  <a:srgbClr val="5B6B7B"/>
                </a:solidFill>
                <a:latin typeface="Calibri" pitchFamily="34" charset="0"/>
                <a:ea typeface="Calibri" pitchFamily="34" charset="-122"/>
                <a:cs typeface="Calibri" pitchFamily="34" charset="-120"/>
              </a:rPr>
              <a:t>9</a:t>
            </a:r>
          </a:p>
        </p:txBody>
      </p:sp>
      <p:sp>
        <p:nvSpPr>
          <p:cNvPr id="7" name="Shape 7"/>
          <p:cNvSpPr/>
          <p:nvPr/>
        </p:nvSpPr>
        <p:spPr>
          <a:xfrm>
            <a:off x="457200" y="1691640"/>
            <a:ext cx="2103120" cy="1051560"/>
          </a:xfrm>
          <a:prstGeom prst="rect">
            <a:avLst/>
          </a:prstGeom>
          <a:solidFill>
            <a:srgbClr val="F5F7F9"/>
          </a:solidFill>
          <a:ln/>
        </p:spPr>
      </p:sp>
      <p:sp>
        <p:nvSpPr>
          <p:cNvPr id="8" name="Text 8"/>
          <p:cNvSpPr txBox="1"/>
          <p:nvPr/>
        </p:nvSpPr>
        <p:spPr>
          <a:xfrm>
            <a:off x="548640" y="1764792"/>
            <a:ext cx="1920240" cy="546811"/>
          </a:xfrm>
          <a:prstGeom prst="rect">
            <a:avLst/>
          </a:prstGeom>
          <a:noFill/>
          <a:ln/>
        </p:spPr>
        <p:txBody>
          <a:bodyPr wrap="square" rtlCol="0" anchor="ctr"/>
          <a:lstStyle/>
          <a:p>
            <a:pPr marL="0" indent="0" algn="l">
              <a:buNone/>
            </a:pPr>
            <a:r>
              <a:rPr lang="en-US" sz="2400" b="1" kern="0" dirty="0">
                <a:solidFill>
                  <a:srgbClr val="132743"/>
                </a:solidFill>
                <a:latin typeface="Calibri" pitchFamily="34" charset="0"/>
                <a:ea typeface="Calibri" pitchFamily="34" charset="-122"/>
                <a:cs typeface="Calibri" pitchFamily="34" charset="-120"/>
              </a:rPr>
              <a:t>86.7%</a:t>
            </a:r>
          </a:p>
        </p:txBody>
      </p:sp>
      <p:sp>
        <p:nvSpPr>
          <p:cNvPr id="9" name="Text 9"/>
          <p:cNvSpPr txBox="1"/>
          <p:nvPr/>
        </p:nvSpPr>
        <p:spPr>
          <a:xfrm>
            <a:off x="548640" y="2301545"/>
            <a:ext cx="1920240" cy="399593"/>
          </a:xfrm>
          <a:prstGeom prst="rect">
            <a:avLst/>
          </a:prstGeom>
          <a:noFill/>
          <a:ln/>
        </p:spPr>
        <p:txBody>
          <a:bodyPr wrap="square" rtlCol="0" anchor="t"/>
          <a:lstStyle/>
          <a:p>
            <a:pPr marL="0" indent="0" algn="l">
              <a:buNone/>
            </a:pPr>
            <a:r>
              <a:rPr lang="en-US" sz="1050" kern="0" dirty="0">
                <a:solidFill>
                  <a:srgbClr val="5B6B7B"/>
                </a:solidFill>
                <a:latin typeface="Calibri" pitchFamily="34" charset="0"/>
                <a:ea typeface="Calibri" pitchFamily="34" charset="-122"/>
                <a:cs typeface="Calibri" pitchFamily="34" charset="-120"/>
              </a:rPr>
              <a:t>test top-1 accuracy</a:t>
            </a:r>
          </a:p>
        </p:txBody>
      </p:sp>
      <p:sp>
        <p:nvSpPr>
          <p:cNvPr id="10" name="Shape 10"/>
          <p:cNvSpPr/>
          <p:nvPr/>
        </p:nvSpPr>
        <p:spPr>
          <a:xfrm>
            <a:off x="2697480" y="1691640"/>
            <a:ext cx="2103120" cy="1051560"/>
          </a:xfrm>
          <a:prstGeom prst="rect">
            <a:avLst/>
          </a:prstGeom>
          <a:solidFill>
            <a:srgbClr val="F5F7F9"/>
          </a:solidFill>
          <a:ln/>
        </p:spPr>
      </p:sp>
      <p:sp>
        <p:nvSpPr>
          <p:cNvPr id="11" name="Text 11"/>
          <p:cNvSpPr txBox="1"/>
          <p:nvPr/>
        </p:nvSpPr>
        <p:spPr>
          <a:xfrm>
            <a:off x="2788920" y="1764792"/>
            <a:ext cx="1920240" cy="546811"/>
          </a:xfrm>
          <a:prstGeom prst="rect">
            <a:avLst/>
          </a:prstGeom>
          <a:noFill/>
          <a:ln/>
        </p:spPr>
        <p:txBody>
          <a:bodyPr wrap="square" rtlCol="0" anchor="ctr"/>
          <a:lstStyle/>
          <a:p>
            <a:pPr marL="0" indent="0" algn="l">
              <a:buNone/>
            </a:pPr>
            <a:r>
              <a:rPr lang="en-US" sz="2400" b="1" kern="0" dirty="0">
                <a:solidFill>
                  <a:srgbClr val="1F9E7A"/>
                </a:solidFill>
                <a:latin typeface="Calibri" pitchFamily="34" charset="0"/>
                <a:ea typeface="Calibri" pitchFamily="34" charset="-122"/>
                <a:cs typeface="Calibri" pitchFamily="34" charset="-120"/>
              </a:rPr>
              <a:t>99.2%</a:t>
            </a:r>
          </a:p>
        </p:txBody>
      </p:sp>
      <p:sp>
        <p:nvSpPr>
          <p:cNvPr id="12" name="Text 12"/>
          <p:cNvSpPr txBox="1"/>
          <p:nvPr/>
        </p:nvSpPr>
        <p:spPr>
          <a:xfrm>
            <a:off x="2788920" y="2301545"/>
            <a:ext cx="1920240" cy="399593"/>
          </a:xfrm>
          <a:prstGeom prst="rect">
            <a:avLst/>
          </a:prstGeom>
          <a:noFill/>
          <a:ln/>
        </p:spPr>
        <p:txBody>
          <a:bodyPr wrap="square" rtlCol="0" anchor="t"/>
          <a:lstStyle/>
          <a:p>
            <a:pPr marL="0" indent="0" algn="l">
              <a:buNone/>
            </a:pPr>
            <a:r>
              <a:rPr lang="en-US" sz="1050" kern="0" dirty="0">
                <a:solidFill>
                  <a:srgbClr val="5B6B7B"/>
                </a:solidFill>
                <a:latin typeface="Calibri" pitchFamily="34" charset="0"/>
                <a:ea typeface="Calibri" pitchFamily="34" charset="-122"/>
                <a:cs typeface="Calibri" pitchFamily="34" charset="-120"/>
              </a:rPr>
              <a:t>test top-5 accuracy</a:t>
            </a:r>
          </a:p>
        </p:txBody>
      </p:sp>
      <p:sp>
        <p:nvSpPr>
          <p:cNvPr id="13" name="Shape 13"/>
          <p:cNvSpPr/>
          <p:nvPr/>
        </p:nvSpPr>
        <p:spPr>
          <a:xfrm>
            <a:off x="4937760" y="1691640"/>
            <a:ext cx="2103120" cy="1051560"/>
          </a:xfrm>
          <a:prstGeom prst="rect">
            <a:avLst/>
          </a:prstGeom>
          <a:solidFill>
            <a:srgbClr val="F5F7F9"/>
          </a:solidFill>
          <a:ln/>
        </p:spPr>
      </p:sp>
      <p:sp>
        <p:nvSpPr>
          <p:cNvPr id="14" name="Text 14"/>
          <p:cNvSpPr txBox="1"/>
          <p:nvPr/>
        </p:nvSpPr>
        <p:spPr>
          <a:xfrm>
            <a:off x="5029200" y="1764792"/>
            <a:ext cx="1920240" cy="546811"/>
          </a:xfrm>
          <a:prstGeom prst="rect">
            <a:avLst/>
          </a:prstGeom>
          <a:noFill/>
          <a:ln/>
        </p:spPr>
        <p:txBody>
          <a:bodyPr wrap="square" rtlCol="0" anchor="ctr"/>
          <a:lstStyle/>
          <a:p>
            <a:pPr marL="0" indent="0" algn="l">
              <a:buNone/>
            </a:pPr>
            <a:r>
              <a:rPr lang="en-US" sz="2400" b="1" kern="0" dirty="0">
                <a:solidFill>
                  <a:srgbClr val="6E5AA8"/>
                </a:solidFill>
                <a:latin typeface="Calibri" pitchFamily="34" charset="0"/>
                <a:ea typeface="Calibri" pitchFamily="34" charset="-122"/>
                <a:cs typeface="Calibri" pitchFamily="34" charset="-120"/>
              </a:rPr>
              <a:t>0.62 M</a:t>
            </a:r>
          </a:p>
        </p:txBody>
      </p:sp>
      <p:sp>
        <p:nvSpPr>
          <p:cNvPr id="15" name="Text 15"/>
          <p:cNvSpPr txBox="1"/>
          <p:nvPr/>
        </p:nvSpPr>
        <p:spPr>
          <a:xfrm>
            <a:off x="5029200" y="2301545"/>
            <a:ext cx="1920240" cy="399593"/>
          </a:xfrm>
          <a:prstGeom prst="rect">
            <a:avLst/>
          </a:prstGeom>
          <a:noFill/>
          <a:ln/>
        </p:spPr>
        <p:txBody>
          <a:bodyPr wrap="square" rtlCol="0" anchor="t"/>
          <a:lstStyle/>
          <a:p>
            <a:pPr marL="0" indent="0" algn="l">
              <a:buNone/>
            </a:pPr>
            <a:r>
              <a:rPr lang="en-US" sz="1050" kern="0" dirty="0">
                <a:solidFill>
                  <a:srgbClr val="5B6B7B"/>
                </a:solidFill>
                <a:latin typeface="Calibri" pitchFamily="34" charset="0"/>
                <a:ea typeface="Calibri" pitchFamily="34" charset="-122"/>
                <a:cs typeface="Calibri" pitchFamily="34" charset="-120"/>
              </a:rPr>
              <a:t>parameters (3 conv + 2 FC)</a:t>
            </a:r>
          </a:p>
        </p:txBody>
      </p:sp>
      <p:sp>
        <p:nvSpPr>
          <p:cNvPr id="16" name="Shape 16"/>
          <p:cNvSpPr/>
          <p:nvPr/>
        </p:nvSpPr>
        <p:spPr>
          <a:xfrm>
            <a:off x="457200" y="2926080"/>
            <a:ext cx="6583680" cy="1554480"/>
          </a:xfrm>
          <a:prstGeom prst="rect">
            <a:avLst/>
          </a:prstGeom>
          <a:solidFill>
            <a:srgbClr val="F5F7F9"/>
          </a:solidFill>
          <a:ln/>
        </p:spPr>
      </p:sp>
      <p:sp>
        <p:nvSpPr>
          <p:cNvPr id="17" name="Shape 17"/>
          <p:cNvSpPr/>
          <p:nvPr/>
        </p:nvSpPr>
        <p:spPr>
          <a:xfrm>
            <a:off x="640080" y="3108960"/>
            <a:ext cx="146304" cy="146304"/>
          </a:xfrm>
          <a:prstGeom prst="ellipse">
            <a:avLst/>
          </a:prstGeom>
          <a:solidFill>
            <a:srgbClr val="1F9E7A"/>
          </a:solidFill>
          <a:ln/>
        </p:spPr>
      </p:sp>
      <p:sp>
        <p:nvSpPr>
          <p:cNvPr id="18" name="Text 18"/>
          <p:cNvSpPr txBox="1"/>
          <p:nvPr/>
        </p:nvSpPr>
        <p:spPr>
          <a:xfrm>
            <a:off x="868680" y="3035808"/>
            <a:ext cx="6035040" cy="292608"/>
          </a:xfrm>
          <a:prstGeom prst="rect">
            <a:avLst/>
          </a:prstGeom>
          <a:noFill/>
          <a:ln/>
        </p:spPr>
        <p:txBody>
          <a:bodyPr wrap="square" rtlCol="0" anchor="ctr"/>
          <a:lstStyle/>
          <a:p>
            <a:pPr marL="0" indent="0" algn="l">
              <a:buNone/>
            </a:pPr>
            <a:r>
              <a:rPr lang="en-US" sz="1250" b="1" kern="0" spc="50" dirty="0">
                <a:solidFill>
                  <a:srgbClr val="132743"/>
                </a:solidFill>
                <a:latin typeface="Calibri" pitchFamily="34" charset="0"/>
                <a:ea typeface="Calibri" pitchFamily="34" charset="-122"/>
                <a:cs typeface="Calibri" pitchFamily="34" charset="-120"/>
              </a:rPr>
              <a:t>BEST MODEL</a:t>
            </a:r>
          </a:p>
        </p:txBody>
      </p:sp>
      <p:sp>
        <p:nvSpPr>
          <p:cNvPr id="19" name="Text 19"/>
          <p:cNvSpPr txBox="1"/>
          <p:nvPr/>
        </p:nvSpPr>
        <p:spPr>
          <a:xfrm>
            <a:off x="640080" y="3383280"/>
            <a:ext cx="6217920" cy="1024128"/>
          </a:xfrm>
          <a:prstGeom prst="rect">
            <a:avLst/>
          </a:prstGeom>
          <a:noFill/>
          <a:ln/>
        </p:spPr>
        <p:txBody>
          <a:bodyPr wrap="square" rtlCol="0" anchor="t"/>
          <a:lstStyle/>
          <a:p>
            <a:pPr marL="0" indent="0" algn="l">
              <a:spcAft>
                <a:spcPts val="400"/>
              </a:spcAft>
              <a:buNone/>
            </a:pPr>
            <a:r>
              <a:rPr lang="en-US" sz="1250" kern="0" dirty="0">
                <a:solidFill>
                  <a:srgbClr val="1B2733"/>
                </a:solidFill>
                <a:latin typeface="Calibri" pitchFamily="34" charset="0"/>
                <a:ea typeface="Calibri" pitchFamily="34" charset="-122"/>
                <a:cs typeface="Calibri" pitchFamily="34" charset="-120"/>
              </a:rPr>
              <a:t>3 conv layers (32-64-128) with max-pooling, FC 256, trained 30 epochs at constant learning rate. Selected by validation accuracy (78.5%) over all runs; it beat the deeper augmented models.</a:t>
            </a:r>
          </a:p>
        </p:txBody>
      </p:sp>
      <p:sp>
        <p:nvSpPr>
          <p:cNvPr id="20" name="Shape 20"/>
          <p:cNvSpPr/>
          <p:nvPr/>
        </p:nvSpPr>
        <p:spPr>
          <a:xfrm>
            <a:off x="457200" y="4617720"/>
            <a:ext cx="6583680" cy="1691640"/>
          </a:xfrm>
          <a:prstGeom prst="rect">
            <a:avLst/>
          </a:prstGeom>
          <a:solidFill>
            <a:srgbClr val="F5F7F9"/>
          </a:solidFill>
          <a:ln/>
        </p:spPr>
      </p:sp>
      <p:sp>
        <p:nvSpPr>
          <p:cNvPr id="21" name="Shape 21"/>
          <p:cNvSpPr/>
          <p:nvPr/>
        </p:nvSpPr>
        <p:spPr>
          <a:xfrm>
            <a:off x="640080" y="4800600"/>
            <a:ext cx="146304" cy="146304"/>
          </a:xfrm>
          <a:prstGeom prst="ellipse">
            <a:avLst/>
          </a:prstGeom>
          <a:solidFill>
            <a:srgbClr val="E07A3E"/>
          </a:solidFill>
          <a:ln/>
        </p:spPr>
      </p:sp>
      <p:sp>
        <p:nvSpPr>
          <p:cNvPr id="22" name="Text 22"/>
          <p:cNvSpPr txBox="1"/>
          <p:nvPr/>
        </p:nvSpPr>
        <p:spPr>
          <a:xfrm>
            <a:off x="868680" y="4727448"/>
            <a:ext cx="6035040" cy="292608"/>
          </a:xfrm>
          <a:prstGeom prst="rect">
            <a:avLst/>
          </a:prstGeom>
          <a:noFill/>
          <a:ln/>
        </p:spPr>
        <p:txBody>
          <a:bodyPr wrap="square" rtlCol="0" anchor="ctr"/>
          <a:lstStyle/>
          <a:p>
            <a:pPr marL="0" indent="0" algn="l">
              <a:buNone/>
            </a:pPr>
            <a:r>
              <a:rPr lang="en-US" sz="1250" b="1" kern="0" spc="50" dirty="0">
                <a:solidFill>
                  <a:srgbClr val="132743"/>
                </a:solidFill>
                <a:latin typeface="Calibri" pitchFamily="34" charset="0"/>
                <a:ea typeface="Calibri" pitchFamily="34" charset="-122"/>
                <a:cs typeface="Calibri" pitchFamily="34" charset="-120"/>
              </a:rPr>
              <a:t>MIS-CLASSIFICATIONS</a:t>
            </a:r>
          </a:p>
        </p:txBody>
      </p:sp>
      <p:sp>
        <p:nvSpPr>
          <p:cNvPr id="23" name="Text 23"/>
          <p:cNvSpPr txBox="1"/>
          <p:nvPr/>
        </p:nvSpPr>
        <p:spPr>
          <a:xfrm>
            <a:off x="640080" y="5074920"/>
            <a:ext cx="6217920" cy="1161288"/>
          </a:xfrm>
          <a:prstGeom prst="rect">
            <a:avLst/>
          </a:prstGeom>
          <a:noFill/>
          <a:ln/>
        </p:spPr>
        <p:txBody>
          <a:bodyPr wrap="square" rtlCol="0" anchor="t"/>
          <a:lstStyle/>
          <a:p>
            <a:pPr marL="0" indent="0" algn="l">
              <a:spcAft>
                <a:spcPts val="400"/>
              </a:spcAft>
              <a:buNone/>
            </a:pPr>
            <a:r>
              <a:rPr lang="en-US" sz="1250" kern="0" dirty="0">
                <a:solidFill>
                  <a:srgbClr val="1B2733"/>
                </a:solidFill>
                <a:latin typeface="Calibri" pitchFamily="34" charset="0"/>
                <a:ea typeface="Calibri" pitchFamily="34" charset="-122"/>
                <a:cs typeface="Calibri" pitchFamily="34" charset="-120"/>
              </a:rPr>
              <a:t>16 of 120 test images are wrong, and for 15 of them the true class is still in the top 5. The top confusions are circle ↔ square and triangle → circle in the same colour, often with small or border-clipped objects.</a:t>
            </a:r>
          </a:p>
        </p:txBody>
      </p:sp>
      <p:pic>
        <p:nvPicPr>
          <p:cNvPr id="24" name="Image 24" descr="Training examples of the true and predicted class for the four most frequent confusions"/>
          <p:cNvPicPr>
            <a:picLocks noChangeAspect="1"/>
          </p:cNvPicPr>
          <p:nvPr/>
        </p:nvPicPr>
        <p:blipFill>
          <a:blip r:embed="rId2"/>
          <a:stretch>
            <a:fillRect/>
          </a:stretch>
        </p:blipFill>
        <p:spPr>
          <a:xfrm>
            <a:off x="7863840" y="1691640"/>
            <a:ext cx="3006771" cy="4069080"/>
          </a:xfrm>
          <a:prstGeom prst="rect">
            <a:avLst/>
          </a:prstGeom>
        </p:spPr>
      </p:pic>
      <p:sp>
        <p:nvSpPr>
          <p:cNvPr id="25" name="Text 25"/>
          <p:cNvSpPr txBox="1"/>
          <p:nvPr/>
        </p:nvSpPr>
        <p:spPr>
          <a:xfrm>
            <a:off x="7863840" y="5833872"/>
            <a:ext cx="3840480" cy="502920"/>
          </a:xfrm>
          <a:prstGeom prst="rect">
            <a:avLst/>
          </a:prstGeom>
          <a:noFill/>
          <a:ln/>
        </p:spPr>
        <p:txBody>
          <a:bodyPr wrap="square" rtlCol="0" anchor="t"/>
          <a:lstStyle/>
          <a:p>
            <a:pPr marL="0" indent="0" algn="l">
              <a:buNone/>
            </a:pPr>
            <a:r>
              <a:rPr lang="en-US" sz="1000" b="1" kern="0" spc="100" dirty="0">
                <a:solidFill>
                  <a:srgbClr val="E07A3E"/>
                </a:solidFill>
                <a:latin typeface="Calibri" pitchFamily="34" charset="0"/>
                <a:ea typeface="Calibri" pitchFamily="34" charset="-122"/>
                <a:cs typeface="Calibri" pitchFamily="34" charset="-120"/>
              </a:rPr>
              <a:t>FIGURE 7  ·  TRUE vs PREDICTED CLASS</a:t>
            </a:r>
          </a:p>
          <a:p>
            <a:pPr marL="0" indent="0" algn="l">
              <a:buNone/>
            </a:pPr>
            <a:r>
              <a:rPr lang="en-US" sz="1000" kern="0" dirty="0">
                <a:solidFill>
                  <a:srgbClr val="5B6B7B"/>
                </a:solidFill>
                <a:latin typeface="Calibri" pitchFamily="34" charset="0"/>
                <a:ea typeface="Calibri" pitchFamily="34" charset="-122"/>
                <a:cs typeface="Calibri" pitchFamily="34" charset="-120"/>
              </a:rPr>
              <a:t>Rows alternate true / predicted: 000→001, 012→013, 018→016, 016→017</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457200" y="320040"/>
            <a:ext cx="5486400" cy="274320"/>
          </a:xfrm>
          <a:prstGeom prst="rect">
            <a:avLst/>
          </a:prstGeom>
          <a:noFill/>
          <a:ln/>
        </p:spPr>
        <p:txBody>
          <a:bodyPr wrap="square" rtlCol="0" anchor="ctr"/>
          <a:lstStyle/>
          <a:p>
            <a:pPr marL="0" indent="0" algn="l">
              <a:buNone/>
            </a:pPr>
            <a:r>
              <a:rPr lang="en-US" sz="1100" b="1" kern="0" spc="150" dirty="0">
                <a:solidFill>
                  <a:srgbClr val="E07A3E"/>
                </a:solidFill>
                <a:latin typeface="Calibri" pitchFamily="34" charset="0"/>
                <a:ea typeface="Calibri" pitchFamily="34" charset="-122"/>
                <a:cs typeface="Calibri" pitchFamily="34" charset="-120"/>
              </a:rPr>
              <a:t>SLIDE 10 / MODULE 4 · EVIDENCE</a:t>
            </a:r>
          </a:p>
        </p:txBody>
      </p:sp>
      <p:sp>
        <p:nvSpPr>
          <p:cNvPr id="3" name="Text 3"/>
          <p:cNvSpPr txBox="1"/>
          <p:nvPr/>
        </p:nvSpPr>
        <p:spPr>
          <a:xfrm>
            <a:off x="457200" y="566928"/>
            <a:ext cx="11247120" cy="548640"/>
          </a:xfrm>
          <a:prstGeom prst="rect">
            <a:avLst/>
          </a:prstGeom>
          <a:noFill/>
          <a:ln/>
        </p:spPr>
        <p:txBody>
          <a:bodyPr wrap="square" rtlCol="0" anchor="ctr"/>
          <a:lstStyle/>
          <a:p>
            <a:pPr marL="0" indent="0" algn="l">
              <a:buNone/>
            </a:pPr>
            <a:r>
              <a:rPr lang="en-US" sz="2600" b="1" kern="0" dirty="0">
                <a:solidFill>
                  <a:srgbClr val="132743"/>
                </a:solidFill>
                <a:latin typeface="Calibri" pitchFamily="34" charset="0"/>
                <a:ea typeface="Calibri" pitchFamily="34" charset="-122"/>
                <a:cs typeface="Calibri" pitchFamily="34" charset="-120"/>
              </a:rPr>
              <a:t>Part B: Occlusion Sensitivity</a:t>
            </a:r>
          </a:p>
        </p:txBody>
      </p:sp>
      <p:sp>
        <p:nvSpPr>
          <p:cNvPr id="4" name="Text 4"/>
          <p:cNvSpPr txBox="1"/>
          <p:nvPr/>
        </p:nvSpPr>
        <p:spPr>
          <a:xfrm>
            <a:off x="457200" y="1078992"/>
            <a:ext cx="11247120" cy="384048"/>
          </a:xfrm>
          <a:prstGeom prst="rect">
            <a:avLst/>
          </a:prstGeom>
          <a:noFill/>
          <a:ln/>
        </p:spPr>
        <p:txBody>
          <a:bodyPr wrap="square" rtlCol="0" anchor="ctr"/>
          <a:lstStyle/>
          <a:p>
            <a:pPr marL="0" indent="0" algn="l">
              <a:buNone/>
            </a:pPr>
            <a:r>
              <a:rPr lang="en-US" sz="1300" kern="0" dirty="0">
                <a:solidFill>
                  <a:srgbClr val="5B6B7B"/>
                </a:solidFill>
                <a:latin typeface="Calibri" pitchFamily="34" charset="0"/>
                <a:ea typeface="Calibri" pitchFamily="34" charset="-122"/>
                <a:cs typeface="Calibri" pitchFamily="34" charset="-120"/>
              </a:rPr>
              <a:t>The model relies on the object's corners and edges, not on the background.</a:t>
            </a:r>
          </a:p>
        </p:txBody>
      </p:sp>
      <p:sp>
        <p:nvSpPr>
          <p:cNvPr id="5" name="Text 5"/>
          <p:cNvSpPr txBox="1"/>
          <p:nvPr/>
        </p:nvSpPr>
        <p:spPr>
          <a:xfrm>
            <a:off x="457200" y="6547104"/>
            <a:ext cx="8686800" cy="256032"/>
          </a:xfrm>
          <a:prstGeom prst="rect">
            <a:avLst/>
          </a:prstGeom>
          <a:noFill/>
          <a:ln/>
        </p:spPr>
        <p:txBody>
          <a:bodyPr wrap="square" rtlCol="0" anchor="ctr"/>
          <a:lstStyle/>
          <a:p>
            <a:pPr marL="0" indent="0" algn="l">
              <a:buNone/>
            </a:pPr>
            <a:r>
              <a:rPr lang="en-US" sz="900" kern="0" dirty="0">
                <a:solidFill>
                  <a:srgbClr val="5B6B7B"/>
                </a:solidFill>
                <a:latin typeface="Calibri" pitchFamily="34" charset="0"/>
                <a:ea typeface="Calibri" pitchFamily="34" charset="-122"/>
                <a:cs typeface="Calibri" pitchFamily="34" charset="-120"/>
              </a:rPr>
              <a:t>Module 4: CNN Design Study &amp; Occlusion Sensitivity  |  Gitarani Mohanty</a:t>
            </a:r>
          </a:p>
        </p:txBody>
      </p:sp>
      <p:sp>
        <p:nvSpPr>
          <p:cNvPr id="6" name="Text 6"/>
          <p:cNvSpPr txBox="1"/>
          <p:nvPr/>
        </p:nvSpPr>
        <p:spPr>
          <a:xfrm>
            <a:off x="11430000" y="6547104"/>
            <a:ext cx="365760" cy="256032"/>
          </a:xfrm>
          <a:prstGeom prst="rect">
            <a:avLst/>
          </a:prstGeom>
          <a:noFill/>
          <a:ln/>
        </p:spPr>
        <p:txBody>
          <a:bodyPr wrap="square" rtlCol="0" anchor="ctr"/>
          <a:lstStyle/>
          <a:p>
            <a:pPr marL="0" indent="0" algn="r">
              <a:buNone/>
            </a:pPr>
            <a:r>
              <a:rPr lang="en-US" sz="900" kern="0" dirty="0">
                <a:solidFill>
                  <a:srgbClr val="5B6B7B"/>
                </a:solidFill>
                <a:latin typeface="Calibri" pitchFamily="34" charset="0"/>
                <a:ea typeface="Calibri" pitchFamily="34" charset="-122"/>
                <a:cs typeface="Calibri" pitchFamily="34" charset="-120"/>
              </a:rPr>
              <a:t>10</a:t>
            </a:r>
          </a:p>
        </p:txBody>
      </p:sp>
      <p:sp>
        <p:nvSpPr>
          <p:cNvPr id="7" name="Box 7"/>
          <p:cNvSpPr/>
          <p:nvPr/>
        </p:nvSpPr>
        <p:spPr>
          <a:xfrm>
            <a:off x="457200" y="1691640"/>
            <a:ext cx="402336" cy="402336"/>
          </a:xfrm>
          <a:prstGeom prst="ellipse">
            <a:avLst/>
          </a:prstGeom>
          <a:solidFill>
            <a:srgbClr val="1F3A5F"/>
          </a:solidFill>
          <a:ln/>
        </p:spPr>
        <p:txBody>
          <a:bodyPr wrap="square" rtlCol="0" anchor="ctr"/>
          <a:lstStyle/>
          <a:p>
            <a:pPr marL="0" indent="0" algn="ctr">
              <a:buNone/>
            </a:pPr>
            <a:r>
              <a:rPr lang="en-US" sz="1300" b="1" kern="0" dirty="0">
                <a:solidFill>
                  <a:srgbClr val="FFFFFF"/>
                </a:solidFill>
                <a:latin typeface="Calibri" pitchFamily="34" charset="0"/>
                <a:ea typeface="Calibri" pitchFamily="34" charset="-122"/>
                <a:cs typeface="Calibri" pitchFamily="34" charset="-120"/>
              </a:rPr>
              <a:t>1</a:t>
            </a:r>
          </a:p>
        </p:txBody>
      </p:sp>
      <p:sp>
        <p:nvSpPr>
          <p:cNvPr id="8" name="Text 8"/>
          <p:cNvSpPr txBox="1"/>
          <p:nvPr/>
        </p:nvSpPr>
        <p:spPr>
          <a:xfrm>
            <a:off x="960120" y="1655064"/>
            <a:ext cx="4480560" cy="475488"/>
          </a:xfrm>
          <a:prstGeom prst="rect">
            <a:avLst/>
          </a:prstGeom>
          <a:noFill/>
          <a:ln/>
        </p:spPr>
        <p:txBody>
          <a:bodyPr wrap="square" rtlCol="0" anchor="ctr"/>
          <a:lstStyle/>
          <a:p>
            <a:pPr marL="0" indent="0" algn="l">
              <a:buNone/>
            </a:pPr>
            <a:r>
              <a:rPr lang="en-US" sz="1150" kern="0" dirty="0">
                <a:solidFill>
                  <a:srgbClr val="1B2733"/>
                </a:solidFill>
                <a:latin typeface="Calibri" pitchFamily="34" charset="0"/>
                <a:ea typeface="Calibri" pitchFamily="34" charset="-122"/>
                <a:cs typeface="Calibri" pitchFamily="34" charset="-120"/>
              </a:rPr>
              <a:t>Gray N×N window (N = 11) centred at every pixel position (i, j)</a:t>
            </a:r>
          </a:p>
        </p:txBody>
      </p:sp>
      <p:sp>
        <p:nvSpPr>
          <p:cNvPr id="9" name="Box 9"/>
          <p:cNvSpPr/>
          <p:nvPr/>
        </p:nvSpPr>
        <p:spPr>
          <a:xfrm>
            <a:off x="457200" y="2258568"/>
            <a:ext cx="402336" cy="402336"/>
          </a:xfrm>
          <a:prstGeom prst="ellipse">
            <a:avLst/>
          </a:prstGeom>
          <a:solidFill>
            <a:srgbClr val="1F9E7A"/>
          </a:solidFill>
          <a:ln/>
        </p:spPr>
        <p:txBody>
          <a:bodyPr wrap="square" rtlCol="0" anchor="ctr"/>
          <a:lstStyle/>
          <a:p>
            <a:pPr marL="0" indent="0" algn="ctr">
              <a:buNone/>
            </a:pPr>
            <a:r>
              <a:rPr lang="en-US" sz="1300" b="1" kern="0" dirty="0">
                <a:solidFill>
                  <a:srgbClr val="FFFFFF"/>
                </a:solidFill>
                <a:latin typeface="Calibri" pitchFamily="34" charset="0"/>
                <a:ea typeface="Calibri" pitchFamily="34" charset="-122"/>
                <a:cs typeface="Calibri" pitchFamily="34" charset="-120"/>
              </a:rPr>
              <a:t>2</a:t>
            </a:r>
          </a:p>
        </p:txBody>
      </p:sp>
      <p:sp>
        <p:nvSpPr>
          <p:cNvPr id="10" name="Text 10"/>
          <p:cNvSpPr txBox="1"/>
          <p:nvPr/>
        </p:nvSpPr>
        <p:spPr>
          <a:xfrm>
            <a:off x="960120" y="2221992"/>
            <a:ext cx="4480560" cy="475488"/>
          </a:xfrm>
          <a:prstGeom prst="rect">
            <a:avLst/>
          </a:prstGeom>
          <a:noFill/>
          <a:ln/>
        </p:spPr>
        <p:txBody>
          <a:bodyPr wrap="square" rtlCol="0" anchor="ctr"/>
          <a:lstStyle/>
          <a:p>
            <a:pPr marL="0" indent="0" algn="l">
              <a:buNone/>
            </a:pPr>
            <a:r>
              <a:rPr lang="en-US" sz="1150" kern="0" dirty="0">
                <a:solidFill>
                  <a:srgbClr val="1B2733"/>
                </a:solidFill>
                <a:latin typeface="Calibri" pitchFamily="34" charset="0"/>
                <a:ea typeface="Calibri" pitchFamily="34" charset="-122"/>
                <a:cs typeface="Calibri" pitchFamily="34" charset="-120"/>
              </a:rPr>
              <a:t>Pass the modified image through the best model</a:t>
            </a:r>
          </a:p>
        </p:txBody>
      </p:sp>
      <p:sp>
        <p:nvSpPr>
          <p:cNvPr id="11" name="Box 11"/>
          <p:cNvSpPr/>
          <p:nvPr/>
        </p:nvSpPr>
        <p:spPr>
          <a:xfrm>
            <a:off x="457200" y="2825496"/>
            <a:ext cx="402336" cy="402336"/>
          </a:xfrm>
          <a:prstGeom prst="ellipse">
            <a:avLst/>
          </a:prstGeom>
          <a:solidFill>
            <a:srgbClr val="E07A3E"/>
          </a:solidFill>
          <a:ln/>
        </p:spPr>
        <p:txBody>
          <a:bodyPr wrap="square" rtlCol="0" anchor="ctr"/>
          <a:lstStyle/>
          <a:p>
            <a:pPr marL="0" indent="0" algn="ctr">
              <a:buNone/>
            </a:pPr>
            <a:r>
              <a:rPr lang="en-US" sz="1300" b="1" kern="0" dirty="0">
                <a:solidFill>
                  <a:srgbClr val="FFFFFF"/>
                </a:solidFill>
                <a:latin typeface="Calibri" pitchFamily="34" charset="0"/>
                <a:ea typeface="Calibri" pitchFamily="34" charset="-122"/>
                <a:cs typeface="Calibri" pitchFamily="34" charset="-120"/>
              </a:rPr>
              <a:t>3</a:t>
            </a:r>
          </a:p>
        </p:txBody>
      </p:sp>
      <p:sp>
        <p:nvSpPr>
          <p:cNvPr id="12" name="Text 12"/>
          <p:cNvSpPr txBox="1"/>
          <p:nvPr/>
        </p:nvSpPr>
        <p:spPr>
          <a:xfrm>
            <a:off x="960120" y="2788920"/>
            <a:ext cx="4480560" cy="475488"/>
          </a:xfrm>
          <a:prstGeom prst="rect">
            <a:avLst/>
          </a:prstGeom>
          <a:noFill/>
          <a:ln/>
        </p:spPr>
        <p:txBody>
          <a:bodyPr wrap="square" rtlCol="0" anchor="ctr"/>
          <a:lstStyle/>
          <a:p>
            <a:pPr marL="0" indent="0" algn="l">
              <a:buNone/>
            </a:pPr>
            <a:r>
              <a:rPr lang="en-US" sz="1150" kern="0" dirty="0">
                <a:solidFill>
                  <a:srgbClr val="1B2733"/>
                </a:solidFill>
                <a:latin typeface="Calibri" pitchFamily="34" charset="0"/>
                <a:ea typeface="Calibri" pitchFamily="34" charset="-122"/>
                <a:cs typeface="Calibri" pitchFamily="34" charset="-120"/>
              </a:rPr>
              <a:t>Store p(true class) as confidence(i, j) and plot it as a map</a:t>
            </a:r>
          </a:p>
        </p:txBody>
      </p:sp>
      <p:sp>
        <p:nvSpPr>
          <p:cNvPr id="13" name="Text 13"/>
          <p:cNvSpPr txBox="1"/>
          <p:nvPr/>
        </p:nvSpPr>
        <p:spPr>
          <a:xfrm>
            <a:off x="457200" y="3520440"/>
            <a:ext cx="5029200" cy="2834640"/>
          </a:xfrm>
          <a:prstGeom prst="rect">
            <a:avLst/>
          </a:prstGeom>
          <a:noFill/>
          <a:ln/>
        </p:spPr>
        <p:txBody>
          <a:bodyPr wrap="square" rtlCol="0" anchor="t"/>
          <a:lstStyle/>
          <a:p>
            <a:pPr marL="171450" indent="-171450" algn="l">
              <a:spcAft>
                <a:spcPts val="600"/>
              </a:spcAft>
              <a:buFont typeface="Arial"/>
              <a:buChar char="•"/>
            </a:pPr>
            <a:r>
              <a:rPr lang="en-US" sz="1150" b="1" kern="0" dirty="0">
                <a:solidFill>
                  <a:srgbClr val="132743"/>
                </a:solidFill>
                <a:latin typeface="Calibri" pitchFamily="34" charset="0"/>
                <a:ea typeface="Calibri" pitchFamily="34" charset="-122"/>
                <a:cs typeface="Calibri" pitchFamily="34" charset="-120"/>
              </a:rPr>
              <a:t>Where it looks: </a:t>
            </a:r>
            <a:r>
              <a:rPr lang="en-US" sz="1150" kern="0" dirty="0">
                <a:solidFill>
                  <a:srgbClr val="1B2733"/>
                </a:solidFill>
                <a:latin typeface="Calibri" pitchFamily="34" charset="0"/>
                <a:ea typeface="Calibri" pitchFamily="34" charset="-122"/>
                <a:cs typeface="Calibri" pitchFamily="34" charset="-120"/>
              </a:rPr>
              <a:t>confidence drops only on or next to the object (triangle apexes, square edges, stripes), never on the background.</a:t>
            </a:r>
          </a:p>
          <a:p>
            <a:pPr marL="171450" indent="-171450" algn="l">
              <a:spcAft>
                <a:spcPts val="600"/>
              </a:spcAft>
              <a:buFont typeface="Arial"/>
              <a:buChar char="•"/>
            </a:pPr>
            <a:r>
              <a:rPr lang="en-US" sz="1150" b="1" kern="0" dirty="0">
                <a:solidFill>
                  <a:srgbClr val="132743"/>
                </a:solidFill>
                <a:latin typeface="Calibri" pitchFamily="34" charset="0"/>
                <a:ea typeface="Calibri" pitchFamily="34" charset="-122"/>
                <a:cs typeface="Calibri" pitchFamily="34" charset="-120"/>
              </a:rPr>
              <a:t>Window size: </a:t>
            </a:r>
            <a:r>
              <a:rPr lang="en-US" sz="1150" kern="0" dirty="0">
                <a:solidFill>
                  <a:srgbClr val="1B2733"/>
                </a:solidFill>
                <a:latin typeface="Calibri" pitchFamily="34" charset="0"/>
                <a:ea typeface="Calibri" pitchFamily="34" charset="-122"/>
                <a:cs typeface="Calibri" pitchFamily="34" charset="-120"/>
              </a:rPr>
              <a:t>N = 5 is too small, N = 21/31 blur into blobs, so N = 11 localises best.</a:t>
            </a:r>
          </a:p>
          <a:p>
            <a:pPr marL="171450" indent="-171450" algn="l">
              <a:spcAft>
                <a:spcPts val="600"/>
              </a:spcAft>
              <a:buFont typeface="Arial"/>
              <a:buChar char="•"/>
            </a:pPr>
            <a:r>
              <a:rPr lang="en-US" sz="1150" b="1" kern="0" dirty="0">
                <a:solidFill>
                  <a:srgbClr val="132743"/>
                </a:solidFill>
                <a:latin typeface="Calibri" pitchFamily="34" charset="0"/>
                <a:ea typeface="Calibri" pitchFamily="34" charset="-122"/>
                <a:cs typeface="Calibri" pitchFamily="34" charset="-120"/>
              </a:rPr>
              <a:t>Robustness: </a:t>
            </a:r>
            <a:r>
              <a:rPr lang="en-US" sz="1150" kern="0" dirty="0">
                <a:solidFill>
                  <a:srgbClr val="1B2733"/>
                </a:solidFill>
                <a:latin typeface="Calibri" pitchFamily="34" charset="0"/>
                <a:ea typeface="Calibri" pitchFamily="34" charset="-122"/>
                <a:cs typeface="Calibri" pitchFamily="34" charset="-120"/>
              </a:rPr>
              <a:t>only 0.3% of positions halve the confidence; very confident images barely react.</a:t>
            </a:r>
          </a:p>
          <a:p>
            <a:pPr marL="171450" indent="-171450" algn="l">
              <a:buFont typeface="Arial"/>
              <a:buChar char="•"/>
            </a:pPr>
            <a:r>
              <a:rPr lang="en-US" sz="1150" b="1" kern="0" dirty="0">
                <a:solidFill>
                  <a:srgbClr val="E07A3E"/>
                </a:solidFill>
                <a:latin typeface="Calibri" pitchFamily="34" charset="0"/>
                <a:ea typeface="Calibri" pitchFamily="34" charset="-122"/>
                <a:cs typeface="Calibri" pitchFamily="34" charset="-120"/>
              </a:rPr>
              <a:t>Caveat: </a:t>
            </a:r>
            <a:r>
              <a:rPr lang="en-US" sz="1150" kern="0" dirty="0">
                <a:solidFill>
                  <a:srgbClr val="1B2733"/>
                </a:solidFill>
                <a:latin typeface="Calibri" pitchFamily="34" charset="0"/>
                <a:ea typeface="Calibri" pitchFamily="34" charset="-122"/>
                <a:cs typeface="Calibri" pitchFamily="34" charset="-120"/>
              </a:rPr>
              <a:t>backgrounds in the synthetic data are pure noise, so context dependence must be re-tested on real photos.</a:t>
            </a:r>
          </a:p>
        </p:txBody>
      </p:sp>
      <p:pic>
        <p:nvPicPr>
          <p:cNvPr id="14" name="Image 14" descr="Occlusion maps of three images for window sizes 5, 11, 21 and 31"/>
          <p:cNvPicPr>
            <a:picLocks noChangeAspect="1"/>
          </p:cNvPicPr>
          <p:nvPr/>
        </p:nvPicPr>
        <p:blipFill>
          <a:blip r:embed="rId2"/>
          <a:stretch>
            <a:fillRect/>
          </a:stretch>
        </p:blipFill>
        <p:spPr>
          <a:xfrm>
            <a:off x="5669280" y="1691640"/>
            <a:ext cx="5989320" cy="3702558"/>
          </a:xfrm>
          <a:prstGeom prst="rect">
            <a:avLst/>
          </a:prstGeom>
        </p:spPr>
      </p:pic>
      <p:sp>
        <p:nvSpPr>
          <p:cNvPr id="15" name="Text 15"/>
          <p:cNvSpPr txBox="1"/>
          <p:nvPr/>
        </p:nvSpPr>
        <p:spPr>
          <a:xfrm>
            <a:off x="5669280" y="5467350"/>
            <a:ext cx="5989320" cy="256032"/>
          </a:xfrm>
          <a:prstGeom prst="rect">
            <a:avLst/>
          </a:prstGeom>
          <a:noFill/>
          <a:ln/>
        </p:spPr>
        <p:txBody>
          <a:bodyPr wrap="square" rtlCol="0" anchor="ctr"/>
          <a:lstStyle/>
          <a:p>
            <a:pPr marL="0" indent="0" algn="l">
              <a:buNone/>
            </a:pPr>
            <a:r>
              <a:rPr lang="en-US" sz="1000" b="1" kern="0" spc="100" dirty="0">
                <a:solidFill>
                  <a:srgbClr val="E07A3E"/>
                </a:solidFill>
                <a:latin typeface="Calibri" pitchFamily="34" charset="0"/>
                <a:ea typeface="Calibri" pitchFamily="34" charset="-122"/>
                <a:cs typeface="Calibri" pitchFamily="34" charset="-120"/>
              </a:rPr>
              <a:t>FIGURE 8  ·  CONFIDENCE MAPS BY WINDOW SIZE</a:t>
            </a:r>
            <a:r>
              <a:rPr lang="en-US" sz="1000" kern="0" dirty="0">
                <a:solidFill>
                  <a:srgbClr val="5B6B7B"/>
                </a:solidFill>
                <a:latin typeface="Calibri" pitchFamily="34" charset="0"/>
                <a:ea typeface="Calibri" pitchFamily="34" charset="-122"/>
                <a:cs typeface="Calibri" pitchFamily="34" charset="-120"/>
              </a:rPr>
              <a:t>   colour scale 0–1, blue = key region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457200" y="320040"/>
            <a:ext cx="5486400" cy="274320"/>
          </a:xfrm>
          <a:prstGeom prst="rect">
            <a:avLst/>
          </a:prstGeom>
          <a:noFill/>
          <a:ln/>
        </p:spPr>
        <p:txBody>
          <a:bodyPr wrap="square" rtlCol="0" anchor="ctr"/>
          <a:lstStyle/>
          <a:p>
            <a:pPr marL="0" indent="0" algn="l">
              <a:buNone/>
            </a:pPr>
            <a:r>
              <a:rPr lang="en-US" sz="1100" b="1" kern="0" spc="150" dirty="0">
                <a:solidFill>
                  <a:srgbClr val="E07A3E"/>
                </a:solidFill>
                <a:latin typeface="Calibri" pitchFamily="34" charset="0"/>
                <a:ea typeface="Calibri" pitchFamily="34" charset="-122"/>
                <a:cs typeface="Calibri" pitchFamily="34" charset="-120"/>
              </a:rPr>
              <a:t>SLIDE 11 / MODULE 5 · METHOD</a:t>
            </a:r>
          </a:p>
        </p:txBody>
      </p:sp>
      <p:sp>
        <p:nvSpPr>
          <p:cNvPr id="3" name="Text 3"/>
          <p:cNvSpPr txBox="1"/>
          <p:nvPr/>
        </p:nvSpPr>
        <p:spPr>
          <a:xfrm>
            <a:off x="457200" y="566928"/>
            <a:ext cx="11247120" cy="548640"/>
          </a:xfrm>
          <a:prstGeom prst="rect">
            <a:avLst/>
          </a:prstGeom>
          <a:noFill/>
          <a:ln/>
        </p:spPr>
        <p:txBody>
          <a:bodyPr wrap="square" rtlCol="0" anchor="ctr"/>
          <a:lstStyle/>
          <a:p>
            <a:pPr marL="0" indent="0" algn="l">
              <a:buNone/>
            </a:pPr>
            <a:r>
              <a:rPr lang="en-US" sz="2600" b="1" kern="0" dirty="0">
                <a:solidFill>
                  <a:srgbClr val="132743"/>
                </a:solidFill>
                <a:latin typeface="Calibri" pitchFamily="34" charset="0"/>
                <a:ea typeface="Calibri" pitchFamily="34" charset="-122"/>
                <a:cs typeface="Calibri" pitchFamily="34" charset="-120"/>
              </a:rPr>
              <a:t>Module 5: Fine-Tuning a Small LLM for Customer-Support FAQs</a:t>
            </a:r>
          </a:p>
        </p:txBody>
      </p:sp>
      <p:sp>
        <p:nvSpPr>
          <p:cNvPr id="4" name="Text 4"/>
          <p:cNvSpPr txBox="1"/>
          <p:nvPr/>
        </p:nvSpPr>
        <p:spPr>
          <a:xfrm>
            <a:off x="457200" y="1078992"/>
            <a:ext cx="11247120" cy="384048"/>
          </a:xfrm>
          <a:prstGeom prst="rect">
            <a:avLst/>
          </a:prstGeom>
          <a:noFill/>
          <a:ln/>
        </p:spPr>
        <p:txBody>
          <a:bodyPr wrap="square" rtlCol="0" anchor="ctr"/>
          <a:lstStyle/>
          <a:p>
            <a:pPr marL="0" indent="0" algn="l">
              <a:buNone/>
            </a:pPr>
            <a:r>
              <a:rPr lang="en-US" sz="1300" kern="0" dirty="0">
                <a:solidFill>
                  <a:srgbClr val="5B6B7B"/>
                </a:solidFill>
                <a:latin typeface="Calibri" pitchFamily="34" charset="0"/>
                <a:ea typeface="Calibri" pitchFamily="34" charset="-122"/>
                <a:cs typeface="Calibri" pitchFamily="34" charset="-120"/>
              </a:rPr>
              <a:t>Teach DistilGPT-2 a store's policies with LoRA, then compare it with the untouched base model.</a:t>
            </a:r>
          </a:p>
        </p:txBody>
      </p:sp>
      <p:sp>
        <p:nvSpPr>
          <p:cNvPr id="5" name="Text 5"/>
          <p:cNvSpPr txBox="1"/>
          <p:nvPr/>
        </p:nvSpPr>
        <p:spPr>
          <a:xfrm>
            <a:off x="457200" y="6547104"/>
            <a:ext cx="8686800" cy="256032"/>
          </a:xfrm>
          <a:prstGeom prst="rect">
            <a:avLst/>
          </a:prstGeom>
          <a:noFill/>
          <a:ln/>
        </p:spPr>
        <p:txBody>
          <a:bodyPr wrap="square" rtlCol="0" anchor="ctr"/>
          <a:lstStyle/>
          <a:p>
            <a:pPr marL="0" indent="0" algn="l">
              <a:buNone/>
            </a:pPr>
            <a:r>
              <a:rPr lang="en-US" sz="900" kern="0" dirty="0">
                <a:solidFill>
                  <a:srgbClr val="5B6B7B"/>
                </a:solidFill>
                <a:latin typeface="Calibri" pitchFamily="34" charset="0"/>
                <a:ea typeface="Calibri" pitchFamily="34" charset="-122"/>
                <a:cs typeface="Calibri" pitchFamily="34" charset="-120"/>
              </a:rPr>
              <a:t>Module 5: Fine-Tuning a Small LLM for Customer-Support FAQs  |  Gitarani Mohanty</a:t>
            </a:r>
          </a:p>
        </p:txBody>
      </p:sp>
      <p:sp>
        <p:nvSpPr>
          <p:cNvPr id="6" name="Text 6"/>
          <p:cNvSpPr txBox="1"/>
          <p:nvPr/>
        </p:nvSpPr>
        <p:spPr>
          <a:xfrm>
            <a:off x="11430000" y="6547104"/>
            <a:ext cx="365760" cy="256032"/>
          </a:xfrm>
          <a:prstGeom prst="rect">
            <a:avLst/>
          </a:prstGeom>
          <a:noFill/>
          <a:ln/>
        </p:spPr>
        <p:txBody>
          <a:bodyPr wrap="square" rtlCol="0" anchor="ctr"/>
          <a:lstStyle/>
          <a:p>
            <a:pPr marL="0" indent="0" algn="r">
              <a:buNone/>
            </a:pPr>
            <a:r>
              <a:rPr lang="en-US" sz="900" kern="0" dirty="0">
                <a:solidFill>
                  <a:srgbClr val="5B6B7B"/>
                </a:solidFill>
                <a:latin typeface="Calibri" pitchFamily="34" charset="0"/>
                <a:ea typeface="Calibri" pitchFamily="34" charset="-122"/>
                <a:cs typeface="Calibri" pitchFamily="34" charset="-120"/>
              </a:rPr>
              <a:t>11</a:t>
            </a:r>
          </a:p>
        </p:txBody>
      </p:sp>
      <p:sp>
        <p:nvSpPr>
          <p:cNvPr id="7" name="Box 7"/>
          <p:cNvSpPr/>
          <p:nvPr/>
        </p:nvSpPr>
        <p:spPr>
          <a:xfrm>
            <a:off x="457200" y="1691640"/>
            <a:ext cx="1965960" cy="868680"/>
          </a:xfrm>
          <a:prstGeom prst="roundRect">
            <a:avLst>
              <a:gd name="adj" fmla="val 9000"/>
            </a:avLst>
          </a:prstGeom>
          <a:solidFill>
            <a:srgbClr val="1F3A5F"/>
          </a:solidFill>
          <a:ln/>
        </p:spPr>
        <p:txBody>
          <a:bodyPr wrap="square" rtlCol="0" anchor="ctr"/>
          <a:lstStyle/>
          <a:p>
            <a:pPr marL="0" indent="0" algn="ctr">
              <a:buNone/>
            </a:pPr>
            <a:r>
              <a:rPr lang="en-US" sz="1200" b="1" kern="0" dirty="0">
                <a:solidFill>
                  <a:srgbClr val="FFFFFF"/>
                </a:solidFill>
                <a:latin typeface="Calibri" pitchFamily="34" charset="0"/>
                <a:ea typeface="Calibri" pitchFamily="34" charset="-122"/>
                <a:cs typeface="Calibri" pitchFamily="34" charset="-120"/>
              </a:rPr>
              <a:t>FAQ pairs</a:t>
            </a:r>
          </a:p>
          <a:p>
            <a:pPr marL="0" indent="0" algn="ctr">
              <a:buNone/>
            </a:pPr>
            <a:r>
              <a:rPr lang="en-US" sz="1200" b="1" kern="0" dirty="0">
                <a:solidFill>
                  <a:srgbClr val="FFFFFF"/>
                </a:solidFill>
                <a:latin typeface="Calibri" pitchFamily="34" charset="0"/>
                <a:ea typeface="Calibri" pitchFamily="34" charset="-122"/>
                <a:cs typeface="Calibri" pitchFamily="34" charset="-120"/>
              </a:rPr>
              <a:t>(JSONL)</a:t>
            </a:r>
          </a:p>
        </p:txBody>
      </p:sp>
      <p:sp>
        <p:nvSpPr>
          <p:cNvPr id="8" name="Text 8"/>
          <p:cNvSpPr txBox="1"/>
          <p:nvPr/>
        </p:nvSpPr>
        <p:spPr>
          <a:xfrm>
            <a:off x="2423160" y="1920240"/>
            <a:ext cx="320040" cy="411480"/>
          </a:xfrm>
          <a:prstGeom prst="rect">
            <a:avLst/>
          </a:prstGeom>
          <a:noFill/>
          <a:ln/>
        </p:spPr>
        <p:txBody>
          <a:bodyPr wrap="square" lIns="0" rIns="0" rtlCol="0" anchor="ctr"/>
          <a:lstStyle/>
          <a:p>
            <a:pPr marL="0" indent="0" algn="ctr">
              <a:buNone/>
            </a:pPr>
            <a:r>
              <a:rPr lang="en-US" sz="1600" kern="0" dirty="0">
                <a:solidFill>
                  <a:srgbClr val="5B6B7B"/>
                </a:solidFill>
                <a:latin typeface="Calibri" pitchFamily="34" charset="0"/>
                <a:ea typeface="Calibri" pitchFamily="34" charset="-122"/>
                <a:cs typeface="Calibri" pitchFamily="34" charset="-120"/>
              </a:rPr>
              <a:t>→</a:t>
            </a:r>
          </a:p>
        </p:txBody>
      </p:sp>
      <p:sp>
        <p:nvSpPr>
          <p:cNvPr id="9" name="Box 9"/>
          <p:cNvSpPr/>
          <p:nvPr/>
        </p:nvSpPr>
        <p:spPr>
          <a:xfrm>
            <a:off x="2743200" y="1691640"/>
            <a:ext cx="1965960" cy="868680"/>
          </a:xfrm>
          <a:prstGeom prst="roundRect">
            <a:avLst>
              <a:gd name="adj" fmla="val 9000"/>
            </a:avLst>
          </a:prstGeom>
          <a:solidFill>
            <a:srgbClr val="1F9E7A"/>
          </a:solidFill>
          <a:ln/>
        </p:spPr>
        <p:txBody>
          <a:bodyPr wrap="square" rtlCol="0" anchor="ctr"/>
          <a:lstStyle/>
          <a:p>
            <a:pPr marL="0" indent="0" algn="ctr">
              <a:buNone/>
            </a:pPr>
            <a:r>
              <a:rPr lang="en-US" sz="1200" b="1" kern="0" dirty="0">
                <a:solidFill>
                  <a:srgbClr val="FFFFFF"/>
                </a:solidFill>
                <a:latin typeface="Calibri" pitchFamily="34" charset="0"/>
                <a:ea typeface="Calibri" pitchFamily="34" charset="-122"/>
                <a:cs typeface="Calibri" pitchFamily="34" charset="-120"/>
              </a:rPr>
              <a:t>Clean &amp;</a:t>
            </a:r>
          </a:p>
          <a:p>
            <a:pPr marL="0" indent="0" algn="ctr">
              <a:buNone/>
            </a:pPr>
            <a:r>
              <a:rPr lang="en-US" sz="1200" b="1" kern="0" dirty="0">
                <a:solidFill>
                  <a:srgbClr val="FFFFFF"/>
                </a:solidFill>
                <a:latin typeface="Calibri" pitchFamily="34" charset="0"/>
                <a:ea typeface="Calibri" pitchFamily="34" charset="-122"/>
                <a:cs typeface="Calibri" pitchFamily="34" charset="-120"/>
              </a:rPr>
              <a:t>split 80/10/10</a:t>
            </a:r>
          </a:p>
        </p:txBody>
      </p:sp>
      <p:sp>
        <p:nvSpPr>
          <p:cNvPr id="10" name="Text 10"/>
          <p:cNvSpPr txBox="1"/>
          <p:nvPr/>
        </p:nvSpPr>
        <p:spPr>
          <a:xfrm>
            <a:off x="4709160" y="1920240"/>
            <a:ext cx="320040" cy="411480"/>
          </a:xfrm>
          <a:prstGeom prst="rect">
            <a:avLst/>
          </a:prstGeom>
          <a:noFill/>
          <a:ln/>
        </p:spPr>
        <p:txBody>
          <a:bodyPr wrap="square" lIns="0" rIns="0" rtlCol="0" anchor="ctr"/>
          <a:lstStyle/>
          <a:p>
            <a:pPr marL="0" indent="0" algn="ctr">
              <a:buNone/>
            </a:pPr>
            <a:r>
              <a:rPr lang="en-US" sz="1600" kern="0" dirty="0">
                <a:solidFill>
                  <a:srgbClr val="5B6B7B"/>
                </a:solidFill>
                <a:latin typeface="Calibri" pitchFamily="34" charset="0"/>
                <a:ea typeface="Calibri" pitchFamily="34" charset="-122"/>
                <a:cs typeface="Calibri" pitchFamily="34" charset="-120"/>
              </a:rPr>
              <a:t>→</a:t>
            </a:r>
          </a:p>
        </p:txBody>
      </p:sp>
      <p:sp>
        <p:nvSpPr>
          <p:cNvPr id="11" name="Box 11"/>
          <p:cNvSpPr/>
          <p:nvPr/>
        </p:nvSpPr>
        <p:spPr>
          <a:xfrm>
            <a:off x="5029200" y="1691640"/>
            <a:ext cx="1965960" cy="868680"/>
          </a:xfrm>
          <a:prstGeom prst="roundRect">
            <a:avLst>
              <a:gd name="adj" fmla="val 9000"/>
            </a:avLst>
          </a:prstGeom>
          <a:solidFill>
            <a:srgbClr val="6E5AA8"/>
          </a:solidFill>
          <a:ln/>
        </p:spPr>
        <p:txBody>
          <a:bodyPr wrap="square" rtlCol="0" anchor="ctr"/>
          <a:lstStyle/>
          <a:p>
            <a:pPr marL="0" indent="0" algn="ctr">
              <a:buNone/>
            </a:pPr>
            <a:r>
              <a:rPr lang="en-US" sz="1200" b="1" kern="0" dirty="0">
                <a:solidFill>
                  <a:srgbClr val="FFFFFF"/>
                </a:solidFill>
                <a:latin typeface="Calibri" pitchFamily="34" charset="0"/>
                <a:ea typeface="Calibri" pitchFamily="34" charset="-122"/>
                <a:cs typeface="Calibri" pitchFamily="34" charset="-120"/>
              </a:rPr>
              <a:t>DistilGPT-2</a:t>
            </a:r>
          </a:p>
          <a:p>
            <a:pPr marL="0" indent="0" algn="ctr">
              <a:buNone/>
            </a:pPr>
            <a:r>
              <a:rPr lang="en-US" sz="1200" b="1" kern="0" dirty="0">
                <a:solidFill>
                  <a:srgbClr val="FFFFFF"/>
                </a:solidFill>
                <a:latin typeface="Calibri" pitchFamily="34" charset="0"/>
                <a:ea typeface="Calibri" pitchFamily="34" charset="-122"/>
                <a:cs typeface="Calibri" pitchFamily="34" charset="-120"/>
              </a:rPr>
              <a:t>+ LoRA</a:t>
            </a:r>
          </a:p>
        </p:txBody>
      </p:sp>
      <p:sp>
        <p:nvSpPr>
          <p:cNvPr id="12" name="Text 12"/>
          <p:cNvSpPr txBox="1"/>
          <p:nvPr/>
        </p:nvSpPr>
        <p:spPr>
          <a:xfrm>
            <a:off x="6995160" y="1920240"/>
            <a:ext cx="320040" cy="411480"/>
          </a:xfrm>
          <a:prstGeom prst="rect">
            <a:avLst/>
          </a:prstGeom>
          <a:noFill/>
          <a:ln/>
        </p:spPr>
        <p:txBody>
          <a:bodyPr wrap="square" lIns="0" rIns="0" rtlCol="0" anchor="ctr"/>
          <a:lstStyle/>
          <a:p>
            <a:pPr marL="0" indent="0" algn="ctr">
              <a:buNone/>
            </a:pPr>
            <a:r>
              <a:rPr lang="en-US" sz="1600" kern="0" dirty="0">
                <a:solidFill>
                  <a:srgbClr val="5B6B7B"/>
                </a:solidFill>
                <a:latin typeface="Calibri" pitchFamily="34" charset="0"/>
                <a:ea typeface="Calibri" pitchFamily="34" charset="-122"/>
                <a:cs typeface="Calibri" pitchFamily="34" charset="-120"/>
              </a:rPr>
              <a:t>→</a:t>
            </a:r>
          </a:p>
        </p:txBody>
      </p:sp>
      <p:sp>
        <p:nvSpPr>
          <p:cNvPr id="13" name="Box 13"/>
          <p:cNvSpPr/>
          <p:nvPr/>
        </p:nvSpPr>
        <p:spPr>
          <a:xfrm>
            <a:off x="7315200" y="1691640"/>
            <a:ext cx="1965960" cy="868680"/>
          </a:xfrm>
          <a:prstGeom prst="roundRect">
            <a:avLst>
              <a:gd name="adj" fmla="val 9000"/>
            </a:avLst>
          </a:prstGeom>
          <a:solidFill>
            <a:srgbClr val="E07A3E"/>
          </a:solidFill>
          <a:ln/>
        </p:spPr>
        <p:txBody>
          <a:bodyPr wrap="square" rtlCol="0" anchor="ctr"/>
          <a:lstStyle/>
          <a:p>
            <a:pPr marL="0" indent="0" algn="ctr">
              <a:buNone/>
            </a:pPr>
            <a:r>
              <a:rPr lang="en-US" sz="1200" b="1" kern="0" dirty="0">
                <a:solidFill>
                  <a:srgbClr val="FFFFFF"/>
                </a:solidFill>
                <a:latin typeface="Calibri" pitchFamily="34" charset="0"/>
                <a:ea typeface="Calibri" pitchFamily="34" charset="-122"/>
                <a:cs typeface="Calibri" pitchFamily="34" charset="-120"/>
              </a:rPr>
              <a:t>Trainer + early</a:t>
            </a:r>
          </a:p>
          <a:p>
            <a:pPr marL="0" indent="0" algn="ctr">
              <a:buNone/>
            </a:pPr>
            <a:r>
              <a:rPr lang="en-US" sz="1200" b="1" kern="0" dirty="0">
                <a:solidFill>
                  <a:srgbClr val="FFFFFF"/>
                </a:solidFill>
                <a:latin typeface="Calibri" pitchFamily="34" charset="0"/>
                <a:ea typeface="Calibri" pitchFamily="34" charset="-122"/>
                <a:cs typeface="Calibri" pitchFamily="34" charset="-120"/>
              </a:rPr>
              <a:t>stopping</a:t>
            </a:r>
          </a:p>
        </p:txBody>
      </p:sp>
      <p:sp>
        <p:nvSpPr>
          <p:cNvPr id="14" name="Text 14"/>
          <p:cNvSpPr txBox="1"/>
          <p:nvPr/>
        </p:nvSpPr>
        <p:spPr>
          <a:xfrm>
            <a:off x="9281160" y="1920240"/>
            <a:ext cx="320040" cy="411480"/>
          </a:xfrm>
          <a:prstGeom prst="rect">
            <a:avLst/>
          </a:prstGeom>
          <a:noFill/>
          <a:ln/>
        </p:spPr>
        <p:txBody>
          <a:bodyPr wrap="square" lIns="0" rIns="0" rtlCol="0" anchor="ctr"/>
          <a:lstStyle/>
          <a:p>
            <a:pPr marL="0" indent="0" algn="ctr">
              <a:buNone/>
            </a:pPr>
            <a:r>
              <a:rPr lang="en-US" sz="1600" kern="0" dirty="0">
                <a:solidFill>
                  <a:srgbClr val="5B6B7B"/>
                </a:solidFill>
                <a:latin typeface="Calibri" pitchFamily="34" charset="0"/>
                <a:ea typeface="Calibri" pitchFamily="34" charset="-122"/>
                <a:cs typeface="Calibri" pitchFamily="34" charset="-120"/>
              </a:rPr>
              <a:t>→</a:t>
            </a:r>
          </a:p>
        </p:txBody>
      </p:sp>
      <p:sp>
        <p:nvSpPr>
          <p:cNvPr id="15" name="Box 15"/>
          <p:cNvSpPr/>
          <p:nvPr/>
        </p:nvSpPr>
        <p:spPr>
          <a:xfrm>
            <a:off x="9601200" y="1691640"/>
            <a:ext cx="1965960" cy="868680"/>
          </a:xfrm>
          <a:prstGeom prst="roundRect">
            <a:avLst>
              <a:gd name="adj" fmla="val 9000"/>
            </a:avLst>
          </a:prstGeom>
          <a:solidFill>
            <a:srgbClr val="1F3A5F"/>
          </a:solidFill>
          <a:ln/>
        </p:spPr>
        <p:txBody>
          <a:bodyPr wrap="square" rtlCol="0" anchor="ctr"/>
          <a:lstStyle/>
          <a:p>
            <a:pPr marL="0" indent="0" algn="ctr">
              <a:buNone/>
            </a:pPr>
            <a:r>
              <a:rPr lang="en-US" sz="1200" b="1" kern="0" dirty="0">
                <a:solidFill>
                  <a:srgbClr val="FFFFFF"/>
                </a:solidFill>
                <a:latin typeface="Calibri" pitchFamily="34" charset="0"/>
                <a:ea typeface="Calibri" pitchFamily="34" charset="-122"/>
                <a:cs typeface="Calibri" pitchFamily="34" charset="-120"/>
              </a:rPr>
              <a:t>Evaluate base</a:t>
            </a:r>
          </a:p>
          <a:p>
            <a:pPr marL="0" indent="0" algn="ctr">
              <a:buNone/>
            </a:pPr>
            <a:r>
              <a:rPr lang="en-US" sz="1200" b="1" kern="0" dirty="0">
                <a:solidFill>
                  <a:srgbClr val="FFFFFF"/>
                </a:solidFill>
                <a:latin typeface="Calibri" pitchFamily="34" charset="0"/>
                <a:ea typeface="Calibri" pitchFamily="34" charset="-122"/>
                <a:cs typeface="Calibri" pitchFamily="34" charset="-120"/>
              </a:rPr>
              <a:t>vs fine-tuned</a:t>
            </a:r>
          </a:p>
        </p:txBody>
      </p:sp>
      <p:sp>
        <p:nvSpPr>
          <p:cNvPr id="16" name="Shape 16"/>
          <p:cNvSpPr/>
          <p:nvPr/>
        </p:nvSpPr>
        <p:spPr>
          <a:xfrm>
            <a:off x="457200" y="2834640"/>
            <a:ext cx="3611880" cy="2103120"/>
          </a:xfrm>
          <a:prstGeom prst="rect">
            <a:avLst/>
          </a:prstGeom>
          <a:solidFill>
            <a:srgbClr val="F5F7F9"/>
          </a:solidFill>
          <a:ln/>
        </p:spPr>
      </p:sp>
      <p:sp>
        <p:nvSpPr>
          <p:cNvPr id="17" name="Shape 17"/>
          <p:cNvSpPr/>
          <p:nvPr/>
        </p:nvSpPr>
        <p:spPr>
          <a:xfrm>
            <a:off x="640080" y="3017520"/>
            <a:ext cx="146304" cy="146304"/>
          </a:xfrm>
          <a:prstGeom prst="ellipse">
            <a:avLst/>
          </a:prstGeom>
          <a:solidFill>
            <a:srgbClr val="1F9E7A"/>
          </a:solidFill>
          <a:ln/>
        </p:spPr>
      </p:sp>
      <p:sp>
        <p:nvSpPr>
          <p:cNvPr id="18" name="Text 18"/>
          <p:cNvSpPr txBox="1"/>
          <p:nvPr/>
        </p:nvSpPr>
        <p:spPr>
          <a:xfrm>
            <a:off x="868680" y="2944368"/>
            <a:ext cx="3063240" cy="292608"/>
          </a:xfrm>
          <a:prstGeom prst="rect">
            <a:avLst/>
          </a:prstGeom>
          <a:noFill/>
          <a:ln/>
        </p:spPr>
        <p:txBody>
          <a:bodyPr wrap="square" rtlCol="0" anchor="ctr"/>
          <a:lstStyle/>
          <a:p>
            <a:pPr marL="0" indent="0" algn="l">
              <a:buNone/>
            </a:pPr>
            <a:r>
              <a:rPr lang="en-US" sz="1250" b="1" kern="0" spc="50" dirty="0">
                <a:solidFill>
                  <a:srgbClr val="132743"/>
                </a:solidFill>
                <a:latin typeface="Calibri" pitchFamily="34" charset="0"/>
                <a:ea typeface="Calibri" pitchFamily="34" charset="-122"/>
                <a:cs typeface="Calibri" pitchFamily="34" charset="-120"/>
              </a:rPr>
              <a:t>DATASET</a:t>
            </a:r>
          </a:p>
        </p:txBody>
      </p:sp>
      <p:sp>
        <p:nvSpPr>
          <p:cNvPr id="19" name="Text 19"/>
          <p:cNvSpPr txBox="1"/>
          <p:nvPr/>
        </p:nvSpPr>
        <p:spPr>
          <a:xfrm>
            <a:off x="640080" y="3291840"/>
            <a:ext cx="3246120" cy="1572768"/>
          </a:xfrm>
          <a:prstGeom prst="rect">
            <a:avLst/>
          </a:prstGeom>
          <a:noFill/>
          <a:ln/>
        </p:spPr>
        <p:txBody>
          <a:bodyPr wrap="square" rtlCol="0" anchor="t"/>
          <a:lstStyle/>
          <a:p>
            <a:pPr marL="0" indent="0" algn="l">
              <a:spcAft>
                <a:spcPts val="400"/>
              </a:spcAft>
              <a:buNone/>
            </a:pPr>
            <a:r>
              <a:rPr lang="en-US" sz="1250" kern="0" dirty="0">
                <a:solidFill>
                  <a:srgbClr val="1B2733"/>
                </a:solidFill>
                <a:latin typeface="Calibri" pitchFamily="34" charset="0"/>
                <a:ea typeface="Calibri" pitchFamily="34" charset="-122"/>
                <a:cs typeface="Calibri" pitchFamily="34" charset="-120"/>
              </a:rPr>
              <a:t>837 synthetic ShopEase Q&amp;A pairs from 56 policy topics (returns, shipping, payments, accounts). Split 671 / 85 / 81, grouped by question so paraphrases never leak into the test set.</a:t>
            </a:r>
          </a:p>
        </p:txBody>
      </p:sp>
      <p:sp>
        <p:nvSpPr>
          <p:cNvPr id="20" name="Shape 20"/>
          <p:cNvSpPr/>
          <p:nvPr/>
        </p:nvSpPr>
        <p:spPr>
          <a:xfrm>
            <a:off x="4288536" y="2834640"/>
            <a:ext cx="3611880" cy="2103120"/>
          </a:xfrm>
          <a:prstGeom prst="rect">
            <a:avLst/>
          </a:prstGeom>
          <a:solidFill>
            <a:srgbClr val="F5F7F9"/>
          </a:solidFill>
          <a:ln/>
        </p:spPr>
      </p:sp>
      <p:sp>
        <p:nvSpPr>
          <p:cNvPr id="21" name="Shape 21"/>
          <p:cNvSpPr/>
          <p:nvPr/>
        </p:nvSpPr>
        <p:spPr>
          <a:xfrm>
            <a:off x="4471416" y="3017520"/>
            <a:ext cx="146304" cy="146304"/>
          </a:xfrm>
          <a:prstGeom prst="ellipse">
            <a:avLst/>
          </a:prstGeom>
          <a:solidFill>
            <a:srgbClr val="6E5AA8"/>
          </a:solidFill>
          <a:ln/>
        </p:spPr>
      </p:sp>
      <p:sp>
        <p:nvSpPr>
          <p:cNvPr id="22" name="Text 22"/>
          <p:cNvSpPr txBox="1"/>
          <p:nvPr/>
        </p:nvSpPr>
        <p:spPr>
          <a:xfrm>
            <a:off x="4700016" y="2944368"/>
            <a:ext cx="3063240" cy="292608"/>
          </a:xfrm>
          <a:prstGeom prst="rect">
            <a:avLst/>
          </a:prstGeom>
          <a:noFill/>
          <a:ln/>
        </p:spPr>
        <p:txBody>
          <a:bodyPr wrap="square" rtlCol="0" anchor="ctr"/>
          <a:lstStyle/>
          <a:p>
            <a:pPr marL="0" indent="0" algn="l">
              <a:buNone/>
            </a:pPr>
            <a:r>
              <a:rPr lang="en-US" sz="1250" b="1" kern="0" spc="50" dirty="0">
                <a:solidFill>
                  <a:srgbClr val="132743"/>
                </a:solidFill>
                <a:latin typeface="Calibri" pitchFamily="34" charset="0"/>
                <a:ea typeface="Calibri" pitchFamily="34" charset="-122"/>
                <a:cs typeface="Calibri" pitchFamily="34" charset="-120"/>
              </a:rPr>
              <a:t>MODEL</a:t>
            </a:r>
          </a:p>
        </p:txBody>
      </p:sp>
      <p:sp>
        <p:nvSpPr>
          <p:cNvPr id="23" name="Text 23"/>
          <p:cNvSpPr txBox="1"/>
          <p:nvPr/>
        </p:nvSpPr>
        <p:spPr>
          <a:xfrm>
            <a:off x="4471416" y="3291840"/>
            <a:ext cx="3246120" cy="1572768"/>
          </a:xfrm>
          <a:prstGeom prst="rect">
            <a:avLst/>
          </a:prstGeom>
          <a:noFill/>
          <a:ln/>
        </p:spPr>
        <p:txBody>
          <a:bodyPr wrap="square" rtlCol="0" anchor="t"/>
          <a:lstStyle/>
          <a:p>
            <a:pPr marL="0" indent="0" algn="l">
              <a:spcAft>
                <a:spcPts val="400"/>
              </a:spcAft>
              <a:buNone/>
            </a:pPr>
            <a:r>
              <a:rPr lang="en-US" sz="1250" kern="0" dirty="0">
                <a:solidFill>
                  <a:srgbClr val="1B2733"/>
                </a:solidFill>
                <a:latin typeface="Calibri" pitchFamily="34" charset="0"/>
                <a:ea typeface="Calibri" pitchFamily="34" charset="-122"/>
                <a:cs typeface="Calibri" pitchFamily="34" charset="-120"/>
              </a:rPr>
              <a:t>DistilGPT-2 (81.9 M parameters) with LoRA rank 32 on c_attn, c_proj and c_fc: 2.36 M trainable weights (2.8%). Loss is computed on answer tokens only.</a:t>
            </a:r>
          </a:p>
        </p:txBody>
      </p:sp>
      <p:sp>
        <p:nvSpPr>
          <p:cNvPr id="24" name="Shape 24"/>
          <p:cNvSpPr/>
          <p:nvPr/>
        </p:nvSpPr>
        <p:spPr>
          <a:xfrm>
            <a:off x="8119872" y="2834640"/>
            <a:ext cx="3611880" cy="2103120"/>
          </a:xfrm>
          <a:prstGeom prst="rect">
            <a:avLst/>
          </a:prstGeom>
          <a:solidFill>
            <a:srgbClr val="F5F7F9"/>
          </a:solidFill>
          <a:ln/>
        </p:spPr>
      </p:sp>
      <p:sp>
        <p:nvSpPr>
          <p:cNvPr id="25" name="Shape 25"/>
          <p:cNvSpPr/>
          <p:nvPr/>
        </p:nvSpPr>
        <p:spPr>
          <a:xfrm>
            <a:off x="8302752" y="3017520"/>
            <a:ext cx="146304" cy="146304"/>
          </a:xfrm>
          <a:prstGeom prst="ellipse">
            <a:avLst/>
          </a:prstGeom>
          <a:solidFill>
            <a:srgbClr val="E07A3E"/>
          </a:solidFill>
          <a:ln/>
        </p:spPr>
      </p:sp>
      <p:sp>
        <p:nvSpPr>
          <p:cNvPr id="26" name="Text 26"/>
          <p:cNvSpPr txBox="1"/>
          <p:nvPr/>
        </p:nvSpPr>
        <p:spPr>
          <a:xfrm>
            <a:off x="8531352" y="2944368"/>
            <a:ext cx="3063240" cy="292608"/>
          </a:xfrm>
          <a:prstGeom prst="rect">
            <a:avLst/>
          </a:prstGeom>
          <a:noFill/>
          <a:ln/>
        </p:spPr>
        <p:txBody>
          <a:bodyPr wrap="square" rtlCol="0" anchor="ctr"/>
          <a:lstStyle/>
          <a:p>
            <a:pPr marL="0" indent="0" algn="l">
              <a:buNone/>
            </a:pPr>
            <a:r>
              <a:rPr lang="en-US" sz="1250" b="1" kern="0" spc="50" dirty="0">
                <a:solidFill>
                  <a:srgbClr val="132743"/>
                </a:solidFill>
                <a:latin typeface="Calibri" pitchFamily="34" charset="0"/>
                <a:ea typeface="Calibri" pitchFamily="34" charset="-122"/>
                <a:cs typeface="Calibri" pitchFamily="34" charset="-120"/>
              </a:rPr>
              <a:t>TRAINING</a:t>
            </a:r>
          </a:p>
        </p:txBody>
      </p:sp>
      <p:sp>
        <p:nvSpPr>
          <p:cNvPr id="27" name="Text 27"/>
          <p:cNvSpPr txBox="1"/>
          <p:nvPr/>
        </p:nvSpPr>
        <p:spPr>
          <a:xfrm>
            <a:off x="8302752" y="3291840"/>
            <a:ext cx="3246120" cy="1572768"/>
          </a:xfrm>
          <a:prstGeom prst="rect">
            <a:avLst/>
          </a:prstGeom>
          <a:noFill/>
          <a:ln/>
        </p:spPr>
        <p:txBody>
          <a:bodyPr wrap="square" rtlCol="0" anchor="t"/>
          <a:lstStyle/>
          <a:p>
            <a:pPr marL="0" indent="0" algn="l">
              <a:spcAft>
                <a:spcPts val="400"/>
              </a:spcAft>
              <a:buNone/>
            </a:pPr>
            <a:r>
              <a:rPr lang="en-US" sz="1250" kern="0" dirty="0">
                <a:solidFill>
                  <a:srgbClr val="1B2733"/>
                </a:solidFill>
                <a:latin typeface="Calibri" pitchFamily="34" charset="0"/>
                <a:ea typeface="Calibri" pitchFamily="34" charset="-122"/>
                <a:cs typeface="Calibri" pitchFamily="34" charset="-120"/>
              </a:rPr>
              <a:t>Hugging Face Trainer: 5 epochs, batch size 8, learning rate 5e-4 (cosine), fp16, early stopping on validation loss. Total training time: 34 seconds on a T4.</a:t>
            </a:r>
          </a:p>
        </p:txBody>
      </p:sp>
      <p:sp>
        <p:nvSpPr>
          <p:cNvPr id="28" name="Text 28"/>
          <p:cNvSpPr txBox="1"/>
          <p:nvPr/>
        </p:nvSpPr>
        <p:spPr>
          <a:xfrm>
            <a:off x="457200" y="5166360"/>
            <a:ext cx="11247120" cy="822960"/>
          </a:xfrm>
          <a:prstGeom prst="rect">
            <a:avLst/>
          </a:prstGeom>
          <a:noFill/>
          <a:ln/>
        </p:spPr>
        <p:txBody>
          <a:bodyPr wrap="square" rtlCol="0" anchor="t"/>
          <a:lstStyle/>
          <a:p>
            <a:pPr marL="0" indent="0" algn="l">
              <a:buNone/>
            </a:pPr>
            <a:r>
              <a:rPr lang="en-US" sz="1150" i="1" kern="0" dirty="0">
                <a:solidFill>
                  <a:srgbClr val="5B6B7B"/>
                </a:solidFill>
                <a:latin typeface="Calibri" pitchFamily="34" charset="0"/>
                <a:ea typeface="Calibri" pitchFamily="34" charset="-122"/>
                <a:cs typeface="Calibri" pitchFamily="34" charset="-120"/>
              </a:rPr>
              <a:t>Minimal-compute strategy: Colab T4, model under 125 M parameters, LoRA with mixed precision. 8-bit / 4-bit quantisation was provided as an option but does not apply to GPT-2's Conv1D layers.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457200" y="320040"/>
            <a:ext cx="5486400" cy="274320"/>
          </a:xfrm>
          <a:prstGeom prst="rect">
            <a:avLst/>
          </a:prstGeom>
          <a:noFill/>
          <a:ln/>
        </p:spPr>
        <p:txBody>
          <a:bodyPr wrap="square" rtlCol="0" anchor="ctr"/>
          <a:lstStyle/>
          <a:p>
            <a:pPr marL="0" indent="0" algn="l">
              <a:buNone/>
            </a:pPr>
            <a:r>
              <a:rPr lang="en-US" sz="1100" b="1" kern="0" spc="150" dirty="0">
                <a:solidFill>
                  <a:srgbClr val="E07A3E"/>
                </a:solidFill>
                <a:latin typeface="Calibri" pitchFamily="34" charset="0"/>
                <a:ea typeface="Calibri" pitchFamily="34" charset="-122"/>
                <a:cs typeface="Calibri" pitchFamily="34" charset="-120"/>
              </a:rPr>
              <a:t>SLIDE 12 / MODULE 5 · EVIDENCE</a:t>
            </a:r>
          </a:p>
        </p:txBody>
      </p:sp>
      <p:sp>
        <p:nvSpPr>
          <p:cNvPr id="3" name="Text 3"/>
          <p:cNvSpPr txBox="1"/>
          <p:nvPr/>
        </p:nvSpPr>
        <p:spPr>
          <a:xfrm>
            <a:off x="457200" y="566928"/>
            <a:ext cx="11247120" cy="548640"/>
          </a:xfrm>
          <a:prstGeom prst="rect">
            <a:avLst/>
          </a:prstGeom>
          <a:noFill/>
          <a:ln/>
        </p:spPr>
        <p:txBody>
          <a:bodyPr wrap="square" rtlCol="0" anchor="ctr"/>
          <a:lstStyle/>
          <a:p>
            <a:pPr marL="0" indent="0" algn="l">
              <a:buNone/>
            </a:pPr>
            <a:r>
              <a:rPr lang="en-US" sz="2600" b="1" kern="0" dirty="0">
                <a:solidFill>
                  <a:srgbClr val="132743"/>
                </a:solidFill>
                <a:latin typeface="Calibri" pitchFamily="34" charset="0"/>
                <a:ea typeface="Calibri" pitchFamily="34" charset="-122"/>
                <a:cs typeface="Calibri" pitchFamily="34" charset="-120"/>
              </a:rPr>
              <a:t>Training &amp; Automated Evaluation</a:t>
            </a:r>
          </a:p>
        </p:txBody>
      </p:sp>
      <p:sp>
        <p:nvSpPr>
          <p:cNvPr id="4" name="Text 4"/>
          <p:cNvSpPr txBox="1"/>
          <p:nvPr/>
        </p:nvSpPr>
        <p:spPr>
          <a:xfrm>
            <a:off x="457200" y="1078992"/>
            <a:ext cx="11247120" cy="384048"/>
          </a:xfrm>
          <a:prstGeom prst="rect">
            <a:avLst/>
          </a:prstGeom>
          <a:noFill/>
          <a:ln/>
        </p:spPr>
        <p:txBody>
          <a:bodyPr wrap="square" rtlCol="0" anchor="ctr"/>
          <a:lstStyle/>
          <a:p>
            <a:pPr marL="0" indent="0" algn="l">
              <a:buNone/>
            </a:pPr>
            <a:r>
              <a:rPr lang="en-US" sz="1300" kern="0" dirty="0">
                <a:solidFill>
                  <a:srgbClr val="5B6B7B"/>
                </a:solidFill>
                <a:latin typeface="Calibri" pitchFamily="34" charset="0"/>
                <a:ea typeface="Calibri" pitchFamily="34" charset="-122"/>
                <a:cs typeface="Calibri" pitchFamily="34" charset="-120"/>
              </a:rPr>
              <a:t>Fine-tuning cuts the loss on store answers sharply; word-overlap scores stay moderate.</a:t>
            </a:r>
          </a:p>
        </p:txBody>
      </p:sp>
      <p:sp>
        <p:nvSpPr>
          <p:cNvPr id="5" name="Text 5"/>
          <p:cNvSpPr txBox="1"/>
          <p:nvPr/>
        </p:nvSpPr>
        <p:spPr>
          <a:xfrm>
            <a:off x="457200" y="6547104"/>
            <a:ext cx="8686800" cy="256032"/>
          </a:xfrm>
          <a:prstGeom prst="rect">
            <a:avLst/>
          </a:prstGeom>
          <a:noFill/>
          <a:ln/>
        </p:spPr>
        <p:txBody>
          <a:bodyPr wrap="square" rtlCol="0" anchor="ctr"/>
          <a:lstStyle/>
          <a:p>
            <a:pPr marL="0" indent="0" algn="l">
              <a:buNone/>
            </a:pPr>
            <a:r>
              <a:rPr lang="en-US" sz="900" kern="0" dirty="0">
                <a:solidFill>
                  <a:srgbClr val="5B6B7B"/>
                </a:solidFill>
                <a:latin typeface="Calibri" pitchFamily="34" charset="0"/>
                <a:ea typeface="Calibri" pitchFamily="34" charset="-122"/>
                <a:cs typeface="Calibri" pitchFamily="34" charset="-120"/>
              </a:rPr>
              <a:t>Module 5: Fine-Tuning a Small LLM for Customer-Support FAQs  |  Gitarani Mohanty</a:t>
            </a:r>
          </a:p>
        </p:txBody>
      </p:sp>
      <p:sp>
        <p:nvSpPr>
          <p:cNvPr id="6" name="Text 6"/>
          <p:cNvSpPr txBox="1"/>
          <p:nvPr/>
        </p:nvSpPr>
        <p:spPr>
          <a:xfrm>
            <a:off x="11430000" y="6547104"/>
            <a:ext cx="365760" cy="256032"/>
          </a:xfrm>
          <a:prstGeom prst="rect">
            <a:avLst/>
          </a:prstGeom>
          <a:noFill/>
          <a:ln/>
        </p:spPr>
        <p:txBody>
          <a:bodyPr wrap="square" rtlCol="0" anchor="ctr"/>
          <a:lstStyle/>
          <a:p>
            <a:pPr marL="0" indent="0" algn="r">
              <a:buNone/>
            </a:pPr>
            <a:r>
              <a:rPr lang="en-US" sz="900" kern="0" dirty="0">
                <a:solidFill>
                  <a:srgbClr val="5B6B7B"/>
                </a:solidFill>
                <a:latin typeface="Calibri" pitchFamily="34" charset="0"/>
                <a:ea typeface="Calibri" pitchFamily="34" charset="-122"/>
                <a:cs typeface="Calibri" pitchFamily="34" charset="-120"/>
              </a:rPr>
              <a:t>12</a:t>
            </a:r>
          </a:p>
        </p:txBody>
      </p:sp>
      <p:pic>
        <p:nvPicPr>
          <p:cNvPr id="7" name="Image 7" descr="Training loss per step and validation loss per epoch"/>
          <p:cNvPicPr>
            <a:picLocks noChangeAspect="1"/>
          </p:cNvPicPr>
          <p:nvPr/>
        </p:nvPicPr>
        <p:blipFill>
          <a:blip r:embed="rId2"/>
          <a:stretch>
            <a:fillRect/>
          </a:stretch>
        </p:blipFill>
        <p:spPr>
          <a:xfrm>
            <a:off x="457200" y="1737360"/>
            <a:ext cx="6400800" cy="1991839"/>
          </a:xfrm>
          <a:prstGeom prst="rect">
            <a:avLst/>
          </a:prstGeom>
        </p:spPr>
      </p:pic>
      <p:sp>
        <p:nvSpPr>
          <p:cNvPr id="8" name="Text 8"/>
          <p:cNvSpPr txBox="1"/>
          <p:nvPr/>
        </p:nvSpPr>
        <p:spPr>
          <a:xfrm>
            <a:off x="457200" y="3784063"/>
            <a:ext cx="6400800" cy="256032"/>
          </a:xfrm>
          <a:prstGeom prst="rect">
            <a:avLst/>
          </a:prstGeom>
          <a:noFill/>
          <a:ln/>
        </p:spPr>
        <p:txBody>
          <a:bodyPr wrap="square" rtlCol="0" anchor="ctr"/>
          <a:lstStyle/>
          <a:p>
            <a:pPr marL="0" indent="0" algn="l">
              <a:buNone/>
            </a:pPr>
            <a:r>
              <a:rPr lang="en-US" sz="1000" b="1" kern="0" spc="100" dirty="0">
                <a:solidFill>
                  <a:srgbClr val="E07A3E"/>
                </a:solidFill>
                <a:latin typeface="Calibri" pitchFamily="34" charset="0"/>
                <a:ea typeface="Calibri" pitchFamily="34" charset="-122"/>
                <a:cs typeface="Calibri" pitchFamily="34" charset="-120"/>
              </a:rPr>
              <a:t>FIGURE 9  ·  LEARNING CURVES</a:t>
            </a:r>
            <a:r>
              <a:rPr lang="en-US" sz="1000" kern="0" dirty="0">
                <a:solidFill>
                  <a:srgbClr val="5B6B7B"/>
                </a:solidFill>
                <a:latin typeface="Calibri" pitchFamily="34" charset="0"/>
                <a:ea typeface="Calibri" pitchFamily="34" charset="-122"/>
                <a:cs typeface="Calibri" pitchFamily="34" charset="-120"/>
              </a:rPr>
              <a:t>   best validation loss 0.864 at epoch 5</a:t>
            </a:r>
          </a:p>
        </p:txBody>
      </p:sp>
      <p:graphicFrame>
        <p:nvGraphicFramePr>
          <p:cNvPr id="9" name="Table 9"/>
          <p:cNvGraphicFramePr>
            <a:graphicFrameLocks noGrp="1"/>
          </p:cNvGraphicFramePr>
          <p:nvPr/>
        </p:nvGraphicFramePr>
        <p:xfrm>
          <a:off x="457200" y="4140679"/>
          <a:ext cx="6400800" cy="1920240"/>
        </p:xfrm>
        <a:graphic>
          <a:graphicData uri="http://schemas.openxmlformats.org/drawingml/2006/table">
            <a:tbl>
              <a:tblPr/>
              <a:tblGrid>
                <a:gridCol w="32918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384048">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Metric (81 test questions)</a:t>
                      </a:r>
                    </a:p>
                  </a:txBody>
                  <a:tcPr marL="73152" marR="73152" marT="27432" marB="27432"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132743"/>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Base</a:t>
                      </a:r>
                    </a:p>
                  </a:txBody>
                  <a:tcPr marL="73152" marR="73152" marT="27432" marB="27432"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132743"/>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Fine-tuned</a:t>
                      </a:r>
                    </a:p>
                  </a:txBody>
                  <a:tcPr marL="73152" marR="73152" marT="27432" marB="27432"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132743"/>
                    </a:solidFill>
                  </a:tcPr>
                </a:tc>
                <a:extLst>
                  <a:ext uri="{0D108BD9-81ED-4DB2-BD59-A6C34878D82A}">
                    <a16:rowId xmlns:a16="http://schemas.microsoft.com/office/drawing/2014/main" val="10000"/>
                  </a:ext>
                </a:extLst>
              </a:tr>
              <a:tr h="384048">
                <a:tc>
                  <a:txBody>
                    <a:bodyPr/>
                    <a:lstStyle/>
                    <a:p>
                      <a:pPr marL="0" indent="0" algn="l">
                        <a:buNone/>
                      </a:pPr>
                      <a:r>
                        <a:rPr lang="en-US" sz="1100" dirty="0">
                          <a:solidFill>
                            <a:srgbClr val="1B2733"/>
                          </a:solidFill>
                          <a:latin typeface="Calibri" pitchFamily="34" charset="0"/>
                          <a:ea typeface="Calibri" pitchFamily="34" charset="-122"/>
                          <a:cs typeface="Calibri" pitchFamily="34" charset="-120"/>
                        </a:rPr>
                        <a:t>BLEU</a:t>
                      </a:r>
                    </a:p>
                  </a:txBody>
                  <a:tcPr marL="73152" marR="73152" marT="27432" marB="27432"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733"/>
                          </a:solidFill>
                          <a:latin typeface="Calibri" pitchFamily="34" charset="0"/>
                          <a:ea typeface="Calibri" pitchFamily="34" charset="-122"/>
                          <a:cs typeface="Calibri" pitchFamily="34" charset="-120"/>
                        </a:rPr>
                        <a:t>0.00</a:t>
                      </a:r>
                    </a:p>
                  </a:txBody>
                  <a:tcPr marL="73152" marR="73152" marT="27432" marB="27432"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c>
                  <a:txBody>
                    <a:bodyPr/>
                    <a:lstStyle/>
                    <a:p>
                      <a:pPr marL="0" indent="0" algn="l">
                        <a:buNone/>
                      </a:pPr>
                      <a:r>
                        <a:rPr lang="en-US" sz="1100" b="1" dirty="0">
                          <a:solidFill>
                            <a:srgbClr val="1B2733"/>
                          </a:solidFill>
                          <a:latin typeface="Calibri" pitchFamily="34" charset="0"/>
                          <a:ea typeface="Calibri" pitchFamily="34" charset="-122"/>
                          <a:cs typeface="Calibri" pitchFamily="34" charset="-120"/>
                        </a:rPr>
                        <a:t>14.70</a:t>
                      </a:r>
                    </a:p>
                  </a:txBody>
                  <a:tcPr marL="73152" marR="73152" marT="27432" marB="27432"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100" dirty="0">
                          <a:solidFill>
                            <a:srgbClr val="1B2733"/>
                          </a:solidFill>
                          <a:latin typeface="Calibri" pitchFamily="34" charset="0"/>
                          <a:ea typeface="Calibri" pitchFamily="34" charset="-122"/>
                          <a:cs typeface="Calibri" pitchFamily="34" charset="-120"/>
                        </a:rPr>
                        <a:t>ROUGE-L (F)</a:t>
                      </a:r>
                    </a:p>
                  </a:txBody>
                  <a:tcPr marL="73152" marR="73152" marT="27432" marB="27432"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5F7F9"/>
                    </a:solidFill>
                  </a:tcPr>
                </a:tc>
                <a:tc>
                  <a:txBody>
                    <a:bodyPr/>
                    <a:lstStyle/>
                    <a:p>
                      <a:pPr marL="0" indent="0" algn="l">
                        <a:buNone/>
                      </a:pPr>
                      <a:r>
                        <a:rPr lang="en-US" sz="1100" dirty="0">
                          <a:solidFill>
                            <a:srgbClr val="1B2733"/>
                          </a:solidFill>
                          <a:latin typeface="Calibri" pitchFamily="34" charset="0"/>
                          <a:ea typeface="Calibri" pitchFamily="34" charset="-122"/>
                          <a:cs typeface="Calibri" pitchFamily="34" charset="-120"/>
                        </a:rPr>
                        <a:t>0.006</a:t>
                      </a:r>
                    </a:p>
                  </a:txBody>
                  <a:tcPr marL="73152" marR="73152" marT="27432" marB="27432"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5F7F9"/>
                    </a:solidFill>
                  </a:tcPr>
                </a:tc>
                <a:tc>
                  <a:txBody>
                    <a:bodyPr/>
                    <a:lstStyle/>
                    <a:p>
                      <a:pPr marL="0" indent="0" algn="l">
                        <a:buNone/>
                      </a:pPr>
                      <a:r>
                        <a:rPr lang="en-US" sz="1100" b="1" dirty="0">
                          <a:solidFill>
                            <a:srgbClr val="1B2733"/>
                          </a:solidFill>
                          <a:latin typeface="Calibri" pitchFamily="34" charset="0"/>
                          <a:ea typeface="Calibri" pitchFamily="34" charset="-122"/>
                          <a:cs typeface="Calibri" pitchFamily="34" charset="-120"/>
                        </a:rPr>
                        <a:t>0.267</a:t>
                      </a:r>
                    </a:p>
                  </a:txBody>
                  <a:tcPr marL="73152" marR="73152" marT="27432" marB="27432"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5F7F9"/>
                    </a:solidFill>
                  </a:tcPr>
                </a:tc>
                <a:extLst>
                  <a:ext uri="{0D108BD9-81ED-4DB2-BD59-A6C34878D82A}">
                    <a16:rowId xmlns:a16="http://schemas.microsoft.com/office/drawing/2014/main" val="10002"/>
                  </a:ext>
                </a:extLst>
              </a:tr>
              <a:tr h="384048">
                <a:tc>
                  <a:txBody>
                    <a:bodyPr/>
                    <a:lstStyle/>
                    <a:p>
                      <a:pPr marL="0" indent="0" algn="l">
                        <a:buNone/>
                      </a:pPr>
                      <a:r>
                        <a:rPr lang="en-US" sz="1100" dirty="0">
                          <a:solidFill>
                            <a:srgbClr val="1B2733"/>
                          </a:solidFill>
                          <a:latin typeface="Calibri" pitchFamily="34" charset="0"/>
                          <a:ea typeface="Calibri" pitchFamily="34" charset="-122"/>
                          <a:cs typeface="Calibri" pitchFamily="34" charset="-120"/>
                        </a:rPr>
                        <a:t>Embedding cosine similarity</a:t>
                      </a:r>
                    </a:p>
                  </a:txBody>
                  <a:tcPr marL="73152" marR="73152" marT="27432" marB="27432"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733"/>
                          </a:solidFill>
                          <a:latin typeface="Calibri" pitchFamily="34" charset="0"/>
                          <a:ea typeface="Calibri" pitchFamily="34" charset="-122"/>
                          <a:cs typeface="Calibri" pitchFamily="34" charset="-120"/>
                        </a:rPr>
                        <a:t>0.067</a:t>
                      </a:r>
                    </a:p>
                  </a:txBody>
                  <a:tcPr marL="73152" marR="73152" marT="27432" marB="27432"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c>
                  <a:txBody>
                    <a:bodyPr/>
                    <a:lstStyle/>
                    <a:p>
                      <a:pPr marL="0" indent="0" algn="l">
                        <a:buNone/>
                      </a:pPr>
                      <a:r>
                        <a:rPr lang="en-US" sz="1100" b="1" dirty="0">
                          <a:solidFill>
                            <a:srgbClr val="1B2733"/>
                          </a:solidFill>
                          <a:latin typeface="Calibri" pitchFamily="34" charset="0"/>
                          <a:ea typeface="Calibri" pitchFamily="34" charset="-122"/>
                          <a:cs typeface="Calibri" pitchFamily="34" charset="-120"/>
                        </a:rPr>
                        <a:t>0.517</a:t>
                      </a:r>
                    </a:p>
                  </a:txBody>
                  <a:tcPr marL="73152" marR="73152" marT="27432" marB="27432"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1100" dirty="0">
                          <a:solidFill>
                            <a:srgbClr val="1B2733"/>
                          </a:solidFill>
                          <a:latin typeface="Calibri" pitchFamily="34" charset="0"/>
                          <a:ea typeface="Calibri" pitchFamily="34" charset="-122"/>
                          <a:cs typeface="Calibri" pitchFamily="34" charset="-120"/>
                        </a:rPr>
                        <a:t>Perplexity of reference answers</a:t>
                      </a:r>
                    </a:p>
                  </a:txBody>
                  <a:tcPr marL="73152" marR="73152" marT="27432" marB="27432"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5F7F9"/>
                    </a:solidFill>
                  </a:tcPr>
                </a:tc>
                <a:tc>
                  <a:txBody>
                    <a:bodyPr/>
                    <a:lstStyle/>
                    <a:p>
                      <a:pPr marL="0" indent="0" algn="l">
                        <a:buNone/>
                      </a:pPr>
                      <a:r>
                        <a:rPr lang="en-US" sz="1100" dirty="0">
                          <a:solidFill>
                            <a:srgbClr val="1B2733"/>
                          </a:solidFill>
                          <a:latin typeface="Calibri" pitchFamily="34" charset="0"/>
                          <a:ea typeface="Calibri" pitchFamily="34" charset="-122"/>
                          <a:cs typeface="Calibri" pitchFamily="34" charset="-120"/>
                        </a:rPr>
                        <a:t>41.1</a:t>
                      </a:r>
                    </a:p>
                  </a:txBody>
                  <a:tcPr marL="73152" marR="73152" marT="27432" marB="27432"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5F7F9"/>
                    </a:solidFill>
                  </a:tcPr>
                </a:tc>
                <a:tc>
                  <a:txBody>
                    <a:bodyPr/>
                    <a:lstStyle/>
                    <a:p>
                      <a:pPr marL="0" indent="0" algn="l">
                        <a:buNone/>
                      </a:pPr>
                      <a:r>
                        <a:rPr lang="en-US" sz="1100" b="1" dirty="0">
                          <a:solidFill>
                            <a:srgbClr val="1B2733"/>
                          </a:solidFill>
                          <a:latin typeface="Calibri" pitchFamily="34" charset="0"/>
                          <a:ea typeface="Calibri" pitchFamily="34" charset="-122"/>
                          <a:cs typeface="Calibri" pitchFamily="34" charset="-120"/>
                        </a:rPr>
                        <a:t>2.48</a:t>
                      </a:r>
                    </a:p>
                  </a:txBody>
                  <a:tcPr marL="73152" marR="73152" marT="27432" marB="27432"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5F7F9"/>
                    </a:solidFill>
                  </a:tcPr>
                </a:tc>
                <a:extLst>
                  <a:ext uri="{0D108BD9-81ED-4DB2-BD59-A6C34878D82A}">
                    <a16:rowId xmlns:a16="http://schemas.microsoft.com/office/drawing/2014/main" val="10004"/>
                  </a:ext>
                </a:extLst>
              </a:tr>
            </a:tbl>
          </a:graphicData>
        </a:graphic>
      </p:graphicFrame>
      <p:sp>
        <p:nvSpPr>
          <p:cNvPr id="10" name="Shape 10"/>
          <p:cNvSpPr/>
          <p:nvPr/>
        </p:nvSpPr>
        <p:spPr>
          <a:xfrm>
            <a:off x="7315200" y="1691640"/>
            <a:ext cx="2148840" cy="1097280"/>
          </a:xfrm>
          <a:prstGeom prst="rect">
            <a:avLst/>
          </a:prstGeom>
          <a:solidFill>
            <a:srgbClr val="F5F7F9"/>
          </a:solidFill>
          <a:ln/>
        </p:spPr>
      </p:sp>
      <p:sp>
        <p:nvSpPr>
          <p:cNvPr id="11" name="Text 11"/>
          <p:cNvSpPr txBox="1"/>
          <p:nvPr/>
        </p:nvSpPr>
        <p:spPr>
          <a:xfrm>
            <a:off x="7406640" y="1764792"/>
            <a:ext cx="1965960" cy="570586"/>
          </a:xfrm>
          <a:prstGeom prst="rect">
            <a:avLst/>
          </a:prstGeom>
          <a:noFill/>
          <a:ln/>
        </p:spPr>
        <p:txBody>
          <a:bodyPr wrap="square" rtlCol="0" anchor="ctr"/>
          <a:lstStyle/>
          <a:p>
            <a:pPr marL="0" indent="0" algn="l">
              <a:buNone/>
            </a:pPr>
            <a:r>
              <a:rPr lang="en-US" sz="2400" b="1" kern="0" dirty="0">
                <a:solidFill>
                  <a:srgbClr val="132743"/>
                </a:solidFill>
                <a:latin typeface="Calibri" pitchFamily="34" charset="0"/>
                <a:ea typeface="Calibri" pitchFamily="34" charset="-122"/>
                <a:cs typeface="Calibri" pitchFamily="34" charset="-120"/>
              </a:rPr>
              <a:t>41.1 → 2.48</a:t>
            </a:r>
          </a:p>
        </p:txBody>
      </p:sp>
      <p:sp>
        <p:nvSpPr>
          <p:cNvPr id="12" name="Text 12"/>
          <p:cNvSpPr txBox="1"/>
          <p:nvPr/>
        </p:nvSpPr>
        <p:spPr>
          <a:xfrm>
            <a:off x="7406640" y="2328062"/>
            <a:ext cx="1965960" cy="416966"/>
          </a:xfrm>
          <a:prstGeom prst="rect">
            <a:avLst/>
          </a:prstGeom>
          <a:noFill/>
          <a:ln/>
        </p:spPr>
        <p:txBody>
          <a:bodyPr wrap="square" rtlCol="0" anchor="t"/>
          <a:lstStyle/>
          <a:p>
            <a:pPr marL="0" indent="0" algn="l">
              <a:buNone/>
            </a:pPr>
            <a:r>
              <a:rPr lang="en-US" sz="1050" kern="0" dirty="0">
                <a:solidFill>
                  <a:srgbClr val="5B6B7B"/>
                </a:solidFill>
                <a:latin typeface="Calibri" pitchFamily="34" charset="0"/>
                <a:ea typeface="Calibri" pitchFamily="34" charset="-122"/>
                <a:cs typeface="Calibri" pitchFamily="34" charset="-120"/>
              </a:rPr>
              <a:t>perplexity on reference answers</a:t>
            </a:r>
          </a:p>
        </p:txBody>
      </p:sp>
      <p:sp>
        <p:nvSpPr>
          <p:cNvPr id="13" name="Shape 13"/>
          <p:cNvSpPr/>
          <p:nvPr/>
        </p:nvSpPr>
        <p:spPr>
          <a:xfrm>
            <a:off x="9555480" y="1691640"/>
            <a:ext cx="2148840" cy="1097280"/>
          </a:xfrm>
          <a:prstGeom prst="rect">
            <a:avLst/>
          </a:prstGeom>
          <a:solidFill>
            <a:srgbClr val="F5F7F9"/>
          </a:solidFill>
          <a:ln/>
        </p:spPr>
      </p:sp>
      <p:sp>
        <p:nvSpPr>
          <p:cNvPr id="14" name="Text 14"/>
          <p:cNvSpPr txBox="1"/>
          <p:nvPr/>
        </p:nvSpPr>
        <p:spPr>
          <a:xfrm>
            <a:off x="9646920" y="1764792"/>
            <a:ext cx="1965960" cy="570586"/>
          </a:xfrm>
          <a:prstGeom prst="rect">
            <a:avLst/>
          </a:prstGeom>
          <a:noFill/>
          <a:ln/>
        </p:spPr>
        <p:txBody>
          <a:bodyPr wrap="square" rtlCol="0" anchor="ctr"/>
          <a:lstStyle/>
          <a:p>
            <a:pPr marL="0" indent="0" algn="l">
              <a:buNone/>
            </a:pPr>
            <a:r>
              <a:rPr lang="en-US" sz="2400" b="1" kern="0" dirty="0">
                <a:solidFill>
                  <a:srgbClr val="1F9E7A"/>
                </a:solidFill>
                <a:latin typeface="Calibri" pitchFamily="34" charset="0"/>
                <a:ea typeface="Calibri" pitchFamily="34" charset="-122"/>
                <a:cs typeface="Calibri" pitchFamily="34" charset="-120"/>
              </a:rPr>
              <a:t>34 s</a:t>
            </a:r>
          </a:p>
        </p:txBody>
      </p:sp>
      <p:sp>
        <p:nvSpPr>
          <p:cNvPr id="15" name="Text 15"/>
          <p:cNvSpPr txBox="1"/>
          <p:nvPr/>
        </p:nvSpPr>
        <p:spPr>
          <a:xfrm>
            <a:off x="9646920" y="2328062"/>
            <a:ext cx="1965960" cy="416966"/>
          </a:xfrm>
          <a:prstGeom prst="rect">
            <a:avLst/>
          </a:prstGeom>
          <a:noFill/>
          <a:ln/>
        </p:spPr>
        <p:txBody>
          <a:bodyPr wrap="square" rtlCol="0" anchor="t"/>
          <a:lstStyle/>
          <a:p>
            <a:pPr marL="0" indent="0" algn="l">
              <a:buNone/>
            </a:pPr>
            <a:r>
              <a:rPr lang="en-US" sz="1050" kern="0" dirty="0">
                <a:solidFill>
                  <a:srgbClr val="5B6B7B"/>
                </a:solidFill>
                <a:latin typeface="Calibri" pitchFamily="34" charset="0"/>
                <a:ea typeface="Calibri" pitchFamily="34" charset="-122"/>
                <a:cs typeface="Calibri" pitchFamily="34" charset="-120"/>
              </a:rPr>
              <a:t>LoRA training time (T4)</a:t>
            </a:r>
          </a:p>
        </p:txBody>
      </p:sp>
      <p:sp>
        <p:nvSpPr>
          <p:cNvPr id="16" name="Text 16"/>
          <p:cNvSpPr txBox="1"/>
          <p:nvPr/>
        </p:nvSpPr>
        <p:spPr>
          <a:xfrm>
            <a:off x="7315200" y="3017520"/>
            <a:ext cx="4389120" cy="3200400"/>
          </a:xfrm>
          <a:prstGeom prst="rect">
            <a:avLst/>
          </a:prstGeom>
          <a:noFill/>
          <a:ln/>
        </p:spPr>
        <p:txBody>
          <a:bodyPr wrap="square" rtlCol="0" anchor="t"/>
          <a:lstStyle/>
          <a:p>
            <a:pPr marL="171450" indent="-171450" algn="l">
              <a:spcAft>
                <a:spcPts val="600"/>
              </a:spcAft>
              <a:buFont typeface="Arial"/>
              <a:buChar char="•"/>
            </a:pPr>
            <a:r>
              <a:rPr lang="en-US" sz="1150" b="1" kern="0" dirty="0">
                <a:solidFill>
                  <a:srgbClr val="132743"/>
                </a:solidFill>
                <a:latin typeface="Calibri" pitchFamily="34" charset="0"/>
                <a:ea typeface="Calibri" pitchFamily="34" charset="-122"/>
                <a:cs typeface="Calibri" pitchFamily="34" charset="-120"/>
              </a:rPr>
              <a:t>Learned: </a:t>
            </a:r>
            <a:r>
              <a:rPr lang="en-US" sz="1150" kern="0" dirty="0">
                <a:solidFill>
                  <a:srgbClr val="1B2733"/>
                </a:solidFill>
                <a:latin typeface="Calibri" pitchFamily="34" charset="0"/>
                <a:ea typeface="Calibri" pitchFamily="34" charset="-122"/>
                <a:cs typeface="Calibri" pitchFamily="34" charset="-120"/>
              </a:rPr>
              <a:t>the style, vocabulary and clean endings of ShopEase answers.</a:t>
            </a:r>
          </a:p>
          <a:p>
            <a:pPr marL="171450" indent="-171450" algn="l">
              <a:spcAft>
                <a:spcPts val="600"/>
              </a:spcAft>
              <a:buFont typeface="Arial"/>
              <a:buChar char="•"/>
            </a:pPr>
            <a:r>
              <a:rPr lang="en-US" sz="1150" b="1" kern="0" dirty="0">
                <a:solidFill>
                  <a:srgbClr val="132743"/>
                </a:solidFill>
                <a:latin typeface="Calibri" pitchFamily="34" charset="0"/>
                <a:ea typeface="Calibri" pitchFamily="34" charset="-122"/>
                <a:cs typeface="Calibri" pitchFamily="34" charset="-120"/>
              </a:rPr>
              <a:t>Plateau: </a:t>
            </a:r>
            <a:r>
              <a:rPr lang="en-US" sz="1150" kern="0" dirty="0">
                <a:solidFill>
                  <a:srgbClr val="1B2733"/>
                </a:solidFill>
                <a:latin typeface="Calibri" pitchFamily="34" charset="0"/>
                <a:ea typeface="Calibri" pitchFamily="34" charset="-122"/>
                <a:cs typeface="Calibri" pitchFamily="34" charset="-120"/>
              </a:rPr>
              <a:t>validation loss flattens by epoch 5 and early stopping never triggered; train loss (about 0.5) sits below validation (about 0.86).</a:t>
            </a:r>
          </a:p>
          <a:p>
            <a:pPr marL="171450" indent="-171450" algn="l">
              <a:buFont typeface="Arial"/>
              <a:buChar char="•"/>
            </a:pPr>
            <a:r>
              <a:rPr lang="en-US" sz="1150" b="1" kern="0" dirty="0">
                <a:solidFill>
                  <a:srgbClr val="E07A3E"/>
                </a:solidFill>
                <a:latin typeface="Calibri" pitchFamily="34" charset="0"/>
                <a:ea typeface="Calibri" pitchFamily="34" charset="-122"/>
                <a:cs typeface="Calibri" pitchFamily="34" charset="-120"/>
              </a:rPr>
              <a:t>Caution: </a:t>
            </a:r>
            <a:r>
              <a:rPr lang="en-US" sz="1150" kern="0" dirty="0">
                <a:solidFill>
                  <a:srgbClr val="1B2733"/>
                </a:solidFill>
                <a:latin typeface="Calibri" pitchFamily="34" charset="0"/>
                <a:ea typeface="Calibri" pitchFamily="34" charset="-122"/>
                <a:cs typeface="Calibri" pitchFamily="34" charset="-120"/>
              </a:rPr>
              <a:t>base answers were mostly empty (first-line truncation), so the BLEU and ROUGE gaps are overstated. Loss and perplexity are unaffected.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457200" y="320040"/>
            <a:ext cx="5486400" cy="274320"/>
          </a:xfrm>
          <a:prstGeom prst="rect">
            <a:avLst/>
          </a:prstGeom>
          <a:noFill/>
          <a:ln/>
        </p:spPr>
        <p:txBody>
          <a:bodyPr wrap="square" rtlCol="0" anchor="ctr"/>
          <a:lstStyle/>
          <a:p>
            <a:pPr marL="0" indent="0" algn="l">
              <a:buNone/>
            </a:pPr>
            <a:r>
              <a:rPr lang="en-US" sz="1100" b="1" kern="0" spc="150" dirty="0">
                <a:solidFill>
                  <a:srgbClr val="E07A3E"/>
                </a:solidFill>
                <a:latin typeface="Calibri" pitchFamily="34" charset="0"/>
                <a:ea typeface="Calibri" pitchFamily="34" charset="-122"/>
                <a:cs typeface="Calibri" pitchFamily="34" charset="-120"/>
              </a:rPr>
              <a:t>SLIDE 13 / MODULE 5 · EVIDENCE</a:t>
            </a:r>
          </a:p>
        </p:txBody>
      </p:sp>
      <p:sp>
        <p:nvSpPr>
          <p:cNvPr id="3" name="Text 3"/>
          <p:cNvSpPr txBox="1"/>
          <p:nvPr/>
        </p:nvSpPr>
        <p:spPr>
          <a:xfrm>
            <a:off x="457200" y="566928"/>
            <a:ext cx="11247120" cy="548640"/>
          </a:xfrm>
          <a:prstGeom prst="rect">
            <a:avLst/>
          </a:prstGeom>
          <a:noFill/>
          <a:ln/>
        </p:spPr>
        <p:txBody>
          <a:bodyPr wrap="square" rtlCol="0" anchor="ctr"/>
          <a:lstStyle/>
          <a:p>
            <a:pPr marL="0" indent="0" algn="l">
              <a:buNone/>
            </a:pPr>
            <a:r>
              <a:rPr lang="en-US" sz="2600" b="1" kern="0" dirty="0">
                <a:solidFill>
                  <a:srgbClr val="132743"/>
                </a:solidFill>
                <a:latin typeface="Calibri" pitchFamily="34" charset="0"/>
                <a:ea typeface="Calibri" pitchFamily="34" charset="-122"/>
                <a:cs typeface="Calibri" pitchFamily="34" charset="-120"/>
              </a:rPr>
              <a:t>Manual Evaluation on 10 Queries</a:t>
            </a:r>
          </a:p>
        </p:txBody>
      </p:sp>
      <p:sp>
        <p:nvSpPr>
          <p:cNvPr id="4" name="Text 4"/>
          <p:cNvSpPr txBox="1"/>
          <p:nvPr/>
        </p:nvSpPr>
        <p:spPr>
          <a:xfrm>
            <a:off x="457200" y="1078992"/>
            <a:ext cx="11247120" cy="384048"/>
          </a:xfrm>
          <a:prstGeom prst="rect">
            <a:avLst/>
          </a:prstGeom>
          <a:noFill/>
          <a:ln/>
        </p:spPr>
        <p:txBody>
          <a:bodyPr wrap="square" rtlCol="0" anchor="ctr"/>
          <a:lstStyle/>
          <a:p>
            <a:pPr marL="0" indent="0" algn="l">
              <a:buNone/>
            </a:pPr>
            <a:r>
              <a:rPr lang="en-US" sz="1300" kern="0" dirty="0">
                <a:solidFill>
                  <a:srgbClr val="5B6B7B"/>
                </a:solidFill>
                <a:latin typeface="Calibri" pitchFamily="34" charset="0"/>
                <a:ea typeface="Calibri" pitchFamily="34" charset="-122"/>
                <a:cs typeface="Calibri" pitchFamily="34" charset="-120"/>
              </a:rPr>
              <a:t>Fine-tuned model: 4 correct, 1 partly correct, 5 wrong. The base model returned empty output for all 10.</a:t>
            </a:r>
          </a:p>
        </p:txBody>
      </p:sp>
      <p:sp>
        <p:nvSpPr>
          <p:cNvPr id="5" name="Text 5"/>
          <p:cNvSpPr txBox="1"/>
          <p:nvPr/>
        </p:nvSpPr>
        <p:spPr>
          <a:xfrm>
            <a:off x="457200" y="6547104"/>
            <a:ext cx="8686800" cy="256032"/>
          </a:xfrm>
          <a:prstGeom prst="rect">
            <a:avLst/>
          </a:prstGeom>
          <a:noFill/>
          <a:ln/>
        </p:spPr>
        <p:txBody>
          <a:bodyPr wrap="square" rtlCol="0" anchor="ctr"/>
          <a:lstStyle/>
          <a:p>
            <a:pPr marL="0" indent="0" algn="l">
              <a:buNone/>
            </a:pPr>
            <a:r>
              <a:rPr lang="en-US" sz="900" kern="0" dirty="0">
                <a:solidFill>
                  <a:srgbClr val="5B6B7B"/>
                </a:solidFill>
                <a:latin typeface="Calibri" pitchFamily="34" charset="0"/>
                <a:ea typeface="Calibri" pitchFamily="34" charset="-122"/>
                <a:cs typeface="Calibri" pitchFamily="34" charset="-120"/>
              </a:rPr>
              <a:t>Module 5: Fine-Tuning a Small LLM for Customer-Support FAQs  |  Gitarani Mohanty</a:t>
            </a:r>
          </a:p>
        </p:txBody>
      </p:sp>
      <p:sp>
        <p:nvSpPr>
          <p:cNvPr id="6" name="Text 6"/>
          <p:cNvSpPr txBox="1"/>
          <p:nvPr/>
        </p:nvSpPr>
        <p:spPr>
          <a:xfrm>
            <a:off x="11430000" y="6547104"/>
            <a:ext cx="365760" cy="256032"/>
          </a:xfrm>
          <a:prstGeom prst="rect">
            <a:avLst/>
          </a:prstGeom>
          <a:noFill/>
          <a:ln/>
        </p:spPr>
        <p:txBody>
          <a:bodyPr wrap="square" rtlCol="0" anchor="ctr"/>
          <a:lstStyle/>
          <a:p>
            <a:pPr marL="0" indent="0" algn="r">
              <a:buNone/>
            </a:pPr>
            <a:r>
              <a:rPr lang="en-US" sz="900" kern="0" dirty="0">
                <a:solidFill>
                  <a:srgbClr val="5B6B7B"/>
                </a:solidFill>
                <a:latin typeface="Calibri" pitchFamily="34" charset="0"/>
                <a:ea typeface="Calibri" pitchFamily="34" charset="-122"/>
                <a:cs typeface="Calibri" pitchFamily="34" charset="-120"/>
              </a:rPr>
              <a:t>13</a:t>
            </a:r>
          </a:p>
        </p:txBody>
      </p:sp>
      <p:graphicFrame>
        <p:nvGraphicFramePr>
          <p:cNvPr id="7" name="Table 7"/>
          <p:cNvGraphicFramePr>
            <a:graphicFrameLocks noGrp="1"/>
          </p:cNvGraphicFramePr>
          <p:nvPr/>
        </p:nvGraphicFramePr>
        <p:xfrm>
          <a:off x="457200" y="1645920"/>
          <a:ext cx="11247120" cy="4626864"/>
        </p:xfrm>
        <a:graphic>
          <a:graphicData uri="http://schemas.openxmlformats.org/drawingml/2006/table">
            <a:tbl>
              <a:tblPr/>
              <a:tblGrid>
                <a:gridCol w="411480">
                  <a:extLst>
                    <a:ext uri="{9D8B030D-6E8A-4147-A177-3AD203B41FA5}">
                      <a16:colId xmlns:a16="http://schemas.microsoft.com/office/drawing/2014/main" val="20000"/>
                    </a:ext>
                  </a:extLst>
                </a:gridCol>
                <a:gridCol w="3246120">
                  <a:extLst>
                    <a:ext uri="{9D8B030D-6E8A-4147-A177-3AD203B41FA5}">
                      <a16:colId xmlns:a16="http://schemas.microsoft.com/office/drawing/2014/main" val="20001"/>
                    </a:ext>
                  </a:extLst>
                </a:gridCol>
                <a:gridCol w="502920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tblGrid>
              <a:tr h="420624">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a:t>
                      </a:r>
                    </a:p>
                  </a:txBody>
                  <a:tcPr marL="73152" marR="73152" marT="27432" marB="27432"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132743"/>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Query</a:t>
                      </a:r>
                    </a:p>
                  </a:txBody>
                  <a:tcPr marL="73152" marR="73152" marT="27432" marB="27432"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132743"/>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Fine-tuned answer (shortened)</a:t>
                      </a:r>
                    </a:p>
                  </a:txBody>
                  <a:tcPr marL="73152" marR="73152" marT="27432" marB="27432"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132743"/>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Verdict</a:t>
                      </a:r>
                    </a:p>
                  </a:txBody>
                  <a:tcPr marL="73152" marR="73152" marT="27432" marB="27432"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132743"/>
                    </a:solidFill>
                  </a:tcPr>
                </a:tc>
                <a:extLst>
                  <a:ext uri="{0D108BD9-81ED-4DB2-BD59-A6C34878D82A}">
                    <a16:rowId xmlns:a16="http://schemas.microsoft.com/office/drawing/2014/main" val="10000"/>
                  </a:ext>
                </a:extLst>
              </a:tr>
              <a:tr h="420624">
                <a:tc>
                  <a:txBody>
                    <a:bodyPr/>
                    <a:lstStyle/>
                    <a:p>
                      <a:pPr marL="0" indent="0" algn="l">
                        <a:buNone/>
                      </a:pPr>
                      <a:r>
                        <a:rPr lang="en-US" sz="1050" dirty="0">
                          <a:solidFill>
                            <a:srgbClr val="1B2733"/>
                          </a:solidFill>
                          <a:latin typeface="Calibri" pitchFamily="34" charset="0"/>
                          <a:ea typeface="Calibri" pitchFamily="34" charset="-122"/>
                          <a:cs typeface="Calibri" pitchFamily="34" charset="-120"/>
                        </a:rPr>
                        <a:t>1</a:t>
                      </a:r>
                    </a:p>
                  </a:txBody>
                  <a:tcPr marL="73152" marR="73152" marT="27432" marB="27432"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B2733"/>
                          </a:solidFill>
                          <a:latin typeface="Calibri" pitchFamily="34" charset="0"/>
                          <a:ea typeface="Calibri" pitchFamily="34" charset="-122"/>
                          <a:cs typeface="Calibri" pitchFamily="34" charset="-120"/>
                        </a:rPr>
                        <a:t>Can I return a product after 30 days?</a:t>
                      </a:r>
                    </a:p>
                  </a:txBody>
                  <a:tcPr marL="73152" marR="73152" marT="27432" marB="27432"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B2733"/>
                          </a:solidFill>
                          <a:latin typeface="Calibri" pitchFamily="34" charset="0"/>
                          <a:ea typeface="Calibri" pitchFamily="34" charset="-122"/>
                          <a:cs typeface="Calibri" pitchFamily="34" charset="-120"/>
                        </a:rPr>
                        <a:t>Items must be unused, in original packaging, with tags attached…</a:t>
                      </a:r>
                    </a:p>
                  </a:txBody>
                  <a:tcPr marL="73152" marR="73152" marT="27432" marB="27432"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c>
                  <a:txBody>
                    <a:bodyPr/>
                    <a:lstStyle/>
                    <a:p>
                      <a:pPr marL="0" indent="0" algn="l">
                        <a:buNone/>
                      </a:pPr>
                      <a:r>
                        <a:rPr lang="en-US" sz="1050" b="1" dirty="0">
                          <a:solidFill>
                            <a:srgbClr val="E07A3E"/>
                          </a:solidFill>
                          <a:latin typeface="Calibri" pitchFamily="34" charset="0"/>
                          <a:ea typeface="Calibri" pitchFamily="34" charset="-122"/>
                          <a:cs typeface="Calibri" pitchFamily="34" charset="-120"/>
                        </a:rPr>
                        <a:t>Partly: no 30-day limit</a:t>
                      </a:r>
                    </a:p>
                  </a:txBody>
                  <a:tcPr marL="73152" marR="73152" marT="27432" marB="27432"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lgn="l">
                        <a:buNone/>
                      </a:pPr>
                      <a:r>
                        <a:rPr lang="en-US" sz="1050" dirty="0">
                          <a:solidFill>
                            <a:srgbClr val="1B2733"/>
                          </a:solidFill>
                          <a:latin typeface="Calibri" pitchFamily="34" charset="0"/>
                          <a:ea typeface="Calibri" pitchFamily="34" charset="-122"/>
                          <a:cs typeface="Calibri" pitchFamily="34" charset="-120"/>
                        </a:rPr>
                        <a:t>2</a:t>
                      </a:r>
                    </a:p>
                  </a:txBody>
                  <a:tcPr marL="73152" marR="73152" marT="27432" marB="27432"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5F7F9"/>
                    </a:solidFill>
                  </a:tcPr>
                </a:tc>
                <a:tc>
                  <a:txBody>
                    <a:bodyPr/>
                    <a:lstStyle/>
                    <a:p>
                      <a:pPr marL="0" indent="0" algn="l">
                        <a:buNone/>
                      </a:pPr>
                      <a:r>
                        <a:rPr lang="en-US" sz="1050" dirty="0">
                          <a:solidFill>
                            <a:srgbClr val="1B2733"/>
                          </a:solidFill>
                          <a:latin typeface="Calibri" pitchFamily="34" charset="0"/>
                          <a:ea typeface="Calibri" pitchFamily="34" charset="-122"/>
                          <a:cs typeface="Calibri" pitchFamily="34" charset="-120"/>
                        </a:rPr>
                        <a:t>How do I track my order?</a:t>
                      </a:r>
                    </a:p>
                  </a:txBody>
                  <a:tcPr marL="73152" marR="73152" marT="27432" marB="27432"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5F7F9"/>
                    </a:solidFill>
                  </a:tcPr>
                </a:tc>
                <a:tc>
                  <a:txBody>
                    <a:bodyPr/>
                    <a:lstStyle/>
                    <a:p>
                      <a:pPr marL="0" indent="0" algn="l">
                        <a:buNone/>
                      </a:pPr>
                      <a:r>
                        <a:rPr lang="en-US" sz="1050" dirty="0">
                          <a:solidFill>
                            <a:srgbClr val="1B2733"/>
                          </a:solidFill>
                          <a:latin typeface="Calibri" pitchFamily="34" charset="0"/>
                          <a:ea typeface="Calibri" pitchFamily="34" charset="-122"/>
                          <a:cs typeface="Calibri" pitchFamily="34" charset="-120"/>
                        </a:rPr>
                        <a:t>…the tracking details are back in your spam folder.</a:t>
                      </a:r>
                    </a:p>
                  </a:txBody>
                  <a:tcPr marL="73152" marR="73152" marT="27432" marB="27432"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5F7F9"/>
                    </a:solidFill>
                  </a:tcPr>
                </a:tc>
                <a:tc>
                  <a:txBody>
                    <a:bodyPr/>
                    <a:lstStyle/>
                    <a:p>
                      <a:pPr marL="0" indent="0" algn="l">
                        <a:buNone/>
                      </a:pPr>
                      <a:r>
                        <a:rPr lang="en-US" sz="1050" b="1" dirty="0">
                          <a:solidFill>
                            <a:srgbClr val="C44536"/>
                          </a:solidFill>
                          <a:latin typeface="Calibri" pitchFamily="34" charset="0"/>
                          <a:ea typeface="Calibri" pitchFamily="34" charset="-122"/>
                          <a:cs typeface="Calibri" pitchFamily="34" charset="-120"/>
                        </a:rPr>
                        <a:t>Wrong: invented</a:t>
                      </a:r>
                    </a:p>
                  </a:txBody>
                  <a:tcPr marL="73152" marR="73152" marT="27432" marB="27432"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5F7F9"/>
                    </a:solidFill>
                  </a:tcPr>
                </a:tc>
                <a:extLst>
                  <a:ext uri="{0D108BD9-81ED-4DB2-BD59-A6C34878D82A}">
                    <a16:rowId xmlns:a16="http://schemas.microsoft.com/office/drawing/2014/main" val="10002"/>
                  </a:ext>
                </a:extLst>
              </a:tr>
              <a:tr h="420624">
                <a:tc>
                  <a:txBody>
                    <a:bodyPr/>
                    <a:lstStyle/>
                    <a:p>
                      <a:pPr marL="0" indent="0" algn="l">
                        <a:buNone/>
                      </a:pPr>
                      <a:r>
                        <a:rPr lang="en-US" sz="1050" dirty="0">
                          <a:solidFill>
                            <a:srgbClr val="1B2733"/>
                          </a:solidFill>
                          <a:latin typeface="Calibri" pitchFamily="34" charset="0"/>
                          <a:ea typeface="Calibri" pitchFamily="34" charset="-122"/>
                          <a:cs typeface="Calibri" pitchFamily="34" charset="-120"/>
                        </a:rPr>
                        <a:t>3</a:t>
                      </a:r>
                    </a:p>
                  </a:txBody>
                  <a:tcPr marL="73152" marR="73152" marT="27432" marB="27432"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B2733"/>
                          </a:solidFill>
                          <a:latin typeface="Calibri" pitchFamily="34" charset="0"/>
                          <a:ea typeface="Calibri" pitchFamily="34" charset="-122"/>
                          <a:cs typeface="Calibri" pitchFamily="34" charset="-120"/>
                        </a:rPr>
                        <a:t>My package arrived broken, what should I do?</a:t>
                      </a:r>
                    </a:p>
                  </a:txBody>
                  <a:tcPr marL="73152" marR="73152" marT="27432" marB="27432"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B2733"/>
                          </a:solidFill>
                          <a:latin typeface="Calibri" pitchFamily="34" charset="0"/>
                          <a:ea typeface="Calibri" pitchFamily="34" charset="-122"/>
                          <a:cs typeface="Calibri" pitchFamily="34" charset="-120"/>
                        </a:rPr>
                        <a:t>Report within 48 hours with a photo… free replacement or refund.</a:t>
                      </a:r>
                    </a:p>
                  </a:txBody>
                  <a:tcPr marL="73152" marR="73152" marT="27432" marB="27432"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c>
                  <a:txBody>
                    <a:bodyPr/>
                    <a:lstStyle/>
                    <a:p>
                      <a:pPr marL="0" indent="0" algn="l">
                        <a:buNone/>
                      </a:pPr>
                      <a:r>
                        <a:rPr lang="en-US" sz="1050" b="1" dirty="0">
                          <a:solidFill>
                            <a:srgbClr val="1F9E7A"/>
                          </a:solidFill>
                          <a:latin typeface="Calibri" pitchFamily="34" charset="0"/>
                          <a:ea typeface="Calibri" pitchFamily="34" charset="-122"/>
                          <a:cs typeface="Calibri" pitchFamily="34" charset="-120"/>
                        </a:rPr>
                        <a:t>Correct</a:t>
                      </a:r>
                    </a:p>
                  </a:txBody>
                  <a:tcPr marL="73152" marR="73152" marT="27432" marB="27432"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lgn="l">
                        <a:buNone/>
                      </a:pPr>
                      <a:r>
                        <a:rPr lang="en-US" sz="1050" dirty="0">
                          <a:solidFill>
                            <a:srgbClr val="1B2733"/>
                          </a:solidFill>
                          <a:latin typeface="Calibri" pitchFamily="34" charset="0"/>
                          <a:ea typeface="Calibri" pitchFamily="34" charset="-122"/>
                          <a:cs typeface="Calibri" pitchFamily="34" charset="-120"/>
                        </a:rPr>
                        <a:t>4</a:t>
                      </a:r>
                    </a:p>
                  </a:txBody>
                  <a:tcPr marL="73152" marR="73152" marT="27432" marB="27432"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5F7F9"/>
                    </a:solidFill>
                  </a:tcPr>
                </a:tc>
                <a:tc>
                  <a:txBody>
                    <a:bodyPr/>
                    <a:lstStyle/>
                    <a:p>
                      <a:pPr marL="0" indent="0" algn="l">
                        <a:buNone/>
                      </a:pPr>
                      <a:r>
                        <a:rPr lang="en-US" sz="1050" dirty="0">
                          <a:solidFill>
                            <a:srgbClr val="1B2733"/>
                          </a:solidFill>
                          <a:latin typeface="Calibri" pitchFamily="34" charset="0"/>
                          <a:ea typeface="Calibri" pitchFamily="34" charset="-122"/>
                          <a:cs typeface="Calibri" pitchFamily="34" charset="-120"/>
                        </a:rPr>
                        <a:t>Do you ship to Canada?</a:t>
                      </a:r>
                    </a:p>
                  </a:txBody>
                  <a:tcPr marL="73152" marR="73152" marT="27432" marB="27432"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5F7F9"/>
                    </a:solidFill>
                  </a:tcPr>
                </a:tc>
                <a:tc>
                  <a:txBody>
                    <a:bodyPr/>
                    <a:lstStyle/>
                    <a:p>
                      <a:pPr marL="0" indent="0" algn="l">
                        <a:buNone/>
                      </a:pPr>
                      <a:r>
                        <a:rPr lang="en-US" sz="1050" dirty="0">
                          <a:solidFill>
                            <a:srgbClr val="1B2733"/>
                          </a:solidFill>
                          <a:latin typeface="Calibri" pitchFamily="34" charset="0"/>
                          <a:ea typeface="Calibri" pitchFamily="34" charset="-122"/>
                          <a:cs typeface="Calibri" pitchFamily="34" charset="-120"/>
                        </a:rPr>
                        <a:t>We deliver to over 50 countries… takes 3-5 business days.</a:t>
                      </a:r>
                    </a:p>
                  </a:txBody>
                  <a:tcPr marL="73152" marR="73152" marT="27432" marB="27432"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5F7F9"/>
                    </a:solidFill>
                  </a:tcPr>
                </a:tc>
                <a:tc>
                  <a:txBody>
                    <a:bodyPr/>
                    <a:lstStyle/>
                    <a:p>
                      <a:pPr marL="0" indent="0" algn="l">
                        <a:buNone/>
                      </a:pPr>
                      <a:r>
                        <a:rPr lang="en-US" sz="1050" b="1" dirty="0">
                          <a:solidFill>
                            <a:srgbClr val="C44536"/>
                          </a:solidFill>
                          <a:latin typeface="Calibri" pitchFamily="34" charset="0"/>
                          <a:ea typeface="Calibri" pitchFamily="34" charset="-122"/>
                          <a:cs typeface="Calibri" pitchFamily="34" charset="-120"/>
                        </a:rPr>
                        <a:t>Wrong: facts (40+, 7–14 days)</a:t>
                      </a:r>
                    </a:p>
                  </a:txBody>
                  <a:tcPr marL="73152" marR="73152" marT="27432" marB="27432"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5F7F9"/>
                    </a:solidFill>
                  </a:tcPr>
                </a:tc>
                <a:extLst>
                  <a:ext uri="{0D108BD9-81ED-4DB2-BD59-A6C34878D82A}">
                    <a16:rowId xmlns:a16="http://schemas.microsoft.com/office/drawing/2014/main" val="10004"/>
                  </a:ext>
                </a:extLst>
              </a:tr>
              <a:tr h="420624">
                <a:tc>
                  <a:txBody>
                    <a:bodyPr/>
                    <a:lstStyle/>
                    <a:p>
                      <a:pPr marL="0" indent="0" algn="l">
                        <a:buNone/>
                      </a:pPr>
                      <a:r>
                        <a:rPr lang="en-US" sz="1050" dirty="0">
                          <a:solidFill>
                            <a:srgbClr val="1B2733"/>
                          </a:solidFill>
                          <a:latin typeface="Calibri" pitchFamily="34" charset="0"/>
                          <a:ea typeface="Calibri" pitchFamily="34" charset="-122"/>
                          <a:cs typeface="Calibri" pitchFamily="34" charset="-120"/>
                        </a:rPr>
                        <a:t>5</a:t>
                      </a:r>
                    </a:p>
                  </a:txBody>
                  <a:tcPr marL="73152" marR="73152" marT="27432" marB="27432"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B2733"/>
                          </a:solidFill>
                          <a:latin typeface="Calibri" pitchFamily="34" charset="0"/>
                          <a:ea typeface="Calibri" pitchFamily="34" charset="-122"/>
                          <a:cs typeface="Calibri" pitchFamily="34" charset="-120"/>
                        </a:rPr>
                        <a:t>I forgot my password, help!</a:t>
                      </a:r>
                    </a:p>
                  </a:txBody>
                  <a:tcPr marL="73152" marR="73152" marT="27432" marB="27432"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B2733"/>
                          </a:solidFill>
                          <a:latin typeface="Calibri" pitchFamily="34" charset="0"/>
                          <a:ea typeface="Calibri" pitchFamily="34" charset="-122"/>
                          <a:cs typeface="Calibri" pitchFamily="34" charset="-120"/>
                        </a:rPr>
                        <a:t>Click Forgot Password… we will send a reset link.</a:t>
                      </a:r>
                    </a:p>
                  </a:txBody>
                  <a:tcPr marL="73152" marR="73152" marT="27432" marB="27432"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c>
                  <a:txBody>
                    <a:bodyPr/>
                    <a:lstStyle/>
                    <a:p>
                      <a:pPr marL="0" indent="0" algn="l">
                        <a:buNone/>
                      </a:pPr>
                      <a:r>
                        <a:rPr lang="en-US" sz="1050" b="1" dirty="0">
                          <a:solidFill>
                            <a:srgbClr val="1F9E7A"/>
                          </a:solidFill>
                          <a:latin typeface="Calibri" pitchFamily="34" charset="0"/>
                          <a:ea typeface="Calibri" pitchFamily="34" charset="-122"/>
                          <a:cs typeface="Calibri" pitchFamily="34" charset="-120"/>
                        </a:rPr>
                        <a:t>Correct</a:t>
                      </a:r>
                    </a:p>
                  </a:txBody>
                  <a:tcPr marL="73152" marR="73152" marT="27432" marB="27432"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0624">
                <a:tc>
                  <a:txBody>
                    <a:bodyPr/>
                    <a:lstStyle/>
                    <a:p>
                      <a:pPr marL="0" indent="0" algn="l">
                        <a:buNone/>
                      </a:pPr>
                      <a:r>
                        <a:rPr lang="en-US" sz="1050" dirty="0">
                          <a:solidFill>
                            <a:srgbClr val="1B2733"/>
                          </a:solidFill>
                          <a:latin typeface="Calibri" pitchFamily="34" charset="0"/>
                          <a:ea typeface="Calibri" pitchFamily="34" charset="-122"/>
                          <a:cs typeface="Calibri" pitchFamily="34" charset="-120"/>
                        </a:rPr>
                        <a:t>6</a:t>
                      </a:r>
                    </a:p>
                  </a:txBody>
                  <a:tcPr marL="73152" marR="73152" marT="27432" marB="27432"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5F7F9"/>
                    </a:solidFill>
                  </a:tcPr>
                </a:tc>
                <a:tc>
                  <a:txBody>
                    <a:bodyPr/>
                    <a:lstStyle/>
                    <a:p>
                      <a:pPr marL="0" indent="0" algn="l">
                        <a:buNone/>
                      </a:pPr>
                      <a:r>
                        <a:rPr lang="en-US" sz="1050" dirty="0">
                          <a:solidFill>
                            <a:srgbClr val="1B2733"/>
                          </a:solidFill>
                          <a:latin typeface="Calibri" pitchFamily="34" charset="0"/>
                          <a:ea typeface="Calibri" pitchFamily="34" charset="-122"/>
                          <a:cs typeface="Calibri" pitchFamily="34" charset="-120"/>
                        </a:rPr>
                        <a:t>Is there free delivery?</a:t>
                      </a:r>
                    </a:p>
                  </a:txBody>
                  <a:tcPr marL="73152" marR="73152" marT="27432" marB="27432"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5F7F9"/>
                    </a:solidFill>
                  </a:tcPr>
                </a:tc>
                <a:tc>
                  <a:txBody>
                    <a:bodyPr/>
                    <a:lstStyle/>
                    <a:p>
                      <a:pPr marL="0" indent="0" algn="l">
                        <a:buNone/>
                      </a:pPr>
                      <a:r>
                        <a:rPr lang="en-US" sz="1050" dirty="0">
                          <a:solidFill>
                            <a:srgbClr val="1B2733"/>
                          </a:solidFill>
                          <a:latin typeface="Calibri" pitchFamily="34" charset="0"/>
                          <a:ea typeface="Calibri" pitchFamily="34" charset="-122"/>
                          <a:cs typeface="Calibri" pitchFamily="34" charset="-120"/>
                        </a:rPr>
                        <a:t>Standard orders can go to a PO box. Express needs a street address.</a:t>
                      </a:r>
                    </a:p>
                  </a:txBody>
                  <a:tcPr marL="73152" marR="73152" marT="27432" marB="27432"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5F7F9"/>
                    </a:solidFill>
                  </a:tcPr>
                </a:tc>
                <a:tc>
                  <a:txBody>
                    <a:bodyPr/>
                    <a:lstStyle/>
                    <a:p>
                      <a:pPr marL="0" indent="0" algn="l">
                        <a:buNone/>
                      </a:pPr>
                      <a:r>
                        <a:rPr lang="en-US" sz="1050" b="1" dirty="0">
                          <a:solidFill>
                            <a:srgbClr val="C44536"/>
                          </a:solidFill>
                          <a:latin typeface="Calibri" pitchFamily="34" charset="0"/>
                          <a:ea typeface="Calibri" pitchFamily="34" charset="-122"/>
                          <a:cs typeface="Calibri" pitchFamily="34" charset="-120"/>
                        </a:rPr>
                        <a:t>Wrong: other topic</a:t>
                      </a:r>
                    </a:p>
                  </a:txBody>
                  <a:tcPr marL="73152" marR="73152" marT="27432" marB="27432"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5F7F9"/>
                    </a:solidFill>
                  </a:tcPr>
                </a:tc>
                <a:extLst>
                  <a:ext uri="{0D108BD9-81ED-4DB2-BD59-A6C34878D82A}">
                    <a16:rowId xmlns:a16="http://schemas.microsoft.com/office/drawing/2014/main" val="10006"/>
                  </a:ext>
                </a:extLst>
              </a:tr>
              <a:tr h="420624">
                <a:tc>
                  <a:txBody>
                    <a:bodyPr/>
                    <a:lstStyle/>
                    <a:p>
                      <a:pPr marL="0" indent="0" algn="l">
                        <a:buNone/>
                      </a:pPr>
                      <a:r>
                        <a:rPr lang="en-US" sz="1050" dirty="0">
                          <a:solidFill>
                            <a:srgbClr val="1B2733"/>
                          </a:solidFill>
                          <a:latin typeface="Calibri" pitchFamily="34" charset="0"/>
                          <a:ea typeface="Calibri" pitchFamily="34" charset="-122"/>
                          <a:cs typeface="Calibri" pitchFamily="34" charset="-120"/>
                        </a:rPr>
                        <a:t>7</a:t>
                      </a:r>
                    </a:p>
                  </a:txBody>
                  <a:tcPr marL="73152" marR="73152" marT="27432" marB="27432"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B2733"/>
                          </a:solidFill>
                          <a:latin typeface="Calibri" pitchFamily="34" charset="0"/>
                          <a:ea typeface="Calibri" pitchFamily="34" charset="-122"/>
                          <a:cs typeface="Calibri" pitchFamily="34" charset="-120"/>
                        </a:rPr>
                        <a:t>Can I pay with PayPal?</a:t>
                      </a:r>
                    </a:p>
                  </a:txBody>
                  <a:tcPr marL="73152" marR="73152" marT="27432" marB="27432"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B2733"/>
                          </a:solidFill>
                          <a:latin typeface="Calibri" pitchFamily="34" charset="0"/>
                          <a:ea typeface="Calibri" pitchFamily="34" charset="-122"/>
                          <a:cs typeface="Calibri" pitchFamily="34" charset="-120"/>
                        </a:rPr>
                        <a:t>We accept Visa, MasterCard, American Express, PayPal, Apple Pay…</a:t>
                      </a:r>
                    </a:p>
                  </a:txBody>
                  <a:tcPr marL="73152" marR="73152" marT="27432" marB="27432"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c>
                  <a:txBody>
                    <a:bodyPr/>
                    <a:lstStyle/>
                    <a:p>
                      <a:pPr marL="0" indent="0" algn="l">
                        <a:buNone/>
                      </a:pPr>
                      <a:r>
                        <a:rPr lang="en-US" sz="1050" b="1" dirty="0">
                          <a:solidFill>
                            <a:srgbClr val="1F9E7A"/>
                          </a:solidFill>
                          <a:latin typeface="Calibri" pitchFamily="34" charset="0"/>
                          <a:ea typeface="Calibri" pitchFamily="34" charset="-122"/>
                          <a:cs typeface="Calibri" pitchFamily="34" charset="-120"/>
                        </a:rPr>
                        <a:t>Correct</a:t>
                      </a:r>
                    </a:p>
                  </a:txBody>
                  <a:tcPr marL="73152" marR="73152" marT="27432" marB="27432"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20624">
                <a:tc>
                  <a:txBody>
                    <a:bodyPr/>
                    <a:lstStyle/>
                    <a:p>
                      <a:pPr marL="0" indent="0" algn="l">
                        <a:buNone/>
                      </a:pPr>
                      <a:r>
                        <a:rPr lang="en-US" sz="1050" dirty="0">
                          <a:solidFill>
                            <a:srgbClr val="1B2733"/>
                          </a:solidFill>
                          <a:latin typeface="Calibri" pitchFamily="34" charset="0"/>
                          <a:ea typeface="Calibri" pitchFamily="34" charset="-122"/>
                          <a:cs typeface="Calibri" pitchFamily="34" charset="-120"/>
                        </a:rPr>
                        <a:t>8</a:t>
                      </a:r>
                    </a:p>
                  </a:txBody>
                  <a:tcPr marL="73152" marR="73152" marT="27432" marB="27432"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5F7F9"/>
                    </a:solidFill>
                  </a:tcPr>
                </a:tc>
                <a:tc>
                  <a:txBody>
                    <a:bodyPr/>
                    <a:lstStyle/>
                    <a:p>
                      <a:pPr marL="0" indent="0" algn="l">
                        <a:buNone/>
                      </a:pPr>
                      <a:r>
                        <a:rPr lang="en-US" sz="1050" dirty="0">
                          <a:solidFill>
                            <a:srgbClr val="1B2733"/>
                          </a:solidFill>
                          <a:latin typeface="Calibri" pitchFamily="34" charset="0"/>
                          <a:ea typeface="Calibri" pitchFamily="34" charset="-122"/>
                          <a:cs typeface="Calibri" pitchFamily="34" charset="-120"/>
                        </a:rPr>
                        <a:t>How long will it take to get my money back after a return?</a:t>
                      </a:r>
                    </a:p>
                  </a:txBody>
                  <a:tcPr marL="73152" marR="73152" marT="27432" marB="27432"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5F7F9"/>
                    </a:solidFill>
                  </a:tcPr>
                </a:tc>
                <a:tc>
                  <a:txBody>
                    <a:bodyPr/>
                    <a:lstStyle/>
                    <a:p>
                      <a:pPr marL="0" indent="0" algn="l">
                        <a:buNone/>
                      </a:pPr>
                      <a:r>
                        <a:rPr lang="en-US" sz="1050" dirty="0">
                          <a:solidFill>
                            <a:srgbClr val="1B2733"/>
                          </a:solidFill>
                          <a:latin typeface="Calibri" pitchFamily="34" charset="0"/>
                          <a:ea typeface="Calibri" pitchFamily="34" charset="-122"/>
                          <a:cs typeface="Calibri" pitchFamily="34" charset="-120"/>
                        </a:rPr>
                        <a:t>Return shipping costs $4.99 and arrives within 3-5 business days.</a:t>
                      </a:r>
                    </a:p>
                  </a:txBody>
                  <a:tcPr marL="73152" marR="73152" marT="27432" marB="27432"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5F7F9"/>
                    </a:solidFill>
                  </a:tcPr>
                </a:tc>
                <a:tc>
                  <a:txBody>
                    <a:bodyPr/>
                    <a:lstStyle/>
                    <a:p>
                      <a:pPr marL="0" indent="0" algn="l">
                        <a:buNone/>
                      </a:pPr>
                      <a:r>
                        <a:rPr lang="en-US" sz="1050" b="1" dirty="0">
                          <a:solidFill>
                            <a:srgbClr val="C44536"/>
                          </a:solidFill>
                          <a:latin typeface="Calibri" pitchFamily="34" charset="0"/>
                          <a:ea typeface="Calibri" pitchFamily="34" charset="-122"/>
                          <a:cs typeface="Calibri" pitchFamily="34" charset="-120"/>
                        </a:rPr>
                        <a:t>Wrong: mixes policies</a:t>
                      </a:r>
                    </a:p>
                  </a:txBody>
                  <a:tcPr marL="73152" marR="73152" marT="27432" marB="27432"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5F7F9"/>
                    </a:solidFill>
                  </a:tcPr>
                </a:tc>
                <a:extLst>
                  <a:ext uri="{0D108BD9-81ED-4DB2-BD59-A6C34878D82A}">
                    <a16:rowId xmlns:a16="http://schemas.microsoft.com/office/drawing/2014/main" val="10008"/>
                  </a:ext>
                </a:extLst>
              </a:tr>
              <a:tr h="420624">
                <a:tc>
                  <a:txBody>
                    <a:bodyPr/>
                    <a:lstStyle/>
                    <a:p>
                      <a:pPr marL="0" indent="0" algn="l">
                        <a:buNone/>
                      </a:pPr>
                      <a:r>
                        <a:rPr lang="en-US" sz="1050" dirty="0">
                          <a:solidFill>
                            <a:srgbClr val="1B2733"/>
                          </a:solidFill>
                          <a:latin typeface="Calibri" pitchFamily="34" charset="0"/>
                          <a:ea typeface="Calibri" pitchFamily="34" charset="-122"/>
                          <a:cs typeface="Calibri" pitchFamily="34" charset="-120"/>
                        </a:rPr>
                        <a:t>9</a:t>
                      </a:r>
                    </a:p>
                  </a:txBody>
                  <a:tcPr marL="73152" marR="73152" marT="27432" marB="27432"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B2733"/>
                          </a:solidFill>
                          <a:latin typeface="Calibri" pitchFamily="34" charset="0"/>
                          <a:ea typeface="Calibri" pitchFamily="34" charset="-122"/>
                          <a:cs typeface="Calibri" pitchFamily="34" charset="-120"/>
                        </a:rPr>
                        <a:t>What is the capital of France?</a:t>
                      </a:r>
                    </a:p>
                  </a:txBody>
                  <a:tcPr marL="73152" marR="73152" marT="27432" marB="27432"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B2733"/>
                          </a:solidFill>
                          <a:latin typeface="Calibri" pitchFamily="34" charset="0"/>
                          <a:ea typeface="Calibri" pitchFamily="34" charset="-122"/>
                          <a:cs typeface="Calibri" pitchFamily="34" charset="-120"/>
                        </a:rPr>
                        <a:t>Free size and colour exchanges within 30 days of delivery…</a:t>
                      </a:r>
                    </a:p>
                  </a:txBody>
                  <a:tcPr marL="73152" marR="73152" marT="27432" marB="27432"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c>
                  <a:txBody>
                    <a:bodyPr/>
                    <a:lstStyle/>
                    <a:p>
                      <a:pPr marL="0" indent="0" algn="l">
                        <a:buNone/>
                      </a:pPr>
                      <a:r>
                        <a:rPr lang="en-US" sz="1050" b="1" dirty="0">
                          <a:solidFill>
                            <a:srgbClr val="C44536"/>
                          </a:solidFill>
                          <a:latin typeface="Calibri" pitchFamily="34" charset="0"/>
                          <a:ea typeface="Calibri" pitchFamily="34" charset="-122"/>
                          <a:cs typeface="Calibri" pitchFamily="34" charset="-120"/>
                        </a:rPr>
                        <a:t>Wrong: no refusal</a:t>
                      </a:r>
                    </a:p>
                  </a:txBody>
                  <a:tcPr marL="73152" marR="73152" marT="27432" marB="27432"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420624">
                <a:tc>
                  <a:txBody>
                    <a:bodyPr/>
                    <a:lstStyle/>
                    <a:p>
                      <a:pPr marL="0" indent="0" algn="l">
                        <a:buNone/>
                      </a:pPr>
                      <a:r>
                        <a:rPr lang="en-US" sz="1050" dirty="0">
                          <a:solidFill>
                            <a:srgbClr val="1B2733"/>
                          </a:solidFill>
                          <a:latin typeface="Calibri" pitchFamily="34" charset="0"/>
                          <a:ea typeface="Calibri" pitchFamily="34" charset="-122"/>
                          <a:cs typeface="Calibri" pitchFamily="34" charset="-120"/>
                        </a:rPr>
                        <a:t>10</a:t>
                      </a:r>
                    </a:p>
                  </a:txBody>
                  <a:tcPr marL="73152" marR="73152" marT="27432" marB="27432"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5F7F9"/>
                    </a:solidFill>
                  </a:tcPr>
                </a:tc>
                <a:tc>
                  <a:txBody>
                    <a:bodyPr/>
                    <a:lstStyle/>
                    <a:p>
                      <a:pPr marL="0" indent="0" algn="l">
                        <a:buNone/>
                      </a:pPr>
                      <a:r>
                        <a:rPr lang="en-US" sz="1050" dirty="0">
                          <a:solidFill>
                            <a:srgbClr val="1B2733"/>
                          </a:solidFill>
                          <a:latin typeface="Calibri" pitchFamily="34" charset="0"/>
                          <a:ea typeface="Calibri" pitchFamily="34" charset="-122"/>
                          <a:cs typeface="Calibri" pitchFamily="34" charset="-120"/>
                        </a:rPr>
                        <a:t>Can I change my delivery address after placing the order?</a:t>
                      </a:r>
                    </a:p>
                  </a:txBody>
                  <a:tcPr marL="73152" marR="73152" marT="27432" marB="27432"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5F7F9"/>
                    </a:solidFill>
                  </a:tcPr>
                </a:tc>
                <a:tc>
                  <a:txBody>
                    <a:bodyPr/>
                    <a:lstStyle/>
                    <a:p>
                      <a:pPr marL="0" indent="0" algn="l">
                        <a:buNone/>
                      </a:pPr>
                      <a:r>
                        <a:rPr lang="en-US" sz="1050" dirty="0">
                          <a:solidFill>
                            <a:srgbClr val="1B2733"/>
                          </a:solidFill>
                          <a:latin typeface="Calibri" pitchFamily="34" charset="0"/>
                          <a:ea typeface="Calibri" pitchFamily="34" charset="-122"/>
                          <a:cs typeface="Calibri" pitchFamily="34" charset="-120"/>
                        </a:rPr>
                        <a:t>Edit the address in My Orders before the order ships…</a:t>
                      </a:r>
                    </a:p>
                  </a:txBody>
                  <a:tcPr marL="73152" marR="73152" marT="27432" marB="27432"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5F7F9"/>
                    </a:solidFill>
                  </a:tcPr>
                </a:tc>
                <a:tc>
                  <a:txBody>
                    <a:bodyPr/>
                    <a:lstStyle/>
                    <a:p>
                      <a:pPr marL="0" indent="0" algn="l">
                        <a:buNone/>
                      </a:pPr>
                      <a:r>
                        <a:rPr lang="en-US" sz="1050" b="1" dirty="0">
                          <a:solidFill>
                            <a:srgbClr val="1F9E7A"/>
                          </a:solidFill>
                          <a:latin typeface="Calibri" pitchFamily="34" charset="0"/>
                          <a:ea typeface="Calibri" pitchFamily="34" charset="-122"/>
                          <a:cs typeface="Calibri" pitchFamily="34" charset="-120"/>
                        </a:rPr>
                        <a:t>Correct</a:t>
                      </a:r>
                    </a:p>
                  </a:txBody>
                  <a:tcPr marL="73152" marR="73152" marT="27432" marB="27432"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5F7F9"/>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457200" y="320040"/>
            <a:ext cx="5486400" cy="274320"/>
          </a:xfrm>
          <a:prstGeom prst="rect">
            <a:avLst/>
          </a:prstGeom>
          <a:noFill/>
          <a:ln/>
        </p:spPr>
        <p:txBody>
          <a:bodyPr wrap="square" rtlCol="0" anchor="ctr"/>
          <a:lstStyle/>
          <a:p>
            <a:pPr marL="0" indent="0" algn="l">
              <a:buNone/>
            </a:pPr>
            <a:r>
              <a:rPr lang="en-US" sz="1100" b="1" kern="0" spc="150" dirty="0">
                <a:solidFill>
                  <a:srgbClr val="E07A3E"/>
                </a:solidFill>
                <a:latin typeface="Calibri" pitchFamily="34" charset="0"/>
                <a:ea typeface="Calibri" pitchFamily="34" charset="-122"/>
                <a:cs typeface="Calibri" pitchFamily="34" charset="-120"/>
              </a:rPr>
              <a:t>SLIDE 14 / MODULE 5 · CLOSE</a:t>
            </a:r>
          </a:p>
        </p:txBody>
      </p:sp>
      <p:sp>
        <p:nvSpPr>
          <p:cNvPr id="3" name="Text 3"/>
          <p:cNvSpPr txBox="1"/>
          <p:nvPr/>
        </p:nvSpPr>
        <p:spPr>
          <a:xfrm>
            <a:off x="457200" y="566928"/>
            <a:ext cx="11247120" cy="548640"/>
          </a:xfrm>
          <a:prstGeom prst="rect">
            <a:avLst/>
          </a:prstGeom>
          <a:noFill/>
          <a:ln/>
        </p:spPr>
        <p:txBody>
          <a:bodyPr wrap="square" rtlCol="0" anchor="ctr"/>
          <a:lstStyle/>
          <a:p>
            <a:pPr marL="0" indent="0" algn="l">
              <a:buNone/>
            </a:pPr>
            <a:r>
              <a:rPr lang="en-US" sz="2600" b="1" kern="0" dirty="0">
                <a:solidFill>
                  <a:srgbClr val="132743"/>
                </a:solidFill>
                <a:latin typeface="Calibri" pitchFamily="34" charset="0"/>
                <a:ea typeface="Calibri" pitchFamily="34" charset="-122"/>
                <a:cs typeface="Calibri" pitchFamily="34" charset="-120"/>
              </a:rPr>
              <a:t>Module 5 Conclusion &amp; Key Takeaways</a:t>
            </a:r>
          </a:p>
        </p:txBody>
      </p:sp>
      <p:sp>
        <p:nvSpPr>
          <p:cNvPr id="4" name="Text 4"/>
          <p:cNvSpPr txBox="1"/>
          <p:nvPr/>
        </p:nvSpPr>
        <p:spPr>
          <a:xfrm>
            <a:off x="457200" y="1078992"/>
            <a:ext cx="11247120" cy="384048"/>
          </a:xfrm>
          <a:prstGeom prst="rect">
            <a:avLst/>
          </a:prstGeom>
          <a:noFill/>
          <a:ln/>
        </p:spPr>
        <p:txBody>
          <a:bodyPr wrap="square" rtlCol="0" anchor="ctr"/>
          <a:lstStyle/>
          <a:p>
            <a:pPr marL="0" indent="0" algn="l">
              <a:buNone/>
            </a:pPr>
            <a:r>
              <a:rPr lang="en-US" sz="1300" kern="0" dirty="0">
                <a:solidFill>
                  <a:srgbClr val="5B6B7B"/>
                </a:solidFill>
                <a:latin typeface="Calibri" pitchFamily="34" charset="0"/>
                <a:ea typeface="Calibri" pitchFamily="34" charset="-122"/>
                <a:cs typeface="Calibri" pitchFamily="34" charset="-120"/>
              </a:rPr>
              <a:t>LoRA taught the style quickly, but a small model on little data is unreliable about the facts.</a:t>
            </a:r>
          </a:p>
        </p:txBody>
      </p:sp>
      <p:sp>
        <p:nvSpPr>
          <p:cNvPr id="5" name="Text 5"/>
          <p:cNvSpPr txBox="1"/>
          <p:nvPr/>
        </p:nvSpPr>
        <p:spPr>
          <a:xfrm>
            <a:off x="457200" y="6547104"/>
            <a:ext cx="8686800" cy="256032"/>
          </a:xfrm>
          <a:prstGeom prst="rect">
            <a:avLst/>
          </a:prstGeom>
          <a:noFill/>
          <a:ln/>
        </p:spPr>
        <p:txBody>
          <a:bodyPr wrap="square" rtlCol="0" anchor="ctr"/>
          <a:lstStyle/>
          <a:p>
            <a:pPr marL="0" indent="0" algn="l">
              <a:buNone/>
            </a:pPr>
            <a:r>
              <a:rPr lang="en-US" sz="900" kern="0" dirty="0">
                <a:solidFill>
                  <a:srgbClr val="5B6B7B"/>
                </a:solidFill>
                <a:latin typeface="Calibri" pitchFamily="34" charset="0"/>
                <a:ea typeface="Calibri" pitchFamily="34" charset="-122"/>
                <a:cs typeface="Calibri" pitchFamily="34" charset="-120"/>
              </a:rPr>
              <a:t>Module 5: Fine-Tuning a Small LLM for Customer-Support FAQs  |  Gitarani Mohanty</a:t>
            </a:r>
          </a:p>
        </p:txBody>
      </p:sp>
      <p:sp>
        <p:nvSpPr>
          <p:cNvPr id="6" name="Text 6"/>
          <p:cNvSpPr txBox="1"/>
          <p:nvPr/>
        </p:nvSpPr>
        <p:spPr>
          <a:xfrm>
            <a:off x="11430000" y="6547104"/>
            <a:ext cx="365760" cy="256032"/>
          </a:xfrm>
          <a:prstGeom prst="rect">
            <a:avLst/>
          </a:prstGeom>
          <a:noFill/>
          <a:ln/>
        </p:spPr>
        <p:txBody>
          <a:bodyPr wrap="square" rtlCol="0" anchor="ctr"/>
          <a:lstStyle/>
          <a:p>
            <a:pPr marL="0" indent="0" algn="r">
              <a:buNone/>
            </a:pPr>
            <a:r>
              <a:rPr lang="en-US" sz="900" kern="0" dirty="0">
                <a:solidFill>
                  <a:srgbClr val="5B6B7B"/>
                </a:solidFill>
                <a:latin typeface="Calibri" pitchFamily="34" charset="0"/>
                <a:ea typeface="Calibri" pitchFamily="34" charset="-122"/>
                <a:cs typeface="Calibri" pitchFamily="34" charset="-120"/>
              </a:rPr>
              <a:t>14</a:t>
            </a:r>
          </a:p>
        </p:txBody>
      </p:sp>
      <p:sp>
        <p:nvSpPr>
          <p:cNvPr id="7" name="Shape 7"/>
          <p:cNvSpPr/>
          <p:nvPr/>
        </p:nvSpPr>
        <p:spPr>
          <a:xfrm>
            <a:off x="457200" y="1691640"/>
            <a:ext cx="5440680" cy="2011680"/>
          </a:xfrm>
          <a:prstGeom prst="rect">
            <a:avLst/>
          </a:prstGeom>
          <a:solidFill>
            <a:srgbClr val="F5F7F9"/>
          </a:solidFill>
          <a:ln/>
        </p:spPr>
      </p:sp>
      <p:sp>
        <p:nvSpPr>
          <p:cNvPr id="8" name="Shape 8"/>
          <p:cNvSpPr/>
          <p:nvPr/>
        </p:nvSpPr>
        <p:spPr>
          <a:xfrm>
            <a:off x="640080" y="1874520"/>
            <a:ext cx="146304" cy="146304"/>
          </a:xfrm>
          <a:prstGeom prst="ellipse">
            <a:avLst/>
          </a:prstGeom>
          <a:solidFill>
            <a:srgbClr val="1F9E7A"/>
          </a:solidFill>
          <a:ln/>
        </p:spPr>
      </p:sp>
      <p:sp>
        <p:nvSpPr>
          <p:cNvPr id="9" name="Text 9"/>
          <p:cNvSpPr txBox="1"/>
          <p:nvPr/>
        </p:nvSpPr>
        <p:spPr>
          <a:xfrm>
            <a:off x="868680" y="1801368"/>
            <a:ext cx="4892040" cy="292608"/>
          </a:xfrm>
          <a:prstGeom prst="rect">
            <a:avLst/>
          </a:prstGeom>
          <a:noFill/>
          <a:ln/>
        </p:spPr>
        <p:txBody>
          <a:bodyPr wrap="square" rtlCol="0" anchor="ctr"/>
          <a:lstStyle/>
          <a:p>
            <a:pPr marL="0" indent="0" algn="l">
              <a:buNone/>
            </a:pPr>
            <a:r>
              <a:rPr lang="en-US" sz="1250" b="1" kern="0" spc="50" dirty="0">
                <a:solidFill>
                  <a:srgbClr val="132743"/>
                </a:solidFill>
                <a:latin typeface="Calibri" pitchFamily="34" charset="0"/>
                <a:ea typeface="Calibri" pitchFamily="34" charset="-122"/>
                <a:cs typeface="Calibri" pitchFamily="34" charset="-120"/>
              </a:rPr>
              <a:t>WHAT WORKED</a:t>
            </a:r>
          </a:p>
        </p:txBody>
      </p:sp>
      <p:sp>
        <p:nvSpPr>
          <p:cNvPr id="10" name="Text 10"/>
          <p:cNvSpPr txBox="1"/>
          <p:nvPr/>
        </p:nvSpPr>
        <p:spPr>
          <a:xfrm>
            <a:off x="640080" y="2148840"/>
            <a:ext cx="5074920" cy="1481328"/>
          </a:xfrm>
          <a:prstGeom prst="rect">
            <a:avLst/>
          </a:prstGeom>
          <a:noFill/>
          <a:ln/>
        </p:spPr>
        <p:txBody>
          <a:bodyPr wrap="square" rtlCol="0" anchor="t"/>
          <a:lstStyle/>
          <a:p>
            <a:pPr marL="0" indent="0" algn="l">
              <a:spcAft>
                <a:spcPts val="400"/>
              </a:spcAft>
              <a:buNone/>
            </a:pPr>
            <a:r>
              <a:rPr lang="en-US" sz="1250" kern="0" dirty="0">
                <a:solidFill>
                  <a:srgbClr val="1B2733"/>
                </a:solidFill>
                <a:latin typeface="Calibri" pitchFamily="34" charset="0"/>
                <a:ea typeface="Calibri" pitchFamily="34" charset="-122"/>
                <a:cs typeface="Calibri" pitchFamily="34" charset="-120"/>
              </a:rPr>
              <a:t>Perplexity of the reference answers fell from 41.1 to 2.48 in 34 seconds of training. Answers are concise, use store vocabulary, and 4 of 10 manual queries were fully correct.</a:t>
            </a:r>
          </a:p>
        </p:txBody>
      </p:sp>
      <p:sp>
        <p:nvSpPr>
          <p:cNvPr id="11" name="Shape 11"/>
          <p:cNvSpPr/>
          <p:nvPr/>
        </p:nvSpPr>
        <p:spPr>
          <a:xfrm>
            <a:off x="6217920" y="1691640"/>
            <a:ext cx="5440680" cy="2011680"/>
          </a:xfrm>
          <a:prstGeom prst="rect">
            <a:avLst/>
          </a:prstGeom>
          <a:solidFill>
            <a:srgbClr val="F5F7F9"/>
          </a:solidFill>
          <a:ln/>
        </p:spPr>
      </p:sp>
      <p:sp>
        <p:nvSpPr>
          <p:cNvPr id="12" name="Shape 12"/>
          <p:cNvSpPr/>
          <p:nvPr/>
        </p:nvSpPr>
        <p:spPr>
          <a:xfrm>
            <a:off x="6400800" y="1874520"/>
            <a:ext cx="146304" cy="146304"/>
          </a:xfrm>
          <a:prstGeom prst="ellipse">
            <a:avLst/>
          </a:prstGeom>
          <a:solidFill>
            <a:srgbClr val="C44536"/>
          </a:solidFill>
          <a:ln/>
        </p:spPr>
      </p:sp>
      <p:sp>
        <p:nvSpPr>
          <p:cNvPr id="13" name="Text 13"/>
          <p:cNvSpPr txBox="1"/>
          <p:nvPr/>
        </p:nvSpPr>
        <p:spPr>
          <a:xfrm>
            <a:off x="6629400" y="1801368"/>
            <a:ext cx="4892040" cy="292608"/>
          </a:xfrm>
          <a:prstGeom prst="rect">
            <a:avLst/>
          </a:prstGeom>
          <a:noFill/>
          <a:ln/>
        </p:spPr>
        <p:txBody>
          <a:bodyPr wrap="square" rtlCol="0" anchor="ctr"/>
          <a:lstStyle/>
          <a:p>
            <a:pPr marL="0" indent="0" algn="l">
              <a:buNone/>
            </a:pPr>
            <a:r>
              <a:rPr lang="en-US" sz="1250" b="1" kern="0" spc="50" dirty="0">
                <a:solidFill>
                  <a:srgbClr val="132743"/>
                </a:solidFill>
                <a:latin typeface="Calibri" pitchFamily="34" charset="0"/>
                <a:ea typeface="Calibri" pitchFamily="34" charset="-122"/>
                <a:cs typeface="Calibri" pitchFamily="34" charset="-120"/>
              </a:rPr>
              <a:t>FAILURE MODES</a:t>
            </a:r>
          </a:p>
        </p:txBody>
      </p:sp>
      <p:sp>
        <p:nvSpPr>
          <p:cNvPr id="14" name="Text 14"/>
          <p:cNvSpPr txBox="1"/>
          <p:nvPr/>
        </p:nvSpPr>
        <p:spPr>
          <a:xfrm>
            <a:off x="6400800" y="2148840"/>
            <a:ext cx="5074920" cy="1481328"/>
          </a:xfrm>
          <a:prstGeom prst="rect">
            <a:avLst/>
          </a:prstGeom>
          <a:noFill/>
          <a:ln/>
        </p:spPr>
        <p:txBody>
          <a:bodyPr wrap="square" rtlCol="0" anchor="t"/>
          <a:lstStyle/>
          <a:p>
            <a:pPr marL="0" indent="0" algn="l">
              <a:spcAft>
                <a:spcPts val="400"/>
              </a:spcAft>
              <a:buNone/>
            </a:pPr>
            <a:r>
              <a:rPr lang="en-US" sz="1250" kern="0" dirty="0">
                <a:solidFill>
                  <a:srgbClr val="1B2733"/>
                </a:solidFill>
                <a:latin typeface="Calibri" pitchFamily="34" charset="0"/>
                <a:ea typeface="Calibri" pitchFamily="34" charset="-122"/>
                <a:cs typeface="Calibri" pitchFamily="34" charset="-120"/>
              </a:rPr>
              <a:t>Wrong-topic answers, blended or invented numbers (for example “over 50 countries”), and no refusal of out-of-scope questions such as the capital of France.</a:t>
            </a:r>
          </a:p>
        </p:txBody>
      </p:sp>
      <p:sp>
        <p:nvSpPr>
          <p:cNvPr id="15" name="Shape 15"/>
          <p:cNvSpPr/>
          <p:nvPr/>
        </p:nvSpPr>
        <p:spPr>
          <a:xfrm>
            <a:off x="457200" y="3931920"/>
            <a:ext cx="5440680" cy="2011680"/>
          </a:xfrm>
          <a:prstGeom prst="rect">
            <a:avLst/>
          </a:prstGeom>
          <a:solidFill>
            <a:srgbClr val="F5F7F9"/>
          </a:solidFill>
          <a:ln/>
        </p:spPr>
      </p:sp>
      <p:sp>
        <p:nvSpPr>
          <p:cNvPr id="16" name="Shape 16"/>
          <p:cNvSpPr/>
          <p:nvPr/>
        </p:nvSpPr>
        <p:spPr>
          <a:xfrm>
            <a:off x="640080" y="4114800"/>
            <a:ext cx="146304" cy="146304"/>
          </a:xfrm>
          <a:prstGeom prst="ellipse">
            <a:avLst/>
          </a:prstGeom>
          <a:solidFill>
            <a:srgbClr val="6E5AA8"/>
          </a:solidFill>
          <a:ln/>
        </p:spPr>
      </p:sp>
      <p:sp>
        <p:nvSpPr>
          <p:cNvPr id="17" name="Text 17"/>
          <p:cNvSpPr txBox="1"/>
          <p:nvPr/>
        </p:nvSpPr>
        <p:spPr>
          <a:xfrm>
            <a:off x="868680" y="4041648"/>
            <a:ext cx="4892040" cy="292608"/>
          </a:xfrm>
          <a:prstGeom prst="rect">
            <a:avLst/>
          </a:prstGeom>
          <a:noFill/>
          <a:ln/>
        </p:spPr>
        <p:txBody>
          <a:bodyPr wrap="square" rtlCol="0" anchor="ctr"/>
          <a:lstStyle/>
          <a:p>
            <a:pPr marL="0" indent="0" algn="l">
              <a:buNone/>
            </a:pPr>
            <a:r>
              <a:rPr lang="en-US" sz="1250" b="1" kern="0" spc="50" dirty="0">
                <a:solidFill>
                  <a:srgbClr val="132743"/>
                </a:solidFill>
                <a:latin typeface="Calibri" pitchFamily="34" charset="0"/>
                <a:ea typeface="Calibri" pitchFamily="34" charset="-122"/>
                <a:cs typeface="Calibri" pitchFamily="34" charset="-120"/>
              </a:rPr>
              <a:t>LIMITATIONS</a:t>
            </a:r>
          </a:p>
        </p:txBody>
      </p:sp>
      <p:sp>
        <p:nvSpPr>
          <p:cNvPr id="18" name="Text 18"/>
          <p:cNvSpPr txBox="1"/>
          <p:nvPr/>
        </p:nvSpPr>
        <p:spPr>
          <a:xfrm>
            <a:off x="640080" y="4389120"/>
            <a:ext cx="5074920" cy="1481328"/>
          </a:xfrm>
          <a:prstGeom prst="rect">
            <a:avLst/>
          </a:prstGeom>
          <a:noFill/>
          <a:ln/>
        </p:spPr>
        <p:txBody>
          <a:bodyPr wrap="square" rtlCol="0" anchor="t"/>
          <a:lstStyle/>
          <a:p>
            <a:pPr marL="0" indent="0" algn="l">
              <a:spcAft>
                <a:spcPts val="400"/>
              </a:spcAft>
              <a:buNone/>
            </a:pPr>
            <a:r>
              <a:rPr lang="en-US" sz="1250" kern="0" dirty="0">
                <a:solidFill>
                  <a:srgbClr val="1B2733"/>
                </a:solidFill>
                <a:latin typeface="Calibri" pitchFamily="34" charset="0"/>
                <a:ea typeface="Calibri" pitchFamily="34" charset="-122"/>
                <a:cs typeface="Calibri" pitchFamily="34" charset="-120"/>
              </a:rPr>
              <a:t>Synthetic template data with about a dozen training pairs per topic, 81 test questions from about 33 base questions, a single seed, and a base-model baseline that was mostly empty.</a:t>
            </a:r>
          </a:p>
        </p:txBody>
      </p:sp>
      <p:sp>
        <p:nvSpPr>
          <p:cNvPr id="19" name="Shape 19"/>
          <p:cNvSpPr/>
          <p:nvPr/>
        </p:nvSpPr>
        <p:spPr>
          <a:xfrm>
            <a:off x="6217920" y="3931920"/>
            <a:ext cx="5440680" cy="2011680"/>
          </a:xfrm>
          <a:prstGeom prst="rect">
            <a:avLst/>
          </a:prstGeom>
          <a:solidFill>
            <a:srgbClr val="F5F7F9"/>
          </a:solidFill>
          <a:ln/>
        </p:spPr>
      </p:sp>
      <p:sp>
        <p:nvSpPr>
          <p:cNvPr id="20" name="Shape 20"/>
          <p:cNvSpPr/>
          <p:nvPr/>
        </p:nvSpPr>
        <p:spPr>
          <a:xfrm>
            <a:off x="6400800" y="4114800"/>
            <a:ext cx="146304" cy="146304"/>
          </a:xfrm>
          <a:prstGeom prst="ellipse">
            <a:avLst/>
          </a:prstGeom>
          <a:solidFill>
            <a:srgbClr val="E07A3E"/>
          </a:solidFill>
          <a:ln/>
        </p:spPr>
      </p:sp>
      <p:sp>
        <p:nvSpPr>
          <p:cNvPr id="21" name="Text 21"/>
          <p:cNvSpPr txBox="1"/>
          <p:nvPr/>
        </p:nvSpPr>
        <p:spPr>
          <a:xfrm>
            <a:off x="6629400" y="4041648"/>
            <a:ext cx="4892040" cy="292608"/>
          </a:xfrm>
          <a:prstGeom prst="rect">
            <a:avLst/>
          </a:prstGeom>
          <a:noFill/>
          <a:ln/>
        </p:spPr>
        <p:txBody>
          <a:bodyPr wrap="square" rtlCol="0" anchor="ctr"/>
          <a:lstStyle/>
          <a:p>
            <a:pPr marL="0" indent="0" algn="l">
              <a:buNone/>
            </a:pPr>
            <a:r>
              <a:rPr lang="en-US" sz="1250" b="1" kern="0" spc="50" dirty="0">
                <a:solidFill>
                  <a:srgbClr val="132743"/>
                </a:solidFill>
                <a:latin typeface="Calibri" pitchFamily="34" charset="0"/>
                <a:ea typeface="Calibri" pitchFamily="34" charset="-122"/>
                <a:cs typeface="Calibri" pitchFamily="34" charset="-120"/>
              </a:rPr>
              <a:t>NEXT STEPS</a:t>
            </a:r>
          </a:p>
        </p:txBody>
      </p:sp>
      <p:sp>
        <p:nvSpPr>
          <p:cNvPr id="22" name="Text 22"/>
          <p:cNvSpPr txBox="1"/>
          <p:nvPr/>
        </p:nvSpPr>
        <p:spPr>
          <a:xfrm>
            <a:off x="6400800" y="4389120"/>
            <a:ext cx="5074920" cy="1481328"/>
          </a:xfrm>
          <a:prstGeom prst="rect">
            <a:avLst/>
          </a:prstGeom>
          <a:noFill/>
          <a:ln/>
        </p:spPr>
        <p:txBody>
          <a:bodyPr wrap="square" rtlCol="0" anchor="t"/>
          <a:lstStyle/>
          <a:p>
            <a:pPr marL="0" indent="0" algn="l">
              <a:spcAft>
                <a:spcPts val="400"/>
              </a:spcAft>
              <a:buNone/>
            </a:pPr>
            <a:r>
              <a:rPr lang="en-US" sz="1250" kern="0" dirty="0">
                <a:solidFill>
                  <a:srgbClr val="1B2733"/>
                </a:solidFill>
                <a:latin typeface="Calibri" pitchFamily="34" charset="0"/>
                <a:ea typeface="Calibri" pitchFamily="34" charset="-122"/>
                <a:cs typeface="Calibri" pitchFamily="34" charset="-120"/>
              </a:rPr>
              <a:t>Train longer or with a higher rank, try gpt2 or OPT-125M with 4-bit QLoRA, add more paraphrases and refusal examples, and retrieve the matching FAQ entry to ground each answer.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457200" y="320040"/>
            <a:ext cx="5486400" cy="274320"/>
          </a:xfrm>
          <a:prstGeom prst="rect">
            <a:avLst/>
          </a:prstGeom>
          <a:noFill/>
          <a:ln/>
        </p:spPr>
        <p:txBody>
          <a:bodyPr wrap="square" rtlCol="0" anchor="ctr"/>
          <a:lstStyle/>
          <a:p>
            <a:pPr marL="0" indent="0" algn="l">
              <a:buNone/>
            </a:pPr>
            <a:r>
              <a:rPr lang="en-US" sz="1100" b="1" kern="0" spc="150" dirty="0">
                <a:solidFill>
                  <a:srgbClr val="E07A3E"/>
                </a:solidFill>
                <a:latin typeface="Calibri" pitchFamily="34" charset="0"/>
                <a:ea typeface="Calibri" pitchFamily="34" charset="-122"/>
                <a:cs typeface="Calibri" pitchFamily="34" charset="-120"/>
              </a:rPr>
              <a:t>SLIDE 15 / SUMMARY</a:t>
            </a:r>
          </a:p>
        </p:txBody>
      </p:sp>
      <p:sp>
        <p:nvSpPr>
          <p:cNvPr id="3" name="Text 3"/>
          <p:cNvSpPr txBox="1"/>
          <p:nvPr/>
        </p:nvSpPr>
        <p:spPr>
          <a:xfrm>
            <a:off x="457200" y="566928"/>
            <a:ext cx="11247120" cy="548640"/>
          </a:xfrm>
          <a:prstGeom prst="rect">
            <a:avLst/>
          </a:prstGeom>
          <a:noFill/>
          <a:ln/>
        </p:spPr>
        <p:txBody>
          <a:bodyPr wrap="square" rtlCol="0" anchor="ctr"/>
          <a:lstStyle/>
          <a:p>
            <a:pPr marL="0" indent="0" algn="l">
              <a:buNone/>
            </a:pPr>
            <a:r>
              <a:rPr lang="en-US" sz="2600" b="1" kern="0" dirty="0">
                <a:solidFill>
                  <a:srgbClr val="132743"/>
                </a:solidFill>
                <a:latin typeface="Calibri" pitchFamily="34" charset="0"/>
                <a:ea typeface="Calibri" pitchFamily="34" charset="-122"/>
                <a:cs typeface="Calibri" pitchFamily="34" charset="-120"/>
              </a:rPr>
              <a:t>Overall Summary Across the Three Projects</a:t>
            </a:r>
          </a:p>
        </p:txBody>
      </p:sp>
      <p:sp>
        <p:nvSpPr>
          <p:cNvPr id="4" name="Text 4"/>
          <p:cNvSpPr txBox="1"/>
          <p:nvPr/>
        </p:nvSpPr>
        <p:spPr>
          <a:xfrm>
            <a:off x="457200" y="1078992"/>
            <a:ext cx="11247120" cy="384048"/>
          </a:xfrm>
          <a:prstGeom prst="rect">
            <a:avLst/>
          </a:prstGeom>
          <a:noFill/>
          <a:ln/>
        </p:spPr>
        <p:txBody>
          <a:bodyPr wrap="square" rtlCol="0" anchor="ctr"/>
          <a:lstStyle/>
          <a:p>
            <a:pPr marL="0" indent="0" algn="l">
              <a:buNone/>
            </a:pPr>
            <a:r>
              <a:rPr lang="en-US" sz="1300" kern="0" dirty="0">
                <a:solidFill>
                  <a:srgbClr val="5B6B7B"/>
                </a:solidFill>
                <a:latin typeface="Calibri" pitchFamily="34" charset="0"/>
                <a:ea typeface="Calibri" pitchFamily="34" charset="-122"/>
                <a:cs typeface="Calibri" pitchFamily="34" charset="-120"/>
              </a:rPr>
              <a:t>Regression, convolutional networks and LLM fine-tuning: what each project showed.</a:t>
            </a:r>
          </a:p>
        </p:txBody>
      </p:sp>
      <p:sp>
        <p:nvSpPr>
          <p:cNvPr id="5" name="Text 5"/>
          <p:cNvSpPr txBox="1"/>
          <p:nvPr/>
        </p:nvSpPr>
        <p:spPr>
          <a:xfrm>
            <a:off x="457200" y="6547104"/>
            <a:ext cx="8686800" cy="256032"/>
          </a:xfrm>
          <a:prstGeom prst="rect">
            <a:avLst/>
          </a:prstGeom>
          <a:noFill/>
          <a:ln/>
        </p:spPr>
        <p:txBody>
          <a:bodyPr wrap="square" rtlCol="0" anchor="ctr"/>
          <a:lstStyle/>
          <a:p>
            <a:pPr marL="0" indent="0" algn="l">
              <a:buNone/>
            </a:pPr>
            <a:r>
              <a:rPr lang="en-US" sz="900" kern="0" dirty="0">
                <a:solidFill>
                  <a:srgbClr val="5B6B7B"/>
                </a:solidFill>
                <a:latin typeface="Calibri" pitchFamily="34" charset="0"/>
                <a:ea typeface="Calibri" pitchFamily="34" charset="-122"/>
                <a:cs typeface="Calibri" pitchFamily="34" charset="-120"/>
              </a:rPr>
              <a:t>AI/ML Batch 7 Project Reports  |  Gitarani Mohanty</a:t>
            </a:r>
          </a:p>
        </p:txBody>
      </p:sp>
      <p:sp>
        <p:nvSpPr>
          <p:cNvPr id="6" name="Text 6"/>
          <p:cNvSpPr txBox="1"/>
          <p:nvPr/>
        </p:nvSpPr>
        <p:spPr>
          <a:xfrm>
            <a:off x="11430000" y="6547104"/>
            <a:ext cx="365760" cy="256032"/>
          </a:xfrm>
          <a:prstGeom prst="rect">
            <a:avLst/>
          </a:prstGeom>
          <a:noFill/>
          <a:ln/>
        </p:spPr>
        <p:txBody>
          <a:bodyPr wrap="square" rtlCol="0" anchor="ctr"/>
          <a:lstStyle/>
          <a:p>
            <a:pPr marL="0" indent="0" algn="r">
              <a:buNone/>
            </a:pPr>
            <a:r>
              <a:rPr lang="en-US" sz="900" kern="0" dirty="0">
                <a:solidFill>
                  <a:srgbClr val="5B6B7B"/>
                </a:solidFill>
                <a:latin typeface="Calibri" pitchFamily="34" charset="0"/>
                <a:ea typeface="Calibri" pitchFamily="34" charset="-122"/>
                <a:cs typeface="Calibri" pitchFamily="34" charset="-120"/>
              </a:rPr>
              <a:t>15</a:t>
            </a:r>
          </a:p>
        </p:txBody>
      </p:sp>
      <p:sp>
        <p:nvSpPr>
          <p:cNvPr id="7" name="Shape 7"/>
          <p:cNvSpPr/>
          <p:nvPr/>
        </p:nvSpPr>
        <p:spPr>
          <a:xfrm>
            <a:off x="457200" y="1691640"/>
            <a:ext cx="3611880" cy="3429000"/>
          </a:xfrm>
          <a:prstGeom prst="rect">
            <a:avLst/>
          </a:prstGeom>
          <a:solidFill>
            <a:srgbClr val="F5F7F9"/>
          </a:solidFill>
          <a:ln/>
        </p:spPr>
      </p:sp>
      <p:sp>
        <p:nvSpPr>
          <p:cNvPr id="8" name="Shape 8"/>
          <p:cNvSpPr/>
          <p:nvPr/>
        </p:nvSpPr>
        <p:spPr>
          <a:xfrm>
            <a:off x="640080" y="1874520"/>
            <a:ext cx="146304" cy="146304"/>
          </a:xfrm>
          <a:prstGeom prst="ellipse">
            <a:avLst/>
          </a:prstGeom>
          <a:solidFill>
            <a:srgbClr val="1F3A5F"/>
          </a:solidFill>
          <a:ln/>
        </p:spPr>
      </p:sp>
      <p:sp>
        <p:nvSpPr>
          <p:cNvPr id="9" name="Text 9"/>
          <p:cNvSpPr txBox="1"/>
          <p:nvPr/>
        </p:nvSpPr>
        <p:spPr>
          <a:xfrm>
            <a:off x="868680" y="1801368"/>
            <a:ext cx="3108960" cy="292608"/>
          </a:xfrm>
          <a:prstGeom prst="rect">
            <a:avLst/>
          </a:prstGeom>
          <a:noFill/>
          <a:ln/>
        </p:spPr>
        <p:txBody>
          <a:bodyPr wrap="square" rtlCol="0" anchor="ctr"/>
          <a:lstStyle/>
          <a:p>
            <a:pPr marL="0" indent="0" algn="l">
              <a:buNone/>
            </a:pPr>
            <a:r>
              <a:rPr lang="en-US" sz="1250" b="1" kern="0" spc="50" dirty="0">
                <a:solidFill>
                  <a:srgbClr val="132743"/>
                </a:solidFill>
                <a:latin typeface="Calibri" pitchFamily="34" charset="0"/>
                <a:ea typeface="Calibri" pitchFamily="34" charset="-122"/>
                <a:cs typeface="Calibri" pitchFamily="34" charset="-120"/>
              </a:rPr>
              <a:t>MODULE 2 · REGRESSION</a:t>
            </a:r>
          </a:p>
        </p:txBody>
      </p:sp>
      <p:sp>
        <p:nvSpPr>
          <p:cNvPr id="10" name="Text 10"/>
          <p:cNvSpPr txBox="1"/>
          <p:nvPr/>
        </p:nvSpPr>
        <p:spPr>
          <a:xfrm>
            <a:off x="640080" y="2240280"/>
            <a:ext cx="3291840" cy="548640"/>
          </a:xfrm>
          <a:prstGeom prst="rect">
            <a:avLst/>
          </a:prstGeom>
          <a:noFill/>
          <a:ln/>
        </p:spPr>
        <p:txBody>
          <a:bodyPr wrap="square" rtlCol="0" anchor="ctr"/>
          <a:lstStyle/>
          <a:p>
            <a:pPr marL="0" indent="0" algn="l">
              <a:buNone/>
            </a:pPr>
            <a:r>
              <a:rPr lang="en-US" sz="2400" b="1" kern="0" dirty="0">
                <a:solidFill>
                  <a:srgbClr val="1F3A5F"/>
                </a:solidFill>
                <a:latin typeface="Calibri" pitchFamily="34" charset="0"/>
                <a:ea typeface="Calibri" pitchFamily="34" charset="-122"/>
                <a:cs typeface="Calibri" pitchFamily="34" charset="-120"/>
              </a:rPr>
              <a:t>R² 0.167 → 0.260</a:t>
            </a:r>
          </a:p>
        </p:txBody>
      </p:sp>
      <p:sp>
        <p:nvSpPr>
          <p:cNvPr id="11" name="Text 11"/>
          <p:cNvSpPr txBox="1"/>
          <p:nvPr/>
        </p:nvSpPr>
        <p:spPr>
          <a:xfrm>
            <a:off x="640080" y="2788920"/>
            <a:ext cx="3291840" cy="320040"/>
          </a:xfrm>
          <a:prstGeom prst="rect">
            <a:avLst/>
          </a:prstGeom>
          <a:noFill/>
          <a:ln/>
        </p:spPr>
        <p:txBody>
          <a:bodyPr wrap="square" rtlCol="0" anchor="t"/>
          <a:lstStyle/>
          <a:p>
            <a:pPr marL="0" indent="0" algn="l">
              <a:buNone/>
            </a:pPr>
            <a:r>
              <a:rPr lang="en-US" sz="1050" kern="0" dirty="0">
                <a:solidFill>
                  <a:srgbClr val="5B6B7B"/>
                </a:solidFill>
                <a:latin typeface="Calibri" pitchFamily="34" charset="0"/>
                <a:ea typeface="Calibri" pitchFamily="34" charset="-122"/>
                <a:cs typeface="Calibri" pitchFamily="34" charset="-120"/>
              </a:rPr>
              <a:t>multiple vs simple linear regression</a:t>
            </a:r>
          </a:p>
        </p:txBody>
      </p:sp>
      <p:sp>
        <p:nvSpPr>
          <p:cNvPr id="12" name="Text 12"/>
          <p:cNvSpPr txBox="1"/>
          <p:nvPr/>
        </p:nvSpPr>
        <p:spPr>
          <a:xfrm>
            <a:off x="640080" y="3200400"/>
            <a:ext cx="3291840" cy="2377440"/>
          </a:xfrm>
          <a:prstGeom prst="rect">
            <a:avLst/>
          </a:prstGeom>
          <a:noFill/>
          <a:ln/>
        </p:spPr>
        <p:txBody>
          <a:bodyPr wrap="square" rtlCol="0" anchor="t"/>
          <a:lstStyle/>
          <a:p>
            <a:pPr marL="171450" indent="-171450" algn="l">
              <a:spcAft>
                <a:spcPts val="600"/>
              </a:spcAft>
              <a:buFont typeface="Arial"/>
              <a:buChar char="•"/>
            </a:pPr>
            <a:r>
              <a:rPr lang="en-US" sz="1200" kern="0" dirty="0">
                <a:solidFill>
                  <a:srgbClr val="1B2733"/>
                </a:solidFill>
                <a:latin typeface="Calibri" pitchFamily="34" charset="0"/>
                <a:ea typeface="Calibri" pitchFamily="34" charset="-122"/>
                <a:cs typeface="Calibri" pitchFamily="34" charset="-120"/>
              </a:rPr>
              <a:t>Relevant features helped far more than curvature (quadratic R² 0.168).</a:t>
            </a:r>
          </a:p>
          <a:p>
            <a:pPr marL="171450" indent="-171450" algn="l">
              <a:spcAft>
                <a:spcPts val="600"/>
              </a:spcAft>
              <a:buFont typeface="Arial"/>
              <a:buChar char="•"/>
            </a:pPr>
            <a:r>
              <a:rPr lang="en-US" sz="1200" kern="0" dirty="0">
                <a:solidFill>
                  <a:srgbClr val="1B2733"/>
                </a:solidFill>
                <a:latin typeface="Calibri" pitchFamily="34" charset="0"/>
                <a:ea typeface="Calibri" pitchFamily="34" charset="-122"/>
                <a:cs typeface="Calibri" pitchFamily="34" charset="-120"/>
              </a:rPr>
              <a:t>Test MSE of the multiple model: 23,438.</a:t>
            </a:r>
          </a:p>
          <a:p>
            <a:pPr marL="171450" indent="-171450" algn="l">
              <a:spcAft>
                <a:spcPts val="600"/>
              </a:spcAft>
              <a:buFont typeface="Arial"/>
              <a:buChar char="•"/>
            </a:pPr>
            <a:r>
              <a:rPr lang="en-US" sz="1200" kern="0" dirty="0">
                <a:solidFill>
                  <a:srgbClr val="1B2733"/>
                </a:solidFill>
                <a:latin typeface="Calibri" pitchFamily="34" charset="0"/>
                <a:ea typeface="Calibri" pitchFamily="34" charset="-122"/>
                <a:cs typeface="Calibri" pitchFamily="34" charset="-120"/>
              </a:rPr>
              <a:t>Weather alone leaves most variance unexplained: add hour, weekday and holiday.</a:t>
            </a:r>
          </a:p>
        </p:txBody>
      </p:sp>
      <p:sp>
        <p:nvSpPr>
          <p:cNvPr id="13" name="Shape 13"/>
          <p:cNvSpPr/>
          <p:nvPr/>
        </p:nvSpPr>
        <p:spPr>
          <a:xfrm>
            <a:off x="4297680" y="1691640"/>
            <a:ext cx="3611880" cy="3429000"/>
          </a:xfrm>
          <a:prstGeom prst="rect">
            <a:avLst/>
          </a:prstGeom>
          <a:solidFill>
            <a:srgbClr val="F5F7F9"/>
          </a:solidFill>
          <a:ln/>
        </p:spPr>
      </p:sp>
      <p:sp>
        <p:nvSpPr>
          <p:cNvPr id="14" name="Shape 14"/>
          <p:cNvSpPr/>
          <p:nvPr/>
        </p:nvSpPr>
        <p:spPr>
          <a:xfrm>
            <a:off x="4480560" y="1874520"/>
            <a:ext cx="146304" cy="146304"/>
          </a:xfrm>
          <a:prstGeom prst="ellipse">
            <a:avLst/>
          </a:prstGeom>
          <a:solidFill>
            <a:srgbClr val="1F9E7A"/>
          </a:solidFill>
          <a:ln/>
        </p:spPr>
      </p:sp>
      <p:sp>
        <p:nvSpPr>
          <p:cNvPr id="15" name="Text 15"/>
          <p:cNvSpPr txBox="1"/>
          <p:nvPr/>
        </p:nvSpPr>
        <p:spPr>
          <a:xfrm>
            <a:off x="4709160" y="1801368"/>
            <a:ext cx="3108960" cy="292608"/>
          </a:xfrm>
          <a:prstGeom prst="rect">
            <a:avLst/>
          </a:prstGeom>
          <a:noFill/>
          <a:ln/>
        </p:spPr>
        <p:txBody>
          <a:bodyPr wrap="square" rtlCol="0" anchor="ctr"/>
          <a:lstStyle/>
          <a:p>
            <a:pPr marL="0" indent="0" algn="l">
              <a:buNone/>
            </a:pPr>
            <a:r>
              <a:rPr lang="en-US" sz="1250" b="1" kern="0" spc="50" dirty="0">
                <a:solidFill>
                  <a:srgbClr val="132743"/>
                </a:solidFill>
                <a:latin typeface="Calibri" pitchFamily="34" charset="0"/>
                <a:ea typeface="Calibri" pitchFamily="34" charset="-122"/>
                <a:cs typeface="Calibri" pitchFamily="34" charset="-120"/>
              </a:rPr>
              <a:t>MODULE 4 · CNN</a:t>
            </a:r>
          </a:p>
        </p:txBody>
      </p:sp>
      <p:sp>
        <p:nvSpPr>
          <p:cNvPr id="16" name="Text 16"/>
          <p:cNvSpPr txBox="1"/>
          <p:nvPr/>
        </p:nvSpPr>
        <p:spPr>
          <a:xfrm>
            <a:off x="4480560" y="2240280"/>
            <a:ext cx="3291840" cy="548640"/>
          </a:xfrm>
          <a:prstGeom prst="rect">
            <a:avLst/>
          </a:prstGeom>
          <a:noFill/>
          <a:ln/>
        </p:spPr>
        <p:txBody>
          <a:bodyPr wrap="square" rtlCol="0" anchor="ctr"/>
          <a:lstStyle/>
          <a:p>
            <a:pPr marL="0" indent="0" algn="l">
              <a:buNone/>
            </a:pPr>
            <a:r>
              <a:rPr lang="en-US" sz="2400" b="1" kern="0" dirty="0">
                <a:solidFill>
                  <a:srgbClr val="1F9E7A"/>
                </a:solidFill>
                <a:latin typeface="Calibri" pitchFamily="34" charset="0"/>
                <a:ea typeface="Calibri" pitchFamily="34" charset="-122"/>
                <a:cs typeface="Calibri" pitchFamily="34" charset="-120"/>
              </a:rPr>
              <a:t>86.7% test top-1</a:t>
            </a:r>
          </a:p>
        </p:txBody>
      </p:sp>
      <p:sp>
        <p:nvSpPr>
          <p:cNvPr id="17" name="Text 17"/>
          <p:cNvSpPr txBox="1"/>
          <p:nvPr/>
        </p:nvSpPr>
        <p:spPr>
          <a:xfrm>
            <a:off x="4480560" y="2788920"/>
            <a:ext cx="3291840" cy="320040"/>
          </a:xfrm>
          <a:prstGeom prst="rect">
            <a:avLst/>
          </a:prstGeom>
          <a:noFill/>
          <a:ln/>
        </p:spPr>
        <p:txBody>
          <a:bodyPr wrap="square" rtlCol="0" anchor="t"/>
          <a:lstStyle/>
          <a:p>
            <a:pPr marL="0" indent="0" algn="l">
              <a:buNone/>
            </a:pPr>
            <a:r>
              <a:rPr lang="en-US" sz="1050" kern="0" dirty="0">
                <a:solidFill>
                  <a:srgbClr val="5B6B7B"/>
                </a:solidFill>
                <a:latin typeface="Calibri" pitchFamily="34" charset="0"/>
                <a:ea typeface="Calibri" pitchFamily="34" charset="-122"/>
                <a:cs typeface="Calibri" pitchFamily="34" charset="-120"/>
              </a:rPr>
              <a:t>best CNN, 99.2% top-5 (synthetic data)</a:t>
            </a:r>
          </a:p>
        </p:txBody>
      </p:sp>
      <p:sp>
        <p:nvSpPr>
          <p:cNvPr id="18" name="Text 18"/>
          <p:cNvSpPr txBox="1"/>
          <p:nvPr/>
        </p:nvSpPr>
        <p:spPr>
          <a:xfrm>
            <a:off x="4480560" y="3200400"/>
            <a:ext cx="3291840" cy="2377440"/>
          </a:xfrm>
          <a:prstGeom prst="rect">
            <a:avLst/>
          </a:prstGeom>
          <a:noFill/>
          <a:ln/>
        </p:spPr>
        <p:txBody>
          <a:bodyPr wrap="square" rtlCol="0" anchor="t"/>
          <a:lstStyle/>
          <a:p>
            <a:pPr marL="171450" indent="-171450" algn="l">
              <a:spcAft>
                <a:spcPts val="600"/>
              </a:spcAft>
              <a:buFont typeface="Arial"/>
              <a:buChar char="•"/>
            </a:pPr>
            <a:r>
              <a:rPr lang="en-US" sz="1200" kern="0" dirty="0">
                <a:solidFill>
                  <a:srgbClr val="1B2733"/>
                </a:solidFill>
                <a:latin typeface="Calibri" pitchFamily="34" charset="0"/>
                <a:ea typeface="Calibri" pitchFamily="34" charset="-122"/>
                <a:cs typeface="Calibri" pitchFamily="34" charset="-120"/>
              </a:rPr>
              <a:t>Depth and training time mattered most; FC width and filter count did not.</a:t>
            </a:r>
          </a:p>
          <a:p>
            <a:pPr marL="171450" indent="-171450" algn="l">
              <a:spcAft>
                <a:spcPts val="600"/>
              </a:spcAft>
              <a:buFont typeface="Arial"/>
              <a:buChar char="•"/>
            </a:pPr>
            <a:r>
              <a:rPr lang="en-US" sz="1200" kern="0" dirty="0">
                <a:solidFill>
                  <a:srgbClr val="1B2733"/>
                </a:solidFill>
                <a:latin typeface="Calibri" pitchFamily="34" charset="0"/>
                <a:ea typeface="Calibri" pitchFamily="34" charset="-122"/>
                <a:cs typeface="Calibri" pitchFamily="34" charset="-120"/>
              </a:rPr>
              <a:t>Max-pooling added about 9 points; errors were mostly same-colour shape confusions.</a:t>
            </a:r>
          </a:p>
          <a:p>
            <a:pPr marL="171450" indent="-171450" algn="l">
              <a:spcAft>
                <a:spcPts val="600"/>
              </a:spcAft>
              <a:buFont typeface="Arial"/>
              <a:buChar char="•"/>
            </a:pPr>
            <a:r>
              <a:rPr lang="en-US" sz="1200" kern="0" dirty="0">
                <a:solidFill>
                  <a:srgbClr val="1B2733"/>
                </a:solidFill>
                <a:latin typeface="Calibri" pitchFamily="34" charset="0"/>
                <a:ea typeface="Calibri" pitchFamily="34" charset="-122"/>
                <a:cs typeface="Calibri" pitchFamily="34" charset="-120"/>
              </a:rPr>
              <a:t>Occlusion maps: the model uses object corners and edges, not the background.</a:t>
            </a:r>
          </a:p>
        </p:txBody>
      </p:sp>
      <p:sp>
        <p:nvSpPr>
          <p:cNvPr id="19" name="Shape 19"/>
          <p:cNvSpPr/>
          <p:nvPr/>
        </p:nvSpPr>
        <p:spPr>
          <a:xfrm>
            <a:off x="8138160" y="1691640"/>
            <a:ext cx="3611880" cy="3429000"/>
          </a:xfrm>
          <a:prstGeom prst="rect">
            <a:avLst/>
          </a:prstGeom>
          <a:solidFill>
            <a:srgbClr val="F5F7F9"/>
          </a:solidFill>
          <a:ln/>
        </p:spPr>
      </p:sp>
      <p:sp>
        <p:nvSpPr>
          <p:cNvPr id="20" name="Shape 20"/>
          <p:cNvSpPr/>
          <p:nvPr/>
        </p:nvSpPr>
        <p:spPr>
          <a:xfrm>
            <a:off x="8321040" y="1874520"/>
            <a:ext cx="146304" cy="146304"/>
          </a:xfrm>
          <a:prstGeom prst="ellipse">
            <a:avLst/>
          </a:prstGeom>
          <a:solidFill>
            <a:srgbClr val="6E5AA8"/>
          </a:solidFill>
          <a:ln/>
        </p:spPr>
      </p:sp>
      <p:sp>
        <p:nvSpPr>
          <p:cNvPr id="21" name="Text 21"/>
          <p:cNvSpPr txBox="1"/>
          <p:nvPr/>
        </p:nvSpPr>
        <p:spPr>
          <a:xfrm>
            <a:off x="8549640" y="1801368"/>
            <a:ext cx="3108960" cy="292608"/>
          </a:xfrm>
          <a:prstGeom prst="rect">
            <a:avLst/>
          </a:prstGeom>
          <a:noFill/>
          <a:ln/>
        </p:spPr>
        <p:txBody>
          <a:bodyPr wrap="square" rtlCol="0" anchor="ctr"/>
          <a:lstStyle/>
          <a:p>
            <a:pPr marL="0" indent="0" algn="l">
              <a:buNone/>
            </a:pPr>
            <a:r>
              <a:rPr lang="en-US" sz="1250" b="1" kern="0" spc="50" dirty="0">
                <a:solidFill>
                  <a:srgbClr val="132743"/>
                </a:solidFill>
                <a:latin typeface="Calibri" pitchFamily="34" charset="0"/>
                <a:ea typeface="Calibri" pitchFamily="34" charset="-122"/>
                <a:cs typeface="Calibri" pitchFamily="34" charset="-120"/>
              </a:rPr>
              <a:t>MODULE 5 · LLM</a:t>
            </a:r>
          </a:p>
        </p:txBody>
      </p:sp>
      <p:sp>
        <p:nvSpPr>
          <p:cNvPr id="22" name="Text 22"/>
          <p:cNvSpPr txBox="1"/>
          <p:nvPr/>
        </p:nvSpPr>
        <p:spPr>
          <a:xfrm>
            <a:off x="8321040" y="2240280"/>
            <a:ext cx="3291840" cy="548640"/>
          </a:xfrm>
          <a:prstGeom prst="rect">
            <a:avLst/>
          </a:prstGeom>
          <a:noFill/>
          <a:ln/>
        </p:spPr>
        <p:txBody>
          <a:bodyPr wrap="square" rtlCol="0" anchor="ctr"/>
          <a:lstStyle/>
          <a:p>
            <a:pPr marL="0" indent="0" algn="l">
              <a:buNone/>
            </a:pPr>
            <a:r>
              <a:rPr lang="en-US" sz="2400" b="1" kern="0" dirty="0">
                <a:solidFill>
                  <a:srgbClr val="6E5AA8"/>
                </a:solidFill>
                <a:latin typeface="Calibri" pitchFamily="34" charset="0"/>
                <a:ea typeface="Calibri" pitchFamily="34" charset="-122"/>
                <a:cs typeface="Calibri" pitchFamily="34" charset="-120"/>
              </a:rPr>
              <a:t>PPL 41.1 → 2.48</a:t>
            </a:r>
          </a:p>
        </p:txBody>
      </p:sp>
      <p:sp>
        <p:nvSpPr>
          <p:cNvPr id="23" name="Text 23"/>
          <p:cNvSpPr txBox="1"/>
          <p:nvPr/>
        </p:nvSpPr>
        <p:spPr>
          <a:xfrm>
            <a:off x="8321040" y="2788920"/>
            <a:ext cx="3291840" cy="320040"/>
          </a:xfrm>
          <a:prstGeom prst="rect">
            <a:avLst/>
          </a:prstGeom>
          <a:noFill/>
          <a:ln/>
        </p:spPr>
        <p:txBody>
          <a:bodyPr wrap="square" rtlCol="0" anchor="t"/>
          <a:lstStyle/>
          <a:p>
            <a:pPr marL="0" indent="0" algn="l">
              <a:buNone/>
            </a:pPr>
            <a:r>
              <a:rPr lang="en-US" sz="1050" kern="0" dirty="0">
                <a:solidFill>
                  <a:srgbClr val="5B6B7B"/>
                </a:solidFill>
                <a:latin typeface="Calibri" pitchFamily="34" charset="0"/>
                <a:ea typeface="Calibri" pitchFamily="34" charset="-122"/>
                <a:cs typeface="Calibri" pitchFamily="34" charset="-120"/>
              </a:rPr>
              <a:t>DistilGPT-2 + LoRA, 34 s training</a:t>
            </a:r>
          </a:p>
        </p:txBody>
      </p:sp>
      <p:sp>
        <p:nvSpPr>
          <p:cNvPr id="24" name="Text 24"/>
          <p:cNvSpPr txBox="1"/>
          <p:nvPr/>
        </p:nvSpPr>
        <p:spPr>
          <a:xfrm>
            <a:off x="8321040" y="3200400"/>
            <a:ext cx="3291840" cy="2377440"/>
          </a:xfrm>
          <a:prstGeom prst="rect">
            <a:avLst/>
          </a:prstGeom>
          <a:noFill/>
          <a:ln/>
        </p:spPr>
        <p:txBody>
          <a:bodyPr wrap="square" rtlCol="0" anchor="t"/>
          <a:lstStyle/>
          <a:p>
            <a:pPr marL="171450" indent="-171450" algn="l">
              <a:spcAft>
                <a:spcPts val="600"/>
              </a:spcAft>
              <a:buFont typeface="Arial"/>
              <a:buChar char="•"/>
            </a:pPr>
            <a:r>
              <a:rPr lang="en-US" sz="1200" kern="0" dirty="0">
                <a:solidFill>
                  <a:srgbClr val="1B2733"/>
                </a:solidFill>
                <a:latin typeface="Calibri" pitchFamily="34" charset="0"/>
                <a:ea typeface="Calibri" pitchFamily="34" charset="-122"/>
                <a:cs typeface="Calibri" pitchFamily="34" charset="-120"/>
              </a:rPr>
              <a:t>Style and vocabulary were learned quickly, but only 4 of 10 answers were correct.</a:t>
            </a:r>
          </a:p>
          <a:p>
            <a:pPr marL="171450" indent="-171450" algn="l">
              <a:spcAft>
                <a:spcPts val="600"/>
              </a:spcAft>
              <a:buFont typeface="Arial"/>
              <a:buChar char="•"/>
            </a:pPr>
            <a:r>
              <a:rPr lang="en-US" sz="1200" kern="0" dirty="0">
                <a:solidFill>
                  <a:srgbClr val="1B2733"/>
                </a:solidFill>
                <a:latin typeface="Calibri" pitchFamily="34" charset="0"/>
                <a:ea typeface="Calibri" pitchFamily="34" charset="-122"/>
                <a:cs typeface="Calibri" pitchFamily="34" charset="-120"/>
              </a:rPr>
              <a:t>BLEU and ROUGE gaps are inflated by empty base outputs; perplexity is the reliable gain.</a:t>
            </a:r>
          </a:p>
          <a:p>
            <a:pPr marL="171450" indent="-171450" algn="l">
              <a:spcAft>
                <a:spcPts val="600"/>
              </a:spcAft>
              <a:buFont typeface="Arial"/>
              <a:buChar char="•"/>
            </a:pPr>
            <a:r>
              <a:rPr lang="en-US" sz="1200" kern="0" dirty="0">
                <a:solidFill>
                  <a:srgbClr val="1B2733"/>
                </a:solidFill>
                <a:latin typeface="Calibri" pitchFamily="34" charset="0"/>
                <a:ea typeface="Calibri" pitchFamily="34" charset="-122"/>
                <a:cs typeface="Calibri" pitchFamily="34" charset="-120"/>
              </a:rPr>
              <a:t>Next: more data and epochs, and retrieval to ground the answers.</a:t>
            </a:r>
          </a:p>
        </p:txBody>
      </p:sp>
      <p:sp>
        <p:nvSpPr>
          <p:cNvPr id="25" name="Text 25"/>
          <p:cNvSpPr txBox="1"/>
          <p:nvPr/>
        </p:nvSpPr>
        <p:spPr>
          <a:xfrm>
            <a:off x="457200" y="5394960"/>
            <a:ext cx="11247120" cy="640080"/>
          </a:xfrm>
          <a:prstGeom prst="rect">
            <a:avLst/>
          </a:prstGeom>
          <a:noFill/>
          <a:ln/>
        </p:spPr>
        <p:txBody>
          <a:bodyPr wrap="square" rtlCol="0" anchor="t"/>
          <a:lstStyle/>
          <a:p>
            <a:pPr marL="0" indent="0" algn="l">
              <a:buNone/>
            </a:pPr>
            <a:r>
              <a:rPr lang="en-US" sz="1150" i="1" kern="0" dirty="0">
                <a:solidFill>
                  <a:srgbClr val="5B6B7B"/>
                </a:solidFill>
                <a:latin typeface="Calibri" pitchFamily="34" charset="0"/>
                <a:ea typeface="Calibri" pitchFamily="34" charset="-122"/>
                <a:cs typeface="Calibri" pitchFamily="34" charset="-120"/>
              </a:rPr>
              <a:t>Common thread: the gains came from giving the model better information or more training, not from extra complexity in one place. Small test sets (the CNN and LLM projects) call for caution when comparing close results.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123</TotalTime>
  <Words>2725</Words>
  <Application>Microsoft Office PowerPoint</Application>
  <PresentationFormat>Widescreen</PresentationFormat>
  <Paragraphs>330</Paragraphs>
  <Slides>15</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Bibhuti Padhi</cp:lastModifiedBy>
  <cp:revision>4</cp:revision>
  <dcterms:created xsi:type="dcterms:W3CDTF">2026-08-17T05:16:49Z</dcterms:created>
  <dcterms:modified xsi:type="dcterms:W3CDTF">2026-10-24T08:43:38Z</dcterms:modified>
</cp:coreProperties>
</file>